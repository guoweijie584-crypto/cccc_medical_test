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711" r:id="rId3"/>
    <p:sldMasterId id="2147483721" r:id="rId4"/>
  </p:sldMasterIdLst>
  <p:notesMasterIdLst>
    <p:notesMasterId r:id="rId21"/>
  </p:notesMasterIdLst>
  <p:sldIdLst>
    <p:sldId id="1686" r:id="rId5"/>
    <p:sldId id="260" r:id="rId6"/>
    <p:sldId id="304" r:id="rId7"/>
    <p:sldId id="1700" r:id="rId8"/>
    <p:sldId id="1696" r:id="rId9"/>
    <p:sldId id="1560" r:id="rId10"/>
    <p:sldId id="303" r:id="rId11"/>
    <p:sldId id="1695" r:id="rId12"/>
    <p:sldId id="1697" r:id="rId13"/>
    <p:sldId id="1699" r:id="rId14"/>
    <p:sldId id="305" r:id="rId15"/>
    <p:sldId id="323" r:id="rId16"/>
    <p:sldId id="1225" r:id="rId17"/>
    <p:sldId id="1701" r:id="rId18"/>
    <p:sldId id="1702" r:id="rId19"/>
    <p:sldId id="169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A89C"/>
    <a:srgbClr val="101227"/>
    <a:srgbClr val="F989AD"/>
    <a:srgbClr val="82528C"/>
    <a:srgbClr val="238A87"/>
    <a:srgbClr val="ED7EA3"/>
    <a:srgbClr val="AFABAB"/>
    <a:srgbClr val="020226"/>
    <a:srgbClr val="FF8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760" autoAdjust="0"/>
  </p:normalViewPr>
  <p:slideViewPr>
    <p:cSldViewPr snapToGrid="0">
      <p:cViewPr varScale="1">
        <p:scale>
          <a:sx n="93" d="100"/>
          <a:sy n="93" d="100"/>
        </p:scale>
        <p:origin x="21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57757-769C-4720-8CE4-AED602158A8E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24C45-0456-460D-AB25-35EB8E70D3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motion Imag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716928" y="6333092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Shape 25"/>
          <p:cNvSpPr>
            <a:spLocks noGrp="1"/>
          </p:cNvSpPr>
          <p:nvPr>
            <p:ph type="pic" idx="2"/>
          </p:nvPr>
        </p:nvSpPr>
        <p:spPr>
          <a:xfrm>
            <a:off x="838200" y="1828800"/>
            <a:ext cx="10515599" cy="2009774"/>
          </a:xfrm>
          <a:prstGeom prst="rect">
            <a:avLst/>
          </a:prstGeom>
          <a:solidFill>
            <a:srgbClr val="5F6977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Work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pic" idx="2"/>
          </p:nvPr>
        </p:nvSpPr>
        <p:spPr>
          <a:xfrm>
            <a:off x="990600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pic" idx="3"/>
          </p:nvPr>
        </p:nvSpPr>
        <p:spPr>
          <a:xfrm>
            <a:off x="6182544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Shape 57"/>
          <p:cNvSpPr>
            <a:spLocks noGrp="1"/>
          </p:cNvSpPr>
          <p:nvPr>
            <p:ph type="pic" idx="4"/>
          </p:nvPr>
        </p:nvSpPr>
        <p:spPr>
          <a:xfrm>
            <a:off x="990600" y="4143344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pic" idx="5"/>
          </p:nvPr>
        </p:nvSpPr>
        <p:spPr>
          <a:xfrm>
            <a:off x="6182544" y="4150892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#4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pic" idx="2"/>
          </p:nvPr>
        </p:nvSpPr>
        <p:spPr>
          <a:xfrm>
            <a:off x="717550" y="2155825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pic" idx="3"/>
          </p:nvPr>
        </p:nvSpPr>
        <p:spPr>
          <a:xfrm>
            <a:off x="3435350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pic" idx="4"/>
          </p:nvPr>
        </p:nvSpPr>
        <p:spPr>
          <a:xfrm>
            <a:off x="613854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pic" idx="5"/>
          </p:nvPr>
        </p:nvSpPr>
        <p:spPr>
          <a:xfrm>
            <a:off x="884078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 panose="020F0502020204030203"/>
                <a:cs typeface="Lato Hairline" panose="020F0502020204030203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 panose="020F0502020204030203"/>
                <a:cs typeface="Lato Light" panose="020F05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2DC9-F374-4A01-A97C-E3C1CD4B699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7706-3ADE-439A-ACCA-4E2E4BD0A8D2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microsoft.com/office/2007/relationships/hdphoto" Target="../media/hdphoto1.wdp"/><Relationship Id="rId3" Type="http://schemas.openxmlformats.org/officeDocument/2006/relationships/tags" Target="../tags/tag3.xml"/><Relationship Id="rId21" Type="http://schemas.openxmlformats.org/officeDocument/2006/relationships/notesSlide" Target="../notesSlides/notesSlide5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3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2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notesSlide" Target="../notesSlides/notesSlide8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microsoft.com/office/2007/relationships/hdphoto" Target="../media/hdphoto1.wdp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slideLayout" Target="../slideLayouts/slideLayout72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image" Target="../media/image13.png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9" Type="http://schemas.openxmlformats.org/officeDocument/2006/relationships/image" Target="../media/image17.png"/><Relationship Id="rId21" Type="http://schemas.openxmlformats.org/officeDocument/2006/relationships/tags" Target="../tags/tag67.xml"/><Relationship Id="rId34" Type="http://schemas.openxmlformats.org/officeDocument/2006/relationships/tags" Target="../tags/tag80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33" Type="http://schemas.openxmlformats.org/officeDocument/2006/relationships/tags" Target="../tags/tag79.xml"/><Relationship Id="rId38" Type="http://schemas.openxmlformats.org/officeDocument/2006/relationships/notesSlide" Target="../notesSlides/notesSlide9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29" Type="http://schemas.openxmlformats.org/officeDocument/2006/relationships/tags" Target="../tags/tag75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tags" Target="../tags/tag78.xml"/><Relationship Id="rId37" Type="http://schemas.openxmlformats.org/officeDocument/2006/relationships/slideLayout" Target="../slideLayouts/slideLayout72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tags" Target="../tags/tag77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8" Type="http://schemas.openxmlformats.org/officeDocument/2006/relationships/tags" Target="../tags/tag54.xml"/><Relationship Id="rId3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524125"/>
            <a:ext cx="1219136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Agent </a:t>
            </a:r>
            <a:r>
              <a:rPr kumimoji="0" lang="zh-CN" altLang="en-US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血糖</a:t>
            </a: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管理</a:t>
            </a:r>
            <a:r>
              <a:rPr kumimoji="0" lang="zh-CN" altLang="en-US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自进化系统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6589" y="1072321"/>
            <a:ext cx="7376799" cy="456477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33326" y="1649591"/>
            <a:ext cx="9997068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面向智能客服的</a:t>
            </a:r>
            <a:endParaRPr kumimoji="0" lang="en-US" altLang="zh-CN" sz="54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32810" y="5015230"/>
            <a:ext cx="544385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团队成员：张中天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舒孺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郭伟杰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87257" y="740228"/>
            <a:ext cx="201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9829" y="2192439"/>
            <a:ext cx="2462404" cy="3352278"/>
            <a:chOff x="854293" y="2207188"/>
            <a:chExt cx="2462404" cy="3352278"/>
          </a:xfrm>
        </p:grpSpPr>
        <p:sp>
          <p:nvSpPr>
            <p:cNvPr id="26" name="矩形 25"/>
            <p:cNvSpPr/>
            <p:nvPr/>
          </p:nvSpPr>
          <p:spPr>
            <a:xfrm>
              <a:off x="1111517" y="4565785"/>
              <a:ext cx="194796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项目介绍</a:t>
              </a: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54293" y="5190134"/>
              <a:ext cx="2462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Introduction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556966" y="2192439"/>
            <a:ext cx="2160000" cy="3351246"/>
            <a:chOff x="1005495" y="2207188"/>
            <a:chExt cx="2160000" cy="3351246"/>
          </a:xfrm>
        </p:grpSpPr>
        <p:sp>
          <p:nvSpPr>
            <p:cNvPr id="39" name="矩形 38"/>
            <p:cNvSpPr/>
            <p:nvPr/>
          </p:nvSpPr>
          <p:spPr>
            <a:xfrm>
              <a:off x="1179992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模块详情</a:t>
              </a: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184118" y="5190134"/>
              <a:ext cx="180276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Module Details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432901" y="2192439"/>
            <a:ext cx="2160000" cy="3351246"/>
            <a:chOff x="1005495" y="2207188"/>
            <a:chExt cx="2160000" cy="3351246"/>
          </a:xfrm>
        </p:grpSpPr>
        <p:sp>
          <p:nvSpPr>
            <p:cNvPr id="44" name="矩形 43"/>
            <p:cNvSpPr/>
            <p:nvPr/>
          </p:nvSpPr>
          <p:spPr>
            <a:xfrm>
              <a:off x="1179996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进度介绍</a:t>
              </a:r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199989" y="5190134"/>
              <a:ext cx="177101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Progress Intro.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308835" y="2192439"/>
            <a:ext cx="2160000" cy="3351246"/>
            <a:chOff x="1005495" y="2207188"/>
            <a:chExt cx="2160000" cy="3351246"/>
          </a:xfrm>
        </p:grpSpPr>
        <p:sp>
          <p:nvSpPr>
            <p:cNvPr id="49" name="矩形 48"/>
            <p:cNvSpPr/>
            <p:nvPr/>
          </p:nvSpPr>
          <p:spPr>
            <a:xfrm>
              <a:off x="1179986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团队介绍</a:t>
              </a:r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453990" y="5190134"/>
              <a:ext cx="126301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Our Team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>
            <a:off x="2888584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等腰三角形 53"/>
          <p:cNvSpPr/>
          <p:nvPr/>
        </p:nvSpPr>
        <p:spPr>
          <a:xfrm>
            <a:off x="0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>
          <a:xfrm>
            <a:off x="5850193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47230" y="560439"/>
            <a:ext cx="4424516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846548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54762" y="1740310"/>
              <a:ext cx="3362632" cy="2354672"/>
            </a:xfrm>
            <a:prstGeom prst="parallelogram">
              <a:avLst>
                <a:gd name="adj" fmla="val 109952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rot="19068212">
              <a:off x="7167714" y="3321310"/>
              <a:ext cx="144000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813754" y="3734982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18482" y="2487330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8482" y="4094982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505552" y="3670766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项目介绍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87417" y="4295115"/>
            <a:ext cx="2462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Introduction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56870"/>
            <a:ext cx="7179310" cy="645160"/>
            <a:chOff x="449" y="422"/>
            <a:chExt cx="11306" cy="1016"/>
          </a:xfrm>
        </p:grpSpPr>
        <p:grpSp>
          <p:nvGrpSpPr>
            <p:cNvPr id="4" name="组合 3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77" y="422"/>
              <a:ext cx="1027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项目背景</a:t>
              </a: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：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为什么是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511810" y="1630680"/>
            <a:ext cx="7153275" cy="4428490"/>
          </a:xfrm>
          <a:prstGeom prst="roundRect">
            <a:avLst>
              <a:gd name="adj" fmla="val 8015"/>
            </a:avLst>
          </a:prstGeom>
          <a:solidFill>
            <a:srgbClr val="101227">
              <a:alpha val="84000"/>
            </a:srgb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260" y="3220085"/>
            <a:ext cx="3507740" cy="283908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1" name="文本框 20"/>
          <p:cNvSpPr txBox="1"/>
          <p:nvPr/>
        </p:nvSpPr>
        <p:spPr>
          <a:xfrm>
            <a:off x="537210" y="1726565"/>
            <a:ext cx="2621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1.4</a:t>
            </a:r>
            <a:r>
              <a:rPr lang="zh-CN" altLang="en-US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亿</a:t>
            </a:r>
            <a:r>
              <a:rPr lang="en-US" altLang="zh-CN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+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226435" y="17265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2"/>
                </a:solidFill>
              </a:rPr>
              <a:t>中国糖尿病患者数量</a:t>
            </a:r>
          </a:p>
        </p:txBody>
      </p:sp>
      <p:sp>
        <p:nvSpPr>
          <p:cNvPr id="25" name="矩形 24"/>
          <p:cNvSpPr/>
          <p:nvPr/>
        </p:nvSpPr>
        <p:spPr>
          <a:xfrm>
            <a:off x="5040630" y="264795"/>
            <a:ext cx="3162300" cy="10153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kumimoji="0" lang="zh-CN" altLang="en-US" sz="4800" b="1" i="0" u="none" strike="noStrike" kern="1200" cap="none" spc="0" normalizeH="0" baseline="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  <a:tint val="1000"/>
                  </a:srgbClr>
                </a:solidFill>
                <a:effectLst>
                  <a:glow rad="76200">
                    <a:schemeClr val="accent6">
                      <a:alpha val="21000"/>
                    </a:schemeClr>
                  </a:glo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血糖管理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258185" y="228028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血糖管理需求巨大且迫切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，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面临挑战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35" y="2926080"/>
            <a:ext cx="756285" cy="97282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3946525"/>
            <a:ext cx="643890" cy="8089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4923790"/>
            <a:ext cx="749300" cy="885825"/>
          </a:xfrm>
          <a:prstGeom prst="rect">
            <a:avLst/>
          </a:prstGeom>
        </p:spPr>
      </p:pic>
      <p:cxnSp>
        <p:nvCxnSpPr>
          <p:cNvPr id="47" name="直接连接符 46"/>
          <p:cNvCxnSpPr/>
          <p:nvPr/>
        </p:nvCxnSpPr>
        <p:spPr>
          <a:xfrm>
            <a:off x="716915" y="2769235"/>
            <a:ext cx="672084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716915" y="4923155"/>
            <a:ext cx="384302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716915" y="3877945"/>
            <a:ext cx="474853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353820" y="28594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2"/>
                </a:solidFill>
              </a:rPr>
              <a:t>专家资源稀缺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353820" y="341312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内分泌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、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营养师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、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药剂师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...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385570" y="3930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2"/>
                </a:solidFill>
              </a:rPr>
              <a:t>响应不及时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385570" y="448373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血糖波动时及时帮助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417320" y="496062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2"/>
                </a:solidFill>
              </a:rPr>
              <a:t>管理不连续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417320" y="5514340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门诊指导断续</a:t>
            </a:r>
          </a:p>
        </p:txBody>
      </p:sp>
      <p:sp>
        <p:nvSpPr>
          <p:cNvPr id="56" name="圆角矩形 55"/>
          <p:cNvSpPr/>
          <p:nvPr/>
        </p:nvSpPr>
        <p:spPr>
          <a:xfrm>
            <a:off x="8032750" y="1630680"/>
            <a:ext cx="3507740" cy="4428490"/>
          </a:xfrm>
          <a:prstGeom prst="roundRect">
            <a:avLst>
              <a:gd name="adj" fmla="val 8015"/>
            </a:avLst>
          </a:prstGeom>
          <a:solidFill>
            <a:srgbClr val="101227">
              <a:alpha val="84000"/>
            </a:srgb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202930" y="1882140"/>
            <a:ext cx="189928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rgbClr val="2BA89C"/>
                </a:solidFill>
              </a:rPr>
              <a:t>选择逻辑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202930" y="2480945"/>
            <a:ext cx="3087370" cy="1955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2"/>
                </a:solidFill>
              </a:rPr>
              <a:t>长期连续管理问题</a:t>
            </a:r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长期上下文管理</a:t>
            </a:r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多角色协作</a:t>
            </a:r>
          </a:p>
          <a:p>
            <a:pPr marL="457200" indent="-4572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历史信息动态调用</a:t>
            </a:r>
          </a:p>
        </p:txBody>
      </p:sp>
      <p:sp>
        <p:nvSpPr>
          <p:cNvPr id="59" name="圆角矩形 58"/>
          <p:cNvSpPr/>
          <p:nvPr/>
        </p:nvSpPr>
        <p:spPr>
          <a:xfrm>
            <a:off x="8202930" y="4231005"/>
            <a:ext cx="3141345" cy="1682750"/>
          </a:xfrm>
          <a:prstGeom prst="roundRect">
            <a:avLst>
              <a:gd name="adj" fmla="val 7018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8333105" y="4398645"/>
            <a:ext cx="295719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一句话核心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：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选血糖管理场景除了因为九安做这个以外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，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还因为场景天然适合多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agent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协作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/>
          <p:cNvSpPr/>
          <p:nvPr/>
        </p:nvSpPr>
        <p:spPr>
          <a:xfrm>
            <a:off x="0" y="5117382"/>
            <a:ext cx="11344233" cy="1414016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891822" y="5858932"/>
            <a:ext cx="10442222" cy="519289"/>
          </a:xfrm>
          <a:custGeom>
            <a:avLst/>
            <a:gdLst>
              <a:gd name="connsiteX0" fmla="*/ 0 w 10408356"/>
              <a:gd name="connsiteY0" fmla="*/ 79023 h 530578"/>
              <a:gd name="connsiteX1" fmla="*/ 1501422 w 10408356"/>
              <a:gd name="connsiteY1" fmla="*/ 530578 h 530578"/>
              <a:gd name="connsiteX2" fmla="*/ 3172178 w 10408356"/>
              <a:gd name="connsiteY2" fmla="*/ 519289 h 530578"/>
              <a:gd name="connsiteX3" fmla="*/ 4707467 w 10408356"/>
              <a:gd name="connsiteY3" fmla="*/ 180623 h 530578"/>
              <a:gd name="connsiteX4" fmla="*/ 6310489 w 10408356"/>
              <a:gd name="connsiteY4" fmla="*/ 259645 h 530578"/>
              <a:gd name="connsiteX5" fmla="*/ 7924800 w 10408356"/>
              <a:gd name="connsiteY5" fmla="*/ 112889 h 530578"/>
              <a:gd name="connsiteX6" fmla="*/ 9302045 w 10408356"/>
              <a:gd name="connsiteY6" fmla="*/ 0 h 530578"/>
              <a:gd name="connsiteX7" fmla="*/ 10408356 w 10408356"/>
              <a:gd name="connsiteY7" fmla="*/ 327378 h 530578"/>
              <a:gd name="connsiteX0-1" fmla="*/ 0 w 10408356"/>
              <a:gd name="connsiteY0-2" fmla="*/ 180623 h 620889"/>
              <a:gd name="connsiteX1-3" fmla="*/ 1478844 w 10408356"/>
              <a:gd name="connsiteY1-4" fmla="*/ 0 h 620889"/>
              <a:gd name="connsiteX2-5" fmla="*/ 3172178 w 10408356"/>
              <a:gd name="connsiteY2-6" fmla="*/ 620889 h 620889"/>
              <a:gd name="connsiteX3-7" fmla="*/ 4707467 w 10408356"/>
              <a:gd name="connsiteY3-8" fmla="*/ 282223 h 620889"/>
              <a:gd name="connsiteX4-9" fmla="*/ 6310489 w 10408356"/>
              <a:gd name="connsiteY4-10" fmla="*/ 361245 h 620889"/>
              <a:gd name="connsiteX5-11" fmla="*/ 7924800 w 10408356"/>
              <a:gd name="connsiteY5-12" fmla="*/ 214489 h 620889"/>
              <a:gd name="connsiteX6-13" fmla="*/ 9302045 w 10408356"/>
              <a:gd name="connsiteY6-14" fmla="*/ 101600 h 620889"/>
              <a:gd name="connsiteX7-15" fmla="*/ 10408356 w 10408356"/>
              <a:gd name="connsiteY7-16" fmla="*/ 428978 h 620889"/>
              <a:gd name="connsiteX0-17" fmla="*/ 0 w 10408356"/>
              <a:gd name="connsiteY0-18" fmla="*/ 79023 h 519289"/>
              <a:gd name="connsiteX1-19" fmla="*/ 1478844 w 10408356"/>
              <a:gd name="connsiteY1-20" fmla="*/ 180623 h 519289"/>
              <a:gd name="connsiteX2-21" fmla="*/ 3172178 w 10408356"/>
              <a:gd name="connsiteY2-22" fmla="*/ 519289 h 519289"/>
              <a:gd name="connsiteX3-23" fmla="*/ 4707467 w 10408356"/>
              <a:gd name="connsiteY3-24" fmla="*/ 180623 h 519289"/>
              <a:gd name="connsiteX4-25" fmla="*/ 6310489 w 10408356"/>
              <a:gd name="connsiteY4-26" fmla="*/ 259645 h 519289"/>
              <a:gd name="connsiteX5-27" fmla="*/ 7924800 w 10408356"/>
              <a:gd name="connsiteY5-28" fmla="*/ 112889 h 519289"/>
              <a:gd name="connsiteX6-29" fmla="*/ 9302045 w 10408356"/>
              <a:gd name="connsiteY6-30" fmla="*/ 0 h 519289"/>
              <a:gd name="connsiteX7-31" fmla="*/ 10408356 w 10408356"/>
              <a:gd name="connsiteY7-32" fmla="*/ 327378 h 519289"/>
              <a:gd name="connsiteX0-33" fmla="*/ 0 w 10408356"/>
              <a:gd name="connsiteY0-34" fmla="*/ 79023 h 519289"/>
              <a:gd name="connsiteX1-35" fmla="*/ 1478844 w 10408356"/>
              <a:gd name="connsiteY1-36" fmla="*/ 180623 h 519289"/>
              <a:gd name="connsiteX2-37" fmla="*/ 3172178 w 10408356"/>
              <a:gd name="connsiteY2-38" fmla="*/ 519289 h 519289"/>
              <a:gd name="connsiteX3-39" fmla="*/ 4673600 w 10408356"/>
              <a:gd name="connsiteY3-40" fmla="*/ 22578 h 519289"/>
              <a:gd name="connsiteX4-41" fmla="*/ 6310489 w 10408356"/>
              <a:gd name="connsiteY4-42" fmla="*/ 259645 h 519289"/>
              <a:gd name="connsiteX5-43" fmla="*/ 7924800 w 10408356"/>
              <a:gd name="connsiteY5-44" fmla="*/ 112889 h 519289"/>
              <a:gd name="connsiteX6-45" fmla="*/ 9302045 w 10408356"/>
              <a:gd name="connsiteY6-46" fmla="*/ 0 h 519289"/>
              <a:gd name="connsiteX7-47" fmla="*/ 10408356 w 10408356"/>
              <a:gd name="connsiteY7-48" fmla="*/ 327378 h 519289"/>
              <a:gd name="connsiteX0-49" fmla="*/ 0 w 10408356"/>
              <a:gd name="connsiteY0-50" fmla="*/ 79023 h 519289"/>
              <a:gd name="connsiteX1-51" fmla="*/ 1478844 w 10408356"/>
              <a:gd name="connsiteY1-52" fmla="*/ 180623 h 519289"/>
              <a:gd name="connsiteX2-53" fmla="*/ 3172178 w 10408356"/>
              <a:gd name="connsiteY2-54" fmla="*/ 519289 h 519289"/>
              <a:gd name="connsiteX3-55" fmla="*/ 4673600 w 10408356"/>
              <a:gd name="connsiteY3-56" fmla="*/ 22578 h 519289"/>
              <a:gd name="connsiteX4-57" fmla="*/ 6265333 w 10408356"/>
              <a:gd name="connsiteY4-58" fmla="*/ 158045 h 519289"/>
              <a:gd name="connsiteX5-59" fmla="*/ 7924800 w 10408356"/>
              <a:gd name="connsiteY5-60" fmla="*/ 112889 h 519289"/>
              <a:gd name="connsiteX6-61" fmla="*/ 9302045 w 10408356"/>
              <a:gd name="connsiteY6-62" fmla="*/ 0 h 519289"/>
              <a:gd name="connsiteX7-63" fmla="*/ 10408356 w 10408356"/>
              <a:gd name="connsiteY7-64" fmla="*/ 327378 h 519289"/>
              <a:gd name="connsiteX0-65" fmla="*/ 0 w 10408356"/>
              <a:gd name="connsiteY0-66" fmla="*/ 79023 h 519289"/>
              <a:gd name="connsiteX1-67" fmla="*/ 1478844 w 10408356"/>
              <a:gd name="connsiteY1-68" fmla="*/ 180623 h 519289"/>
              <a:gd name="connsiteX2-69" fmla="*/ 3172178 w 10408356"/>
              <a:gd name="connsiteY2-70" fmla="*/ 519289 h 519289"/>
              <a:gd name="connsiteX3-71" fmla="*/ 4673600 w 10408356"/>
              <a:gd name="connsiteY3-72" fmla="*/ 22578 h 519289"/>
              <a:gd name="connsiteX4-73" fmla="*/ 6265333 w 10408356"/>
              <a:gd name="connsiteY4-74" fmla="*/ 158045 h 519289"/>
              <a:gd name="connsiteX5-75" fmla="*/ 7902223 w 10408356"/>
              <a:gd name="connsiteY5-76" fmla="*/ 67734 h 519289"/>
              <a:gd name="connsiteX6-77" fmla="*/ 9302045 w 10408356"/>
              <a:gd name="connsiteY6-78" fmla="*/ 0 h 519289"/>
              <a:gd name="connsiteX7-79" fmla="*/ 10408356 w 10408356"/>
              <a:gd name="connsiteY7-80" fmla="*/ 327378 h 519289"/>
              <a:gd name="connsiteX0-81" fmla="*/ 0 w 10408356"/>
              <a:gd name="connsiteY0-82" fmla="*/ 79023 h 519289"/>
              <a:gd name="connsiteX1-83" fmla="*/ 1478844 w 10408356"/>
              <a:gd name="connsiteY1-84" fmla="*/ 180623 h 519289"/>
              <a:gd name="connsiteX2-85" fmla="*/ 3172178 w 10408356"/>
              <a:gd name="connsiteY2-86" fmla="*/ 519289 h 519289"/>
              <a:gd name="connsiteX3-87" fmla="*/ 4673600 w 10408356"/>
              <a:gd name="connsiteY3-88" fmla="*/ 22578 h 519289"/>
              <a:gd name="connsiteX4-89" fmla="*/ 6299200 w 10408356"/>
              <a:gd name="connsiteY4-90" fmla="*/ 225778 h 519289"/>
              <a:gd name="connsiteX5-91" fmla="*/ 7902223 w 10408356"/>
              <a:gd name="connsiteY5-92" fmla="*/ 67734 h 519289"/>
              <a:gd name="connsiteX6-93" fmla="*/ 9302045 w 10408356"/>
              <a:gd name="connsiteY6-94" fmla="*/ 0 h 519289"/>
              <a:gd name="connsiteX7-95" fmla="*/ 10408356 w 10408356"/>
              <a:gd name="connsiteY7-96" fmla="*/ 327378 h 519289"/>
              <a:gd name="connsiteX0-97" fmla="*/ 0 w 10408356"/>
              <a:gd name="connsiteY0-98" fmla="*/ 79023 h 519289"/>
              <a:gd name="connsiteX1-99" fmla="*/ 1478844 w 10408356"/>
              <a:gd name="connsiteY1-100" fmla="*/ 180623 h 519289"/>
              <a:gd name="connsiteX2-101" fmla="*/ 3172178 w 10408356"/>
              <a:gd name="connsiteY2-102" fmla="*/ 519289 h 519289"/>
              <a:gd name="connsiteX3-103" fmla="*/ 4673600 w 10408356"/>
              <a:gd name="connsiteY3-104" fmla="*/ 22578 h 519289"/>
              <a:gd name="connsiteX4-105" fmla="*/ 6299200 w 10408356"/>
              <a:gd name="connsiteY4-106" fmla="*/ 225778 h 519289"/>
              <a:gd name="connsiteX5-107" fmla="*/ 7902223 w 10408356"/>
              <a:gd name="connsiteY5-108" fmla="*/ 67734 h 519289"/>
              <a:gd name="connsiteX6-109" fmla="*/ 9302045 w 10408356"/>
              <a:gd name="connsiteY6-110" fmla="*/ 0 h 519289"/>
              <a:gd name="connsiteX7-111" fmla="*/ 10408356 w 10408356"/>
              <a:gd name="connsiteY7-112" fmla="*/ 417689 h 519289"/>
              <a:gd name="connsiteX0-113" fmla="*/ 0 w 10442222"/>
              <a:gd name="connsiteY0-114" fmla="*/ 79023 h 519289"/>
              <a:gd name="connsiteX1-115" fmla="*/ 1478844 w 10442222"/>
              <a:gd name="connsiteY1-116" fmla="*/ 180623 h 519289"/>
              <a:gd name="connsiteX2-117" fmla="*/ 3172178 w 10442222"/>
              <a:gd name="connsiteY2-118" fmla="*/ 519289 h 519289"/>
              <a:gd name="connsiteX3-119" fmla="*/ 4673600 w 10442222"/>
              <a:gd name="connsiteY3-120" fmla="*/ 22578 h 519289"/>
              <a:gd name="connsiteX4-121" fmla="*/ 6299200 w 10442222"/>
              <a:gd name="connsiteY4-122" fmla="*/ 225778 h 519289"/>
              <a:gd name="connsiteX5-123" fmla="*/ 7902223 w 10442222"/>
              <a:gd name="connsiteY5-124" fmla="*/ 67734 h 519289"/>
              <a:gd name="connsiteX6-125" fmla="*/ 9302045 w 10442222"/>
              <a:gd name="connsiteY6-126" fmla="*/ 0 h 519289"/>
              <a:gd name="connsiteX7-127" fmla="*/ 10442222 w 10442222"/>
              <a:gd name="connsiteY7-128" fmla="*/ 259645 h 5192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442222" h="519289">
                <a:moveTo>
                  <a:pt x="0" y="79023"/>
                </a:moveTo>
                <a:lnTo>
                  <a:pt x="1478844" y="180623"/>
                </a:lnTo>
                <a:lnTo>
                  <a:pt x="3172178" y="519289"/>
                </a:lnTo>
                <a:lnTo>
                  <a:pt x="4673600" y="22578"/>
                </a:lnTo>
                <a:lnTo>
                  <a:pt x="6299200" y="225778"/>
                </a:lnTo>
                <a:lnTo>
                  <a:pt x="7902223" y="67734"/>
                </a:lnTo>
                <a:lnTo>
                  <a:pt x="9302045" y="0"/>
                </a:lnTo>
                <a:lnTo>
                  <a:pt x="10442222" y="259645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1"/>
            </p:custDataLst>
          </p:nvPr>
        </p:nvSpPr>
        <p:spPr>
          <a:xfrm>
            <a:off x="3638360" y="3455175"/>
            <a:ext cx="4820919" cy="1253856"/>
          </a:xfrm>
          <a:prstGeom prst="rect">
            <a:avLst/>
          </a:prstGeom>
          <a:solidFill>
            <a:srgbClr val="D5E8D4">
              <a:alpha val="6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/>
          <p:cNvSpPr/>
          <p:nvPr>
            <p:custDataLst>
              <p:tags r:id="rId2"/>
            </p:custDataLst>
          </p:nvPr>
        </p:nvSpPr>
        <p:spPr>
          <a:xfrm>
            <a:off x="3544592" y="3366890"/>
            <a:ext cx="4989221" cy="1469330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3"/>
            </p:custDataLst>
          </p:nvPr>
        </p:nvSpPr>
        <p:spPr>
          <a:xfrm>
            <a:off x="3785739" y="3064818"/>
            <a:ext cx="2784181" cy="317011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3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并行咨询三位专家</a:t>
            </a: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5442775" y="4067277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分析血糖数据</a:t>
            </a:r>
          </a:p>
          <a:p>
            <a:r>
              <a:rPr lang="zh-CN" altLang="en-US" dirty="0"/>
              <a:t>提供餐食搭配</a:t>
            </a:r>
          </a:p>
          <a:p>
            <a:r>
              <a:rPr lang="zh-CN" altLang="en-US" dirty="0"/>
              <a:t>预估血糖影响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4114920" y="3588922"/>
            <a:ext cx="986155" cy="28003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pharmacist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496071" y="3589115"/>
            <a:ext cx="1011259" cy="273363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nutritionist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6935333" y="3588091"/>
            <a:ext cx="1360805" cy="320969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metabolic specialist</a:t>
            </a:r>
          </a:p>
        </p:txBody>
      </p:sp>
      <p:sp>
        <p:nvSpPr>
          <p:cNvPr id="66" name="文本框 65"/>
          <p:cNvSpPr txBox="1"/>
          <p:nvPr>
            <p:custDataLst>
              <p:tags r:id="rId5"/>
            </p:custDataLst>
          </p:nvPr>
        </p:nvSpPr>
        <p:spPr>
          <a:xfrm>
            <a:off x="3826668" y="4043634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分析当前用药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评估药物风险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给出调整建议</a:t>
            </a:r>
          </a:p>
        </p:txBody>
      </p:sp>
      <p:sp>
        <p:nvSpPr>
          <p:cNvPr id="67" name="文本框 66"/>
          <p:cNvSpPr txBox="1"/>
          <p:nvPr>
            <p:custDataLst>
              <p:tags r:id="rId6"/>
            </p:custDataLst>
          </p:nvPr>
        </p:nvSpPr>
        <p:spPr>
          <a:xfrm>
            <a:off x="6935334" y="4037080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评估控制状况</a:t>
            </a:r>
          </a:p>
          <a:p>
            <a:r>
              <a:rPr lang="zh-CN" altLang="en-US" dirty="0"/>
              <a:t>识别并发症</a:t>
            </a:r>
          </a:p>
          <a:p>
            <a:r>
              <a:rPr lang="zh-CN" altLang="en-US" dirty="0"/>
              <a:t>给出诊疗建议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85775" y="343535"/>
            <a:ext cx="3136900" cy="645160"/>
            <a:chOff x="449" y="401"/>
            <a:chExt cx="4940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2" y="401"/>
              <a:ext cx="393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业务流程图</a:t>
              </a:r>
            </a:p>
          </p:txBody>
        </p:sp>
      </p:grpSp>
      <p:cxnSp>
        <p:nvCxnSpPr>
          <p:cNvPr id="33" name="直接箭头连接符 32"/>
          <p:cNvCxnSpPr/>
          <p:nvPr/>
        </p:nvCxnSpPr>
        <p:spPr>
          <a:xfrm>
            <a:off x="1477010" y="1733550"/>
            <a:ext cx="0" cy="387985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478789" y="1334602"/>
            <a:ext cx="2359019" cy="36858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用户发起咨询</a:t>
            </a:r>
          </a:p>
        </p:txBody>
      </p:sp>
      <p:sp>
        <p:nvSpPr>
          <p:cNvPr id="35" name="矩形 34"/>
          <p:cNvSpPr/>
          <p:nvPr>
            <p:custDataLst>
              <p:tags r:id="rId7"/>
            </p:custDataLst>
          </p:nvPr>
        </p:nvSpPr>
        <p:spPr>
          <a:xfrm>
            <a:off x="478790" y="2181155"/>
            <a:ext cx="2359025" cy="27495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lvl="0" algn="ctr"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1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接收用户</a:t>
            </a:r>
            <a:r>
              <a:rPr lang="zh-CN" altLang="en-US" sz="1200" b="1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消息</a:t>
            </a: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494030" y="2539295"/>
            <a:ext cx="2358320" cy="71209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判断需要咨询哪些专家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识别紧急信号（需立即就医）</a:t>
            </a:r>
          </a:p>
        </p:txBody>
      </p:sp>
      <p:grpSp>
        <p:nvGrpSpPr>
          <p:cNvPr id="47" name="组合 46"/>
          <p:cNvGrpSpPr/>
          <p:nvPr>
            <p:custDataLst>
              <p:tags r:id="rId9"/>
            </p:custDataLst>
          </p:nvPr>
        </p:nvGrpSpPr>
        <p:grpSpPr>
          <a:xfrm>
            <a:off x="486085" y="3783965"/>
            <a:ext cx="2385695" cy="1039495"/>
            <a:chOff x="6988" y="2603"/>
            <a:chExt cx="3757" cy="1637"/>
          </a:xfrm>
        </p:grpSpPr>
        <p:sp>
          <p:nvSpPr>
            <p:cNvPr id="50" name="矩形 49"/>
            <p:cNvSpPr/>
            <p:nvPr>
              <p:custDataLst>
                <p:tags r:id="rId18"/>
              </p:custDataLst>
            </p:nvPr>
          </p:nvSpPr>
          <p:spPr>
            <a:xfrm>
              <a:off x="6988" y="2603"/>
              <a:ext cx="3691" cy="394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2</a:t>
              </a:r>
              <a:r>
                <a:rPr kumimoji="0" lang="zh-CN" altLang="en-US" sz="1200" b="0" i="0" u="none" strike="noStrike" kern="0" cap="none" spc="0" normalizeH="0" baseline="0" noProof="0" dirty="0"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solidFill>
                    <a:schemeClr val="bg1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primary → memory</a:t>
              </a:r>
            </a:p>
          </p:txBody>
        </p:sp>
        <p:sp>
          <p:nvSpPr>
            <p:cNvPr id="52" name="文本框 51"/>
            <p:cNvSpPr txBox="1"/>
            <p:nvPr>
              <p:custDataLst>
                <p:tags r:id="rId19"/>
              </p:custDataLst>
            </p:nvPr>
          </p:nvSpPr>
          <p:spPr>
            <a:xfrm>
              <a:off x="7030" y="3179"/>
              <a:ext cx="3715" cy="1061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请求：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patient_id + query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返回：三层记忆</a:t>
              </a:r>
            </a:p>
          </p:txBody>
        </p:sp>
      </p:grpSp>
      <p:sp>
        <p:nvSpPr>
          <p:cNvPr id="126" name="文本框 125"/>
          <p:cNvSpPr txBox="1"/>
          <p:nvPr>
            <p:custDataLst>
              <p:tags r:id="rId10"/>
            </p:custDataLst>
          </p:nvPr>
        </p:nvSpPr>
        <p:spPr>
          <a:xfrm>
            <a:off x="5421117" y="1677652"/>
            <a:ext cx="2343783" cy="6515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整合专家建议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用患者可理解的语言表达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不暴露内部分工细节</a:t>
            </a:r>
          </a:p>
        </p:txBody>
      </p:sp>
      <p:cxnSp>
        <p:nvCxnSpPr>
          <p:cNvPr id="165" name="直接箭头连接符 164"/>
          <p:cNvCxnSpPr/>
          <p:nvPr/>
        </p:nvCxnSpPr>
        <p:spPr>
          <a:xfrm>
            <a:off x="1477010" y="3298825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66" name="直接箭头连接符 165"/>
          <p:cNvCxnSpPr/>
          <p:nvPr/>
        </p:nvCxnSpPr>
        <p:spPr>
          <a:xfrm>
            <a:off x="2975311" y="4372712"/>
            <a:ext cx="396539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0" name="直接箭头连接符 169"/>
          <p:cNvCxnSpPr/>
          <p:nvPr/>
        </p:nvCxnSpPr>
        <p:spPr>
          <a:xfrm flipV="1">
            <a:off x="7260778" y="2519398"/>
            <a:ext cx="0" cy="61087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279" y="3457705"/>
            <a:ext cx="564668" cy="5352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82" y="3457705"/>
            <a:ext cx="564668" cy="53523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046" y="3467100"/>
            <a:ext cx="564668" cy="53523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13" y="1382991"/>
            <a:ext cx="1234443" cy="1234443"/>
          </a:xfrm>
          <a:prstGeom prst="rect">
            <a:avLst/>
          </a:prstGeom>
        </p:spPr>
      </p:pic>
      <p:sp>
        <p:nvSpPr>
          <p:cNvPr id="143" name="文本框 142"/>
          <p:cNvSpPr txBox="1"/>
          <p:nvPr>
            <p:custDataLst>
              <p:tags r:id="rId11"/>
            </p:custDataLst>
          </p:nvPr>
        </p:nvSpPr>
        <p:spPr>
          <a:xfrm>
            <a:off x="9290348" y="1196340"/>
            <a:ext cx="2407617" cy="584199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【综合建议】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【特别提醒】</a:t>
            </a:r>
          </a:p>
        </p:txBody>
      </p:sp>
      <p:sp>
        <p:nvSpPr>
          <p:cNvPr id="152" name="文本框 151"/>
          <p:cNvSpPr txBox="1"/>
          <p:nvPr>
            <p:custDataLst>
              <p:tags r:id="rId12"/>
            </p:custDataLst>
          </p:nvPr>
        </p:nvSpPr>
        <p:spPr>
          <a:xfrm>
            <a:off x="9291946" y="4279508"/>
            <a:ext cx="2414270" cy="54395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每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5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轮对话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或评分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&lt; 35 / 50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4" name="文本框 163"/>
          <p:cNvSpPr txBox="1"/>
          <p:nvPr>
            <p:custDataLst>
              <p:tags r:id="rId13"/>
            </p:custDataLst>
          </p:nvPr>
        </p:nvSpPr>
        <p:spPr>
          <a:xfrm>
            <a:off x="9305272" y="2683717"/>
            <a:ext cx="2407920" cy="581854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提取本轮对话关键信息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写入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模块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7" name="直接箭头连接符 166"/>
          <p:cNvCxnSpPr/>
          <p:nvPr/>
        </p:nvCxnSpPr>
        <p:spPr>
          <a:xfrm>
            <a:off x="10518764" y="1883074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2" name="直接箭头连接符 171"/>
          <p:cNvCxnSpPr/>
          <p:nvPr/>
        </p:nvCxnSpPr>
        <p:spPr>
          <a:xfrm>
            <a:off x="10518764" y="3366890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grpSp>
        <p:nvGrpSpPr>
          <p:cNvPr id="30" name="组合 29"/>
          <p:cNvGrpSpPr/>
          <p:nvPr/>
        </p:nvGrpSpPr>
        <p:grpSpPr>
          <a:xfrm rot="5400000">
            <a:off x="10137294" y="5817166"/>
            <a:ext cx="2650019" cy="913716"/>
            <a:chOff x="4244551" y="1792911"/>
            <a:chExt cx="2610240" cy="900000"/>
          </a:xfrm>
        </p:grpSpPr>
        <p:sp>
          <p:nvSpPr>
            <p:cNvPr id="31" name="矩形 30"/>
            <p:cNvSpPr/>
            <p:nvPr/>
          </p:nvSpPr>
          <p:spPr>
            <a:xfrm>
              <a:off x="5066120" y="2054640"/>
              <a:ext cx="1788671" cy="376536"/>
            </a:xfrm>
            <a:prstGeom prst="rect">
              <a:avLst/>
            </a:prstGeom>
            <a:gradFill>
              <a:gsLst>
                <a:gs pos="68000">
                  <a:srgbClr val="975FA2"/>
                </a:gs>
                <a:gs pos="45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100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rot="5400000">
            <a:off x="1931152" y="5945353"/>
            <a:ext cx="919724" cy="271624"/>
            <a:chOff x="4244551" y="1792911"/>
            <a:chExt cx="3047413" cy="900000"/>
          </a:xfrm>
        </p:grpSpPr>
        <p:sp>
          <p:nvSpPr>
            <p:cNvPr id="41" name="矩形 40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rot="5400000">
            <a:off x="6695656" y="5576749"/>
            <a:ext cx="984561" cy="290773"/>
            <a:chOff x="4244551" y="1792911"/>
            <a:chExt cx="3047413" cy="900000"/>
          </a:xfrm>
        </p:grpSpPr>
        <p:sp>
          <p:nvSpPr>
            <p:cNvPr id="53" name="矩形 52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258559" y="1109075"/>
            <a:ext cx="344590" cy="344590"/>
            <a:chOff x="3077029" y="2540000"/>
            <a:chExt cx="936000" cy="936000"/>
          </a:xfrm>
        </p:grpSpPr>
        <p:sp>
          <p:nvSpPr>
            <p:cNvPr id="74" name="泪滴形 73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5018" y="5756149"/>
            <a:ext cx="304002" cy="304002"/>
            <a:chOff x="3077029" y="2540000"/>
            <a:chExt cx="936000" cy="936000"/>
          </a:xfrm>
        </p:grpSpPr>
        <p:sp>
          <p:nvSpPr>
            <p:cNvPr id="77" name="泪滴形 76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878767" y="6030375"/>
            <a:ext cx="355667" cy="355667"/>
            <a:chOff x="3077029" y="2540000"/>
            <a:chExt cx="936000" cy="936000"/>
          </a:xfrm>
        </p:grpSpPr>
        <p:sp>
          <p:nvSpPr>
            <p:cNvPr id="80" name="泪滴形 79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4" name="矩形 83"/>
          <p:cNvSpPr/>
          <p:nvPr>
            <p:custDataLst>
              <p:tags r:id="rId14"/>
            </p:custDataLst>
          </p:nvPr>
        </p:nvSpPr>
        <p:spPr>
          <a:xfrm>
            <a:off x="5421118" y="1302235"/>
            <a:ext cx="2343785" cy="250190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4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综合三方意见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117114" y="6158956"/>
            <a:ext cx="3427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①</a:t>
            </a:r>
            <a:r>
              <a:rPr lang="en-US" altLang="zh-CN" sz="1200" b="1" dirty="0">
                <a:solidFill>
                  <a:schemeClr val="bg1"/>
                </a:solidFill>
              </a:rPr>
              <a:t>primary</a:t>
            </a:r>
            <a:r>
              <a:rPr lang="zh-CN" altLang="en-US" sz="1200" b="1" dirty="0">
                <a:solidFill>
                  <a:schemeClr val="bg1"/>
                </a:solidFill>
              </a:rPr>
              <a:t>接收用户消息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7902304" y="1427330"/>
            <a:ext cx="742888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3" name="矩形 92"/>
          <p:cNvSpPr/>
          <p:nvPr>
            <p:custDataLst>
              <p:tags r:id="rId15"/>
            </p:custDataLst>
          </p:nvPr>
        </p:nvSpPr>
        <p:spPr>
          <a:xfrm>
            <a:off x="9289714" y="777810"/>
            <a:ext cx="2423179" cy="293119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5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→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</a:t>
            </a:r>
          </a:p>
        </p:txBody>
      </p:sp>
      <p:sp>
        <p:nvSpPr>
          <p:cNvPr id="94" name="矩形 93"/>
          <p:cNvSpPr/>
          <p:nvPr>
            <p:custDataLst>
              <p:tags r:id="rId16"/>
            </p:custDataLst>
          </p:nvPr>
        </p:nvSpPr>
        <p:spPr>
          <a:xfrm>
            <a:off x="9289714" y="2289139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6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memory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写回关键事实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250" y="502936"/>
            <a:ext cx="651510" cy="651510"/>
          </a:xfrm>
          <a:prstGeom prst="rect">
            <a:avLst/>
          </a:prstGeom>
        </p:spPr>
      </p:pic>
      <p:sp>
        <p:nvSpPr>
          <p:cNvPr id="97" name="矩形 96"/>
          <p:cNvSpPr/>
          <p:nvPr>
            <p:custDataLst>
              <p:tags r:id="rId17"/>
            </p:custDataLst>
          </p:nvPr>
        </p:nvSpPr>
        <p:spPr>
          <a:xfrm>
            <a:off x="9282736" y="3815717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7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触发评测（满足条件时）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967" y="2519690"/>
            <a:ext cx="925183" cy="925183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975610" y="6542405"/>
            <a:ext cx="8173085" cy="307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kumimoji="0" lang="en-US" altLang="zh-CN" sz="14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Primary-</a:t>
            </a:r>
            <a:r>
              <a:rPr kumimoji="0" lang="zh-CN" altLang="en-US" sz="14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主治医生</a:t>
            </a:r>
            <a:r>
              <a:rPr lang="en-US" altLang="zh-CN" sz="1400" b="1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Pharmacist-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药剂师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Nutritionist-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营养师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Metabolic specialist-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代谢病医生</a:t>
            </a:r>
            <a:endParaRPr lang="en-US" altLang="zh-CN" sz="1400" kern="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551531" y="5285532"/>
            <a:ext cx="2792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②</a:t>
            </a:r>
            <a:r>
              <a:rPr lang="en-US" altLang="zh-CN" sz="1200" b="1" dirty="0">
                <a:solidFill>
                  <a:schemeClr val="bg1"/>
                </a:solidFill>
              </a:rPr>
              <a:t>primary → memory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944782" y="5754723"/>
            <a:ext cx="243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③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并行咨询三位专家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636312" y="529669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④ 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综合三方意见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5385860" y="5675645"/>
            <a:ext cx="385243" cy="385243"/>
            <a:chOff x="3077029" y="2540000"/>
            <a:chExt cx="936000" cy="936000"/>
          </a:xfrm>
        </p:grpSpPr>
        <p:sp>
          <p:nvSpPr>
            <p:cNvPr id="105" name="泪滴形 10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6161974" y="615895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⑤ </a:t>
            </a:r>
            <a:r>
              <a:rPr lang="en-US" altLang="zh-CN" sz="1200" b="1" dirty="0">
                <a:solidFill>
                  <a:schemeClr val="bg1"/>
                </a:solidFill>
              </a:rPr>
              <a:t>primary → </a:t>
            </a:r>
            <a:r>
              <a:rPr lang="zh-CN" altLang="en-US" sz="1200" b="1" dirty="0">
                <a:solidFill>
                  <a:schemeClr val="bg1"/>
                </a:solidFill>
              </a:rPr>
              <a:t>用户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811460" y="5510503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⑥ </a:t>
            </a:r>
            <a:r>
              <a:rPr lang="en-US" altLang="zh-CN" sz="1200" b="1" dirty="0">
                <a:solidFill>
                  <a:schemeClr val="bg1"/>
                </a:solidFill>
              </a:rPr>
              <a:t>memory </a:t>
            </a:r>
            <a:r>
              <a:rPr lang="zh-CN" altLang="en-US" sz="1200" b="1" dirty="0">
                <a:solidFill>
                  <a:schemeClr val="bg1"/>
                </a:solidFill>
              </a:rPr>
              <a:t>写回关键事实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5400000">
            <a:off x="8457830" y="5995921"/>
            <a:ext cx="650855" cy="290773"/>
            <a:chOff x="4244551" y="1792911"/>
            <a:chExt cx="2014525" cy="900000"/>
          </a:xfrm>
        </p:grpSpPr>
        <p:sp>
          <p:nvSpPr>
            <p:cNvPr id="110" name="矩形 109"/>
            <p:cNvSpPr/>
            <p:nvPr/>
          </p:nvSpPr>
          <p:spPr>
            <a:xfrm>
              <a:off x="5066121" y="2144750"/>
              <a:ext cx="1192955" cy="260393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9992779" y="5490983"/>
            <a:ext cx="385243" cy="385243"/>
            <a:chOff x="3077029" y="2540000"/>
            <a:chExt cx="936000" cy="936000"/>
          </a:xfrm>
        </p:grpSpPr>
        <p:sp>
          <p:nvSpPr>
            <p:cNvPr id="113" name="泪滴形 112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6" name="文本框 115"/>
          <p:cNvSpPr txBox="1"/>
          <p:nvPr/>
        </p:nvSpPr>
        <p:spPr>
          <a:xfrm>
            <a:off x="9101542" y="6092545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⑦ </a:t>
            </a:r>
            <a:r>
              <a:rPr lang="zh-CN" altLang="en-US" sz="1200" b="1" dirty="0">
                <a:solidFill>
                  <a:schemeClr val="bg1"/>
                </a:solidFill>
              </a:rPr>
              <a:t>触发评测（满足条件时）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5612765" y="231140"/>
            <a:ext cx="6100445" cy="42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血糖管理自进化闭环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42900"/>
            <a:ext cx="3378200" cy="645160"/>
            <a:chOff x="449" y="400"/>
            <a:chExt cx="5320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39" y="400"/>
              <a:ext cx="433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项目框架图</a:t>
              </a: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783906" y="1777239"/>
            <a:ext cx="890980" cy="2594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833639" y="1313583"/>
            <a:ext cx="1903609" cy="115403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51470" y="3097518"/>
            <a:ext cx="4407242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291512" y="3258544"/>
            <a:ext cx="1508445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Ledger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801597" y="5675688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项目整体框架</a:t>
            </a:r>
          </a:p>
        </p:txBody>
      </p:sp>
      <p:sp>
        <p:nvSpPr>
          <p:cNvPr id="84" name="矩形 83"/>
          <p:cNvSpPr/>
          <p:nvPr/>
        </p:nvSpPr>
        <p:spPr>
          <a:xfrm>
            <a:off x="6231672" y="2887146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Daemon · single writer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6940000" y="3272960"/>
            <a:ext cx="822864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Manager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7892680" y="3272960"/>
            <a:ext cx="1534226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Automation Rules /Nudge/Cron</a:t>
            </a:r>
          </a:p>
        </p:txBody>
      </p:sp>
      <p:sp>
        <p:nvSpPr>
          <p:cNvPr id="87" name="矩形 86"/>
          <p:cNvSpPr/>
          <p:nvPr/>
        </p:nvSpPr>
        <p:spPr>
          <a:xfrm>
            <a:off x="6252567" y="542915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IM Bridges</a:t>
            </a:r>
          </a:p>
        </p:txBody>
      </p:sp>
      <p:sp>
        <p:nvSpPr>
          <p:cNvPr id="88" name="矩形 87"/>
          <p:cNvSpPr/>
          <p:nvPr/>
        </p:nvSpPr>
        <p:spPr>
          <a:xfrm>
            <a:off x="5444527" y="5651916"/>
            <a:ext cx="3650242" cy="90987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779491" y="5789724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7175825" y="2479692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" name="矩形 90"/>
          <p:cNvSpPr/>
          <p:nvPr/>
        </p:nvSpPr>
        <p:spPr>
          <a:xfrm>
            <a:off x="6238676" y="4204050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Control Plane</a:t>
            </a:r>
          </a:p>
        </p:txBody>
      </p:sp>
      <p:sp>
        <p:nvSpPr>
          <p:cNvPr id="92" name="矩形 91"/>
          <p:cNvSpPr/>
          <p:nvPr/>
        </p:nvSpPr>
        <p:spPr>
          <a:xfrm>
            <a:off x="5705516" y="1206084"/>
            <a:ext cx="2800230" cy="1401768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96000" y="98834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5927266" y="148392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主治医生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5911800" y="2130405"/>
            <a:ext cx="711224" cy="23505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药剂师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7991696" y="1303859"/>
            <a:ext cx="411883" cy="833551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记忆管理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5927266" y="1811628"/>
            <a:ext cx="676091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营养师</a:t>
            </a:r>
          </a:p>
        </p:txBody>
      </p:sp>
      <p:sp>
        <p:nvSpPr>
          <p:cNvPr id="98" name="右大括号 97"/>
          <p:cNvSpPr/>
          <p:nvPr/>
        </p:nvSpPr>
        <p:spPr>
          <a:xfrm>
            <a:off x="7735279" y="1421804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rgbClr val="AFABA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707020" y="1811628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代谢病医生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810647" y="148595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科普老师</a:t>
            </a:r>
          </a:p>
        </p:txBody>
      </p:sp>
      <p:sp>
        <p:nvSpPr>
          <p:cNvPr id="101" name="矩形 100"/>
          <p:cNvSpPr/>
          <p:nvPr/>
        </p:nvSpPr>
        <p:spPr>
          <a:xfrm>
            <a:off x="9819844" y="1246952"/>
            <a:ext cx="1846735" cy="2730372"/>
          </a:xfrm>
          <a:prstGeom prst="rect">
            <a:avLst/>
          </a:prstGeom>
          <a:noFill/>
          <a:ln w="28575" cap="flat" cmpd="sng" algn="ctr">
            <a:solidFill>
              <a:srgbClr val="238A87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7189716" y="3862100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3" name="矩形 102"/>
          <p:cNvSpPr/>
          <p:nvPr/>
        </p:nvSpPr>
        <p:spPr>
          <a:xfrm>
            <a:off x="5151470" y="4419752"/>
            <a:ext cx="4407242" cy="675817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291512" y="4580778"/>
            <a:ext cx="1508445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Web UI (React)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940000" y="4595194"/>
            <a:ext cx="822864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CLI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7892680" y="4595194"/>
            <a:ext cx="1534226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MCP 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)</a:t>
            </a:r>
          </a:p>
        </p:txBody>
      </p:sp>
      <p:cxnSp>
        <p:nvCxnSpPr>
          <p:cNvPr id="107" name="直接箭头连接符 106"/>
          <p:cNvCxnSpPr/>
          <p:nvPr/>
        </p:nvCxnSpPr>
        <p:spPr>
          <a:xfrm>
            <a:off x="5099267" y="2352821"/>
            <a:ext cx="606249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8" name="矩形 107"/>
          <p:cNvSpPr/>
          <p:nvPr/>
        </p:nvSpPr>
        <p:spPr>
          <a:xfrm>
            <a:off x="2849958" y="1839469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Agent Runtimes</a:t>
            </a:r>
          </a:p>
        </p:txBody>
      </p:sp>
      <p:sp>
        <p:nvSpPr>
          <p:cNvPr id="109" name="矩形 108"/>
          <p:cNvSpPr/>
          <p:nvPr/>
        </p:nvSpPr>
        <p:spPr>
          <a:xfrm>
            <a:off x="2324918" y="2053816"/>
            <a:ext cx="2749173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446915" y="2156178"/>
            <a:ext cx="1099351" cy="24968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Claude Code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3630381" y="2163389"/>
            <a:ext cx="1287256" cy="233776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46915" y="2475682"/>
            <a:ext cx="893611" cy="2424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430653" y="2473034"/>
            <a:ext cx="1486984" cy="2337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Ohters</a:t>
            </a:r>
          </a:p>
        </p:txBody>
      </p:sp>
      <p:sp>
        <p:nvSpPr>
          <p:cNvPr id="114" name="矩形 113"/>
          <p:cNvSpPr/>
          <p:nvPr/>
        </p:nvSpPr>
        <p:spPr>
          <a:xfrm>
            <a:off x="9811948" y="1024630"/>
            <a:ext cx="187429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6" name="直接箭头连接符 115"/>
          <p:cNvCxnSpPr/>
          <p:nvPr/>
        </p:nvCxnSpPr>
        <p:spPr>
          <a:xfrm flipH="1">
            <a:off x="8381807" y="1720634"/>
            <a:ext cx="1633050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17" name="文本框 116"/>
          <p:cNvSpPr txBox="1"/>
          <p:nvPr/>
        </p:nvSpPr>
        <p:spPr>
          <a:xfrm>
            <a:off x="6707020" y="2127965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心理咨询师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674886" y="5785487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884096" y="5797220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5686194" y="6155522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6779491" y="6157336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2" name="直接箭头连接符 121"/>
          <p:cNvCxnSpPr/>
          <p:nvPr/>
        </p:nvCxnSpPr>
        <p:spPr>
          <a:xfrm>
            <a:off x="7165392" y="5125342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9" name="矩形 128"/>
          <p:cNvSpPr/>
          <p:nvPr/>
        </p:nvSpPr>
        <p:spPr>
          <a:xfrm>
            <a:off x="9948515" y="1379220"/>
            <a:ext cx="1616364" cy="2438853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123752" y="1523536"/>
            <a:ext cx="1305536" cy="51084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碎片化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134149" y="2290154"/>
            <a:ext cx="1295140" cy="512537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中活力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已整合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10134148" y="3097517"/>
            <a:ext cx="1295140" cy="49000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长期记忆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永锁定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8" name="组合 137"/>
          <p:cNvGrpSpPr/>
          <p:nvPr/>
        </p:nvGrpSpPr>
        <p:grpSpPr>
          <a:xfrm rot="5400000">
            <a:off x="765143" y="2820124"/>
            <a:ext cx="335714" cy="738576"/>
            <a:chOff x="334611" y="1353173"/>
            <a:chExt cx="653622" cy="1437977"/>
          </a:xfrm>
        </p:grpSpPr>
        <p:sp>
          <p:nvSpPr>
            <p:cNvPr id="134" name="Arrow: Chevron 30"/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5" name="Arrow: Chevron 31"/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6" name="Arrow: Chevron 32"/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7" name="Arrow: Chevron 33"/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0" name="文本框 139"/>
          <p:cNvSpPr txBox="1"/>
          <p:nvPr/>
        </p:nvSpPr>
        <p:spPr>
          <a:xfrm>
            <a:off x="1349466" y="3015015"/>
            <a:ext cx="807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Architecture Layers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554327" y="3460665"/>
            <a:ext cx="4095301" cy="3141294"/>
            <a:chOff x="441246" y="3262778"/>
            <a:chExt cx="4095301" cy="3249191"/>
          </a:xfrm>
        </p:grpSpPr>
        <p:sp>
          <p:nvSpPr>
            <p:cNvPr id="133" name="矩形 132"/>
            <p:cNvSpPr/>
            <p:nvPr/>
          </p:nvSpPr>
          <p:spPr>
            <a:xfrm>
              <a:off x="441247" y="3388227"/>
              <a:ext cx="4094833" cy="3104140"/>
            </a:xfrm>
            <a:prstGeom prst="rect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450631" y="405012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/>
            <p:cNvSpPr txBox="1"/>
            <p:nvPr/>
          </p:nvSpPr>
          <p:spPr>
            <a:xfrm>
              <a:off x="471277" y="3262778"/>
              <a:ext cx="406527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用户层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                   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Web UI  │  CLI  │  IM Bridge  │  MCP Server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453472" y="4073282"/>
              <a:ext cx="407543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调度层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IPC Server  │  Delivery  │    Runners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55" name="直接连接符 154"/>
            <p:cNvCxnSpPr/>
            <p:nvPr/>
          </p:nvCxnSpPr>
          <p:spPr>
            <a:xfrm>
              <a:off x="441247" y="488609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441246" y="570153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/>
            <p:cNvSpPr txBox="1"/>
            <p:nvPr/>
          </p:nvSpPr>
          <p:spPr>
            <a:xfrm>
              <a:off x="469821" y="4895609"/>
              <a:ext cx="405892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服务层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Group  │  Actor  │  Ledger  │  Permissions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441407" y="5701464"/>
              <a:ext cx="4065994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资源层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Event  │  Message  │  Actor  │  IPC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499177" y="40084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3">
            <a:duotone>
              <a:srgbClr val="5E759C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9785880" y="4495923"/>
            <a:ext cx="2077283" cy="207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1171015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843250" y="1740310"/>
              <a:ext cx="3244645" cy="3834580"/>
            </a:xfrm>
            <a:prstGeom prst="parallelogram">
              <a:avLst>
                <a:gd name="adj" fmla="val 81140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403689" y="5397910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784257" y="5132438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312311" y="2005781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108723" y="2929783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454804" y="3751006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107859" y="470450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447921" y="3362045"/>
            <a:ext cx="1811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模块详情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85345" y="3986394"/>
            <a:ext cx="23361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Module Details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 flipH="1">
            <a:off x="8532843" y="1866513"/>
            <a:ext cx="319766" cy="1223647"/>
            <a:chOff x="2474685" y="2249714"/>
            <a:chExt cx="720000" cy="2755220"/>
          </a:xfrm>
        </p:grpSpPr>
        <p:sp>
          <p:nvSpPr>
            <p:cNvPr id="58" name="矩形 57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5" name="矩形: 圆角 84"/>
          <p:cNvSpPr/>
          <p:nvPr/>
        </p:nvSpPr>
        <p:spPr>
          <a:xfrm>
            <a:off x="7838884" y="2191804"/>
            <a:ext cx="2420578" cy="1075315"/>
          </a:xfrm>
          <a:prstGeom prst="roundRect">
            <a:avLst/>
          </a:prstGeom>
          <a:solidFill>
            <a:srgbClr val="FF8F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7788456" y="909770"/>
            <a:ext cx="2398137" cy="876520"/>
          </a:xfrm>
          <a:prstGeom prst="roundRect">
            <a:avLst/>
          </a:prstGeom>
          <a:solidFill>
            <a:srgbClr val="29A29A"/>
          </a:solidFill>
          <a:ln w="317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6416192" y="973677"/>
            <a:ext cx="1089580" cy="2309748"/>
          </a:xfrm>
          <a:prstGeom prst="roundRect">
            <a:avLst/>
          </a:prstGeom>
          <a:solidFill>
            <a:srgbClr val="A270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6298536" y="430104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63" y="5489056"/>
            <a:ext cx="609600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Foreman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唯一：确保治疗决策有明确最终责任人。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可质疑组长：体现多学科协作中的制衡机制，提高决策质量。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只能管理自己：避免权限混乱，保障系统安全。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9305" y="5033127"/>
            <a:ext cx="302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权限与职权解释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9979" y="1156043"/>
          <a:ext cx="5634870" cy="3678879"/>
        </p:xfrm>
        <a:graphic>
          <a:graphicData uri="http://schemas.openxmlformats.org/drawingml/2006/table">
            <a:tbl>
              <a:tblPr/>
              <a:tblGrid>
                <a:gridCol w="1067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</a:t>
                      </a: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角色定位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权限与职责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主治医生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Foreman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全局负责人，可添加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启动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停止任何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Actor，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接收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idle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和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quiet-review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通知，可对任何任务做出最终决策。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药剂师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负责用药方案，可质疑主治医生的处方，但只能管理与自己相关的任务（如药物审核）。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营养师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制定饮食计划，可对代谢相关问题提出建议，但无权修改其他领域的方案。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代谢病医生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专注于胰岛素抵抗、血糖波动等代谢异常，可挑战主治医生的代谢相关决策。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科普老师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生成患者教育内容，可被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要求制作科普材料，但不能干预临床治疗。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心理咨询师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altLang="zh-CN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关注患者心理状态，可发起心理干预或转诊建议，但不能修改药物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饮食方案。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记忆管理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记忆模块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所有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记忆的储存及管理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485775" y="332740"/>
            <a:ext cx="4315460" cy="645160"/>
            <a:chOff x="449" y="384"/>
            <a:chExt cx="6796" cy="1016"/>
          </a:xfrm>
        </p:grpSpPr>
        <p:grpSp>
          <p:nvGrpSpPr>
            <p:cNvPr id="10" name="组合 9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477" y="384"/>
              <a:ext cx="57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Agent 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角色架构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 rot="5400000">
            <a:off x="601410" y="4863070"/>
            <a:ext cx="335714" cy="738576"/>
            <a:chOff x="334611" y="1353173"/>
            <a:chExt cx="653622" cy="1437977"/>
          </a:xfrm>
        </p:grpSpPr>
        <p:sp>
          <p:nvSpPr>
            <p:cNvPr id="17" name="Arrow: Chevron 30"/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Arrow: Chevron 31"/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Arrow: Chevron 32"/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Arrow: Chevron 33"/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38" y="1331731"/>
            <a:ext cx="671519" cy="671519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10485247" y="1136174"/>
            <a:ext cx="1124347" cy="2143271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44" y="1769398"/>
            <a:ext cx="925183" cy="925183"/>
          </a:xfrm>
          <a:prstGeom prst="rect">
            <a:avLst/>
          </a:prstGeom>
        </p:spPr>
      </p:pic>
      <p:grpSp>
        <p:nvGrpSpPr>
          <p:cNvPr id="42" name="组合 41"/>
          <p:cNvGrpSpPr/>
          <p:nvPr/>
        </p:nvGrpSpPr>
        <p:grpSpPr>
          <a:xfrm>
            <a:off x="7248042" y="1133240"/>
            <a:ext cx="1241043" cy="1241043"/>
            <a:chOff x="5169988" y="2277563"/>
            <a:chExt cx="1800000" cy="1800000"/>
          </a:xfrm>
        </p:grpSpPr>
        <p:sp>
          <p:nvSpPr>
            <p:cNvPr id="43" name="椭圆 42"/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" name="任意多边形: 形状 54"/>
          <p:cNvSpPr/>
          <p:nvPr/>
        </p:nvSpPr>
        <p:spPr>
          <a:xfrm>
            <a:off x="10097306" y="2771413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任意多边形: 形状 55"/>
          <p:cNvSpPr/>
          <p:nvPr/>
        </p:nvSpPr>
        <p:spPr>
          <a:xfrm>
            <a:off x="9890463" y="1666840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 flipH="1">
            <a:off x="6320651" y="2553285"/>
            <a:ext cx="319766" cy="1223647"/>
            <a:chOff x="2474685" y="2249714"/>
            <a:chExt cx="720000" cy="2755220"/>
          </a:xfrm>
        </p:grpSpPr>
        <p:sp>
          <p:nvSpPr>
            <p:cNvPr id="63" name="矩形 62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 flipH="1">
            <a:off x="7456091" y="2935622"/>
            <a:ext cx="290401" cy="1009601"/>
            <a:chOff x="2474685" y="2249714"/>
            <a:chExt cx="720000" cy="2755220"/>
          </a:xfrm>
        </p:grpSpPr>
        <p:sp>
          <p:nvSpPr>
            <p:cNvPr id="73" name="矩形 72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6" name="矩形: 圆角 85"/>
          <p:cNvSpPr/>
          <p:nvPr/>
        </p:nvSpPr>
        <p:spPr>
          <a:xfrm>
            <a:off x="7431042" y="4291805"/>
            <a:ext cx="863213" cy="219995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9429886" y="4229770"/>
            <a:ext cx="2398735" cy="359341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9435042" y="4666682"/>
            <a:ext cx="2498043" cy="241333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9437179" y="5019559"/>
            <a:ext cx="2471020" cy="224277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7424327" y="4642139"/>
            <a:ext cx="1839209" cy="2362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7431043" y="4943543"/>
            <a:ext cx="1939094" cy="39088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7442768" y="5442830"/>
            <a:ext cx="933248" cy="237689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7442767" y="5911917"/>
            <a:ext cx="1736067" cy="228098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7433563" y="6324408"/>
            <a:ext cx="1392845" cy="2640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6293542" y="4657446"/>
            <a:ext cx="1024434" cy="220917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6302355" y="5021158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6294062" y="5450412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6294275" y="5884323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6293800" y="634941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9437047" y="5366089"/>
            <a:ext cx="2287071" cy="402389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437046" y="5814424"/>
            <a:ext cx="2287071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435962" y="6261811"/>
            <a:ext cx="2458532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7" name="Straight Connector 36"/>
          <p:cNvCxnSpPr/>
          <p:nvPr/>
        </p:nvCxnSpPr>
        <p:spPr>
          <a:xfrm>
            <a:off x="6317533" y="3642187"/>
            <a:ext cx="4616970" cy="0"/>
          </a:xfrm>
          <a:prstGeom prst="line">
            <a:avLst/>
          </a:prstGeom>
          <a:ln w="63500">
            <a:solidFill>
              <a:srgbClr val="29A2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"/>
          <p:cNvSpPr/>
          <p:nvPr/>
        </p:nvSpPr>
        <p:spPr>
          <a:xfrm>
            <a:off x="6302355" y="3820425"/>
            <a:ext cx="1051589" cy="321843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3" name="Rounded Rectangle 1"/>
          <p:cNvSpPr/>
          <p:nvPr/>
        </p:nvSpPr>
        <p:spPr>
          <a:xfrm>
            <a:off x="7431042" y="3816112"/>
            <a:ext cx="1848054" cy="32184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9" name="组合 118"/>
          <p:cNvGrpSpPr/>
          <p:nvPr/>
        </p:nvGrpSpPr>
        <p:grpSpPr>
          <a:xfrm rot="5400000">
            <a:off x="10166880" y="1936208"/>
            <a:ext cx="3047413" cy="900000"/>
            <a:chOff x="4244551" y="1792911"/>
            <a:chExt cx="3047413" cy="900000"/>
          </a:xfrm>
        </p:grpSpPr>
        <p:sp>
          <p:nvSpPr>
            <p:cNvPr id="117" name="矩形 116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4" name="Rounded Rectangle 1"/>
          <p:cNvSpPr/>
          <p:nvPr/>
        </p:nvSpPr>
        <p:spPr>
          <a:xfrm>
            <a:off x="9422553" y="3807355"/>
            <a:ext cx="2498043" cy="302341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20" name="组合 119"/>
          <p:cNvGrpSpPr/>
          <p:nvPr/>
        </p:nvGrpSpPr>
        <p:grpSpPr>
          <a:xfrm rot="5400000">
            <a:off x="9247657" y="725795"/>
            <a:ext cx="1227464" cy="362510"/>
            <a:chOff x="4244551" y="1792911"/>
            <a:chExt cx="3047413" cy="900000"/>
          </a:xfrm>
        </p:grpSpPr>
        <p:sp>
          <p:nvSpPr>
            <p:cNvPr id="121" name="矩形 120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2" name="任意多边形: 形状 51"/>
          <p:cNvSpPr/>
          <p:nvPr/>
        </p:nvSpPr>
        <p:spPr>
          <a:xfrm>
            <a:off x="6907118" y="746749"/>
            <a:ext cx="4036291" cy="564912"/>
          </a:xfrm>
          <a:custGeom>
            <a:avLst/>
            <a:gdLst>
              <a:gd name="connsiteX0" fmla="*/ 0 w 4036291"/>
              <a:gd name="connsiteY0" fmla="*/ 609600 h 803564"/>
              <a:gd name="connsiteX1" fmla="*/ 0 w 4036291"/>
              <a:gd name="connsiteY1" fmla="*/ 0 h 803564"/>
              <a:gd name="connsiteX2" fmla="*/ 4036291 w 4036291"/>
              <a:gd name="connsiteY2" fmla="*/ 0 h 803564"/>
              <a:gd name="connsiteX3" fmla="*/ 4036291 w 4036291"/>
              <a:gd name="connsiteY3" fmla="*/ 803564 h 80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91" h="803564">
                <a:moveTo>
                  <a:pt x="0" y="609600"/>
                </a:moveTo>
                <a:lnTo>
                  <a:pt x="0" y="0"/>
                </a:lnTo>
                <a:lnTo>
                  <a:pt x="4036291" y="0"/>
                </a:lnTo>
                <a:lnTo>
                  <a:pt x="4036291" y="803564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3" name="组合 122"/>
          <p:cNvGrpSpPr/>
          <p:nvPr/>
        </p:nvGrpSpPr>
        <p:grpSpPr>
          <a:xfrm rot="5400000">
            <a:off x="10222743" y="3191184"/>
            <a:ext cx="978412" cy="288957"/>
            <a:chOff x="4244551" y="1792911"/>
            <a:chExt cx="3047413" cy="900000"/>
          </a:xfrm>
        </p:grpSpPr>
        <p:sp>
          <p:nvSpPr>
            <p:cNvPr id="124" name="矩形 123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6" name="椭圆 125"/>
          <p:cNvSpPr/>
          <p:nvPr/>
        </p:nvSpPr>
        <p:spPr>
          <a:xfrm>
            <a:off x="1185454" y="1660386"/>
            <a:ext cx="175974" cy="175974"/>
          </a:xfrm>
          <a:prstGeom prst="ellipse">
            <a:avLst/>
          </a:prstGeom>
          <a:solidFill>
            <a:srgbClr val="29A29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1185454" y="4561403"/>
            <a:ext cx="175974" cy="175974"/>
          </a:xfrm>
          <a:prstGeom prst="ellipse">
            <a:avLst/>
          </a:prstGeom>
          <a:solidFill>
            <a:srgbClr val="B1BBB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1185454" y="214768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8412573" y="2224185"/>
            <a:ext cx="873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辅助</a:t>
            </a: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8405764" y="968690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主要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262083" y="1164355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记忆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 panose="020B0503020204020204" pitchFamily="34" charset="-122"/>
                <a:cs typeface="+mn-cs"/>
              </a:rPr>
              <a:t>管理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6528867" y="121618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拓展⻆⾊</a:t>
            </a: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731" y="1574942"/>
            <a:ext cx="642095" cy="642095"/>
          </a:xfrm>
          <a:prstGeom prst="rect">
            <a:avLst/>
          </a:prstGeom>
        </p:spPr>
      </p:pic>
      <p:pic>
        <p:nvPicPr>
          <p:cNvPr id="138" name="图片 13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13" y="2384195"/>
            <a:ext cx="663999" cy="663999"/>
          </a:xfrm>
          <a:prstGeom prst="rect">
            <a:avLst/>
          </a:prstGeom>
        </p:spPr>
      </p:pic>
      <p:sp>
        <p:nvSpPr>
          <p:cNvPr id="139" name="椭圆 138"/>
          <p:cNvSpPr/>
          <p:nvPr/>
        </p:nvSpPr>
        <p:spPr>
          <a:xfrm>
            <a:off x="1185454" y="263931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1185454" y="3096533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1185454" y="357384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椭圆 141"/>
          <p:cNvSpPr/>
          <p:nvPr/>
        </p:nvSpPr>
        <p:spPr>
          <a:xfrm>
            <a:off x="1185454" y="404866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469" y="2473731"/>
            <a:ext cx="564668" cy="535231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480" y="2487235"/>
            <a:ext cx="564668" cy="535231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491" y="2503798"/>
            <a:ext cx="564668" cy="53523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6369397" y="3849553"/>
            <a:ext cx="8764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规则类型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7420986" y="3854648"/>
            <a:ext cx="1343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触发条件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9447137" y="3850305"/>
            <a:ext cx="1300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执行动作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6369397" y="3909912"/>
          <a:ext cx="5392182" cy="2773092"/>
        </p:xfrm>
        <a:graphic>
          <a:graphicData uri="http://schemas.openxmlformats.org/drawingml/2006/table">
            <a:tbl>
              <a:tblPr/>
              <a:tblGrid>
                <a:gridCol w="1014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9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每日摘要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每天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8:00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主治医生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昨日血糖数据汇总，请查收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药物审核催办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药剂师被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小时未回复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向主治医生发送升级提醒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饮食方案确认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营养师提交方案后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24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小时未获主治医生确认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主治医生 “待确认饮食方案”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定期科普推送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每周三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10:00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科普老师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本周主题：低血糖识别与应对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心理干预触发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患者连续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天情绪记录异常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心理咨询师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 “请评估患者心理状态”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代谢异常告警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连续血糖值超过阈值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代谢病医生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需调整胰岛素剂量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 并同时抄送主治医生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6" name="文本框 155"/>
          <p:cNvSpPr txBox="1"/>
          <p:nvPr/>
        </p:nvSpPr>
        <p:spPr>
          <a:xfrm>
            <a:off x="9465094" y="301946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营养师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8588686" y="3006542"/>
            <a:ext cx="962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代谢病医生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7939221" y="3012485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药剂师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6449639" y="2185680"/>
            <a:ext cx="1028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心理咨询师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6645450" y="2973594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科普老师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9447137" y="1357268"/>
            <a:ext cx="6094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主治医生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10818804" y="2992772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记忆模块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" y="6127877"/>
            <a:ext cx="12361332" cy="730123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4272" y="865754"/>
            <a:ext cx="6249169" cy="6249169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43535"/>
            <a:ext cx="4352925" cy="645160"/>
            <a:chOff x="449" y="401"/>
            <a:chExt cx="6855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401"/>
              <a:ext cx="58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Memory 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架构图</a:t>
              </a:r>
            </a:p>
          </p:txBody>
        </p:sp>
      </p:grpSp>
      <p:grpSp>
        <p:nvGrpSpPr>
          <p:cNvPr id="83" name="组合 82"/>
          <p:cNvGrpSpPr/>
          <p:nvPr>
            <p:custDataLst>
              <p:tags r:id="rId1"/>
            </p:custDataLst>
          </p:nvPr>
        </p:nvGrpSpPr>
        <p:grpSpPr>
          <a:xfrm>
            <a:off x="554355" y="1994535"/>
            <a:ext cx="3072765" cy="2509205"/>
            <a:chOff x="6832" y="2455"/>
            <a:chExt cx="4259" cy="2642"/>
          </a:xfrm>
        </p:grpSpPr>
        <p:sp>
          <p:nvSpPr>
            <p:cNvPr id="115" name="矩形 114"/>
            <p:cNvSpPr/>
            <p:nvPr>
              <p:custDataLst>
                <p:tags r:id="rId23"/>
              </p:custDataLst>
            </p:nvPr>
          </p:nvSpPr>
          <p:spPr>
            <a:xfrm>
              <a:off x="7042" y="2944"/>
              <a:ext cx="383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/>
            <p:nvPr>
              <p:custDataLst>
                <p:tags r:id="rId24"/>
              </p:custDataLst>
            </p:nvPr>
          </p:nvSpPr>
          <p:spPr>
            <a:xfrm>
              <a:off x="6832" y="2798"/>
              <a:ext cx="4259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/>
            <p:nvPr>
              <p:custDataLst>
                <p:tags r:id="rId2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Memory </a:t>
              </a:r>
              <a:r>
                <a:rPr lang="zh-CN" altLang="en-US" sz="1600" b="1" kern="0" dirty="0">
                  <a:solidFill>
                    <a:prstClr val="white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模块</a:t>
              </a:r>
              <a:r>
                <a:rPr lang="en-US" altLang="zh-CN" sz="1600" b="1" kern="0" dirty="0">
                  <a:solidFill>
                    <a:prstClr val="white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</a:p>
          </p:txBody>
        </p:sp>
        <p:sp>
          <p:nvSpPr>
            <p:cNvPr id="125" name="文本框 124"/>
            <p:cNvSpPr txBox="1"/>
            <p:nvPr>
              <p:custDataLst>
                <p:tags r:id="rId26"/>
              </p:custDataLst>
            </p:nvPr>
          </p:nvSpPr>
          <p:spPr>
            <a:xfrm>
              <a:off x="7187" y="3161"/>
              <a:ext cx="3547" cy="327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后端记忆存储引擎</a:t>
              </a:r>
            </a:p>
          </p:txBody>
        </p:sp>
        <p:sp>
          <p:nvSpPr>
            <p:cNvPr id="126" name="文本框 125"/>
            <p:cNvSpPr txBox="1"/>
            <p:nvPr>
              <p:custDataLst>
                <p:tags r:id="rId27"/>
              </p:custDataLst>
            </p:nvPr>
          </p:nvSpPr>
          <p:spPr>
            <a:xfrm>
              <a:off x="7187" y="4002"/>
              <a:ext cx="3550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结构化数据：患者画像、血糖记录、用药方案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向量数据：对话嵌入、语义检索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12396" y="3099622"/>
            <a:ext cx="2559321" cy="246389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SQLite +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向量索引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(sqlite-vec)</a:t>
            </a: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839595" y="1994326"/>
            <a:ext cx="3401036" cy="2509205"/>
            <a:chOff x="6578" y="2416"/>
            <a:chExt cx="4714" cy="2642"/>
          </a:xfrm>
        </p:grpSpPr>
        <p:sp>
          <p:nvSpPr>
            <p:cNvPr id="5" name="矩形 4"/>
            <p:cNvSpPr/>
            <p:nvPr>
              <p:custDataLst>
                <p:tags r:id="rId18"/>
              </p:custDataLst>
            </p:nvPr>
          </p:nvSpPr>
          <p:spPr>
            <a:xfrm>
              <a:off x="6720" y="2942"/>
              <a:ext cx="438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19"/>
              </p:custDataLst>
            </p:nvPr>
          </p:nvSpPr>
          <p:spPr>
            <a:xfrm>
              <a:off x="6578" y="2759"/>
              <a:ext cx="4714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20"/>
              </p:custDataLst>
            </p:nvPr>
          </p:nvSpPr>
          <p:spPr>
            <a:xfrm>
              <a:off x="7437" y="2416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Memory actor 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21"/>
              </p:custDataLst>
            </p:nvPr>
          </p:nvSpPr>
          <p:spPr>
            <a:xfrm>
              <a:off x="6999" y="3161"/>
              <a:ext cx="3939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桥接层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22"/>
              </p:custDataLst>
            </p:nvPr>
          </p:nvSpPr>
          <p:spPr>
            <a:xfrm>
              <a:off x="6999" y="3993"/>
              <a:ext cx="3939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结构化数据：患者画像、血糖记录、用药方案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向量数据：对话嵌入、语义检索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143336" y="3134360"/>
            <a:ext cx="2841892" cy="280035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模块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交互的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actor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9452610" y="1322070"/>
            <a:ext cx="2593975" cy="4198620"/>
            <a:chOff x="14673" y="2082"/>
            <a:chExt cx="4085" cy="6612"/>
          </a:xfrm>
        </p:grpSpPr>
        <p:grpSp>
          <p:nvGrpSpPr>
            <p:cNvPr id="18" name="组合 17"/>
            <p:cNvGrpSpPr/>
            <p:nvPr>
              <p:custDataLst>
                <p:tags r:id="rId3"/>
              </p:custDataLst>
            </p:nvPr>
          </p:nvGrpSpPr>
          <p:grpSpPr>
            <a:xfrm>
              <a:off x="14888" y="2253"/>
              <a:ext cx="3680" cy="1481"/>
              <a:chOff x="6832" y="2455"/>
              <a:chExt cx="4259" cy="1440"/>
            </a:xfrm>
          </p:grpSpPr>
          <p:sp>
            <p:nvSpPr>
              <p:cNvPr id="19" name="矩形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短期记忆</a:t>
                </a:r>
                <a:r>
                  <a:rPr lang="en-US" altLang="zh-CN" sz="1400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1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小时</a:t>
                </a:r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4"/>
              </p:custDataLst>
            </p:nvPr>
          </p:nvGrpSpPr>
          <p:grpSpPr>
            <a:xfrm>
              <a:off x="14888" y="4613"/>
              <a:ext cx="3680" cy="1481"/>
              <a:chOff x="6832" y="2455"/>
              <a:chExt cx="4259" cy="1440"/>
            </a:xfrm>
          </p:grpSpPr>
          <p:sp>
            <p:nvSpPr>
              <p:cNvPr id="37" name="矩形 36"/>
              <p:cNvSpPr/>
              <p:nvPr>
                <p:custDataLst>
                  <p:tags r:id="rId10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11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12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中期记忆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30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小时</a:t>
                </a:r>
              </a:p>
            </p:txBody>
          </p:sp>
        </p:grpSp>
        <p:grpSp>
          <p:nvGrpSpPr>
            <p:cNvPr id="41" name="组合 40"/>
            <p:cNvGrpSpPr/>
            <p:nvPr>
              <p:custDataLst>
                <p:tags r:id="rId5"/>
              </p:custDataLst>
            </p:nvPr>
          </p:nvGrpSpPr>
          <p:grpSpPr>
            <a:xfrm>
              <a:off x="14888" y="6885"/>
              <a:ext cx="3680" cy="1522"/>
              <a:chOff x="6832" y="2415"/>
              <a:chExt cx="4259" cy="1480"/>
            </a:xfrm>
          </p:grpSpPr>
          <p:sp>
            <p:nvSpPr>
              <p:cNvPr id="42" name="矩形 41"/>
              <p:cNvSpPr/>
              <p:nvPr>
                <p:custDataLst>
                  <p:tags r:id="rId6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7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7447" y="2415"/>
                <a:ext cx="2952" cy="42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长期记忆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永久存储</a:t>
                </a:r>
              </a:p>
            </p:txBody>
          </p:sp>
        </p:grpSp>
        <p:sp>
          <p:nvSpPr>
            <p:cNvPr id="101" name="矩形 100"/>
            <p:cNvSpPr/>
            <p:nvPr/>
          </p:nvSpPr>
          <p:spPr>
            <a:xfrm>
              <a:off x="14673" y="2082"/>
              <a:ext cx="4085" cy="6612"/>
            </a:xfrm>
            <a:prstGeom prst="rect">
              <a:avLst/>
            </a:prstGeom>
            <a:noFill/>
            <a:ln w="25400" cap="flat" cmpd="sng" algn="ctr">
              <a:solidFill>
                <a:srgbClr val="F989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" name="右箭头 97"/>
          <p:cNvSpPr/>
          <p:nvPr/>
        </p:nvSpPr>
        <p:spPr>
          <a:xfrm>
            <a:off x="3926443" y="3152018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右箭头 97"/>
          <p:cNvSpPr/>
          <p:nvPr/>
        </p:nvSpPr>
        <p:spPr>
          <a:xfrm>
            <a:off x="8595235" y="3123490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404" y="5520689"/>
            <a:ext cx="1420487" cy="1420487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 rot="5400000">
            <a:off x="7082453" y="6171400"/>
            <a:ext cx="3047413" cy="900000"/>
            <a:chOff x="4244551" y="1792911"/>
            <a:chExt cx="3047413" cy="900000"/>
          </a:xfrm>
        </p:grpSpPr>
        <p:sp>
          <p:nvSpPr>
            <p:cNvPr id="34" name="矩形 33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8165888" y="5435491"/>
            <a:ext cx="1187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记忆模块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779286" y="6207481"/>
            <a:ext cx="539467" cy="539467"/>
            <a:chOff x="5169988" y="2277563"/>
            <a:chExt cx="1800000" cy="1800000"/>
          </a:xfrm>
        </p:grpSpPr>
        <p:sp>
          <p:nvSpPr>
            <p:cNvPr id="50" name="椭圆 49"/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809690" y="5569319"/>
            <a:ext cx="1184831" cy="1184831"/>
            <a:chOff x="1931488" y="2277563"/>
            <a:chExt cx="1800000" cy="1800000"/>
          </a:xfrm>
        </p:grpSpPr>
        <p:sp>
          <p:nvSpPr>
            <p:cNvPr id="58" name="椭圆 57"/>
            <p:cNvSpPr/>
            <p:nvPr/>
          </p:nvSpPr>
          <p:spPr>
            <a:xfrm>
              <a:off x="1931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552700" y="2876550"/>
              <a:ext cx="609600" cy="6667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/>
            <p:cNvSpPr/>
            <p:nvPr/>
          </p:nvSpPr>
          <p:spPr>
            <a:xfrm>
              <a:off x="2533650" y="283845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3085281" y="3457165"/>
              <a:ext cx="108000" cy="108000"/>
            </a:xfrm>
            <a:prstGeom prst="ellipse">
              <a:avLst/>
            </a:prstGeom>
            <a:solidFill>
              <a:srgbClr val="42A9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10068261" y="6207481"/>
            <a:ext cx="580118" cy="580118"/>
            <a:chOff x="8408488" y="2277563"/>
            <a:chExt cx="1800000" cy="1800000"/>
          </a:xfrm>
        </p:grpSpPr>
        <p:sp>
          <p:nvSpPr>
            <p:cNvPr id="74" name="椭圆 73"/>
            <p:cNvSpPr/>
            <p:nvPr/>
          </p:nvSpPr>
          <p:spPr>
            <a:xfrm>
              <a:off x="8408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8686800" y="3047999"/>
              <a:ext cx="1238250" cy="309564"/>
              <a:chOff x="8763000" y="3048000"/>
              <a:chExt cx="1238250" cy="309564"/>
            </a:xfrm>
          </p:grpSpPr>
          <p:cxnSp>
            <p:nvCxnSpPr>
              <p:cNvPr id="80" name="直接连接符 79"/>
              <p:cNvCxnSpPr/>
              <p:nvPr/>
            </p:nvCxnSpPr>
            <p:spPr>
              <a:xfrm>
                <a:off x="9144000" y="3048000"/>
                <a:ext cx="628650" cy="30956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V="1">
                <a:off x="8763000" y="3048001"/>
                <a:ext cx="400050" cy="15239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V="1">
                <a:off x="9772650" y="3086100"/>
                <a:ext cx="228600" cy="27146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椭圆 75"/>
            <p:cNvSpPr/>
            <p:nvPr/>
          </p:nvSpPr>
          <p:spPr>
            <a:xfrm>
              <a:off x="9029700" y="300990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8648700" y="31623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9639300" y="33147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9906000" y="302895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1602" y="5821765"/>
            <a:ext cx="998063" cy="925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/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077276" y="3303741"/>
            <a:ext cx="1354895" cy="135489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8463" y="3387923"/>
            <a:ext cx="1985957" cy="1985957"/>
          </a:xfrm>
          <a:prstGeom prst="rect">
            <a:avLst/>
          </a:prstGeom>
        </p:spPr>
      </p:pic>
      <p:sp>
        <p:nvSpPr>
          <p:cNvPr id="106" name="Rectangle 8"/>
          <p:cNvSpPr/>
          <p:nvPr/>
        </p:nvSpPr>
        <p:spPr>
          <a:xfrm>
            <a:off x="95739" y="3804612"/>
            <a:ext cx="4077482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54249" y="2122071"/>
            <a:ext cx="4390696" cy="4390696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74650"/>
            <a:ext cx="4436745" cy="556260"/>
            <a:chOff x="449" y="450"/>
            <a:chExt cx="6987" cy="87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04"/>
              <a:ext cx="595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评测驱动的自进化闭环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5120322" y="366325"/>
            <a:ext cx="1951355" cy="469742"/>
          </a:xfrm>
          <a:prstGeom prst="rect">
            <a:avLst/>
          </a:prstGeom>
          <a:solidFill>
            <a:srgbClr val="ED7EA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触发优化</a:t>
            </a:r>
          </a:p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（周期触发</a:t>
            </a:r>
            <a:r>
              <a:rPr lang="en-US" altLang="zh-CN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低分即时触发）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1087120" y="1246505"/>
            <a:ext cx="10038080" cy="2343785"/>
            <a:chOff x="1372" y="2800"/>
            <a:chExt cx="15808" cy="3961"/>
          </a:xfrm>
        </p:grpSpPr>
        <p:grpSp>
          <p:nvGrpSpPr>
            <p:cNvPr id="7" name="组合 6"/>
            <p:cNvGrpSpPr/>
            <p:nvPr>
              <p:custDataLst>
                <p:tags r:id="rId19"/>
              </p:custDataLst>
            </p:nvPr>
          </p:nvGrpSpPr>
          <p:grpSpPr>
            <a:xfrm>
              <a:off x="1372" y="2815"/>
              <a:ext cx="4259" cy="3946"/>
              <a:chOff x="7164" y="2523"/>
              <a:chExt cx="4259" cy="3946"/>
            </a:xfrm>
          </p:grpSpPr>
          <p:sp>
            <p:nvSpPr>
              <p:cNvPr id="32" name="矩形 31"/>
              <p:cNvSpPr/>
              <p:nvPr>
                <p:custDataLst>
                  <p:tags r:id="rId32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33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34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1</a:t>
                </a: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7779" y="3174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evaluator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评分</a:t>
                </a: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7779" y="3710"/>
                <a:ext cx="2883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5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维度质量评估</a:t>
                </a: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7501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医学准确性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9395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安全性</a:t>
                </a: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7530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个性化程度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9395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表达清晰度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53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完整性</a:t>
                </a: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20"/>
              </p:custDataLst>
            </p:nvPr>
          </p:nvGrpSpPr>
          <p:grpSpPr>
            <a:xfrm>
              <a:off x="7210" y="2815"/>
              <a:ext cx="4259" cy="3946"/>
              <a:chOff x="7164" y="2523"/>
              <a:chExt cx="4259" cy="3946"/>
            </a:xfrm>
          </p:grpSpPr>
          <p:sp>
            <p:nvSpPr>
              <p:cNvPr id="15" name="矩形 14"/>
              <p:cNvSpPr/>
              <p:nvPr>
                <p:custDataLst>
                  <p:tags r:id="rId27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28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29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2</a:t>
                </a: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7779" y="3164"/>
                <a:ext cx="2952" cy="403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analyzer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根因分析</a:t>
                </a: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779" y="3710"/>
                <a:ext cx="2952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根因分类逻辑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44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prompt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449" y="4354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memory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080" y="5586"/>
                <a:ext cx="2300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coordination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</a:p>
            </p:txBody>
          </p:sp>
        </p:grpSp>
        <p:grpSp>
          <p:nvGrpSpPr>
            <p:cNvPr id="26" name="组合 25"/>
            <p:cNvGrpSpPr/>
            <p:nvPr>
              <p:custDataLst>
                <p:tags r:id="rId21"/>
              </p:custDataLst>
            </p:nvPr>
          </p:nvGrpSpPr>
          <p:grpSpPr>
            <a:xfrm>
              <a:off x="12921" y="2800"/>
              <a:ext cx="4259" cy="3946"/>
              <a:chOff x="7164" y="2523"/>
              <a:chExt cx="4259" cy="3946"/>
            </a:xfrm>
          </p:grpSpPr>
          <p:sp>
            <p:nvSpPr>
              <p:cNvPr id="27" name="矩形 2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矩形 27"/>
              <p:cNvSpPr/>
              <p:nvPr>
                <p:custDataLst>
                  <p:tags r:id="rId23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24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3</a:t>
                </a: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7779" y="3209"/>
                <a:ext cx="2883" cy="377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路由到对应优化器</a:t>
                </a: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7779" y="3710"/>
                <a:ext cx="2883" cy="5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路由规则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501" y="4417"/>
                <a:ext cx="3481" cy="729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prompt / coordination </a:t>
                </a: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→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 prompt_optimizer</a:t>
                </a: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8634730" y="2875280"/>
            <a:ext cx="2210435" cy="46291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memory 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memory_optimizer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3025140" y="4135755"/>
            <a:ext cx="6262370" cy="866775"/>
            <a:chOff x="6304" y="7662"/>
            <a:chExt cx="9862" cy="1531"/>
          </a:xfrm>
        </p:grpSpPr>
        <p:grpSp>
          <p:nvGrpSpPr>
            <p:cNvPr id="42" name="组合 41"/>
            <p:cNvGrpSpPr/>
            <p:nvPr>
              <p:custDataLst>
                <p:tags r:id="rId13"/>
              </p:custDataLst>
            </p:nvPr>
          </p:nvGrpSpPr>
          <p:grpSpPr>
            <a:xfrm>
              <a:off x="6304" y="7662"/>
              <a:ext cx="9862" cy="1531"/>
              <a:chOff x="7514" y="4480"/>
              <a:chExt cx="10213" cy="1531"/>
            </a:xfrm>
          </p:grpSpPr>
          <p:sp>
            <p:nvSpPr>
              <p:cNvPr id="46" name="矩形 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4" y="4600"/>
                <a:ext cx="3319" cy="13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514" y="4480"/>
                <a:ext cx="10213" cy="1531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844" y="5316"/>
                <a:ext cx="2881" cy="455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补充约束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 /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格式规范</a:t>
                </a:r>
              </a:p>
            </p:txBody>
          </p:sp>
        </p:grpSp>
        <p:sp>
          <p:nvSpPr>
            <p:cNvPr id="71" name="文本框 70"/>
            <p:cNvSpPr txBox="1"/>
            <p:nvPr>
              <p:custDataLst>
                <p:tags r:id="rId14"/>
              </p:custDataLst>
            </p:nvPr>
          </p:nvSpPr>
          <p:spPr>
            <a:xfrm>
              <a:off x="6633" y="7932"/>
              <a:ext cx="2771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Prompt Optimizer</a:t>
              </a:r>
            </a:p>
          </p:txBody>
        </p:sp>
        <p:sp>
          <p:nvSpPr>
            <p:cNvPr id="72" name="矩形 71"/>
            <p:cNvSpPr/>
            <p:nvPr>
              <p:custDataLst>
                <p:tags r:id="rId15"/>
              </p:custDataLst>
            </p:nvPr>
          </p:nvSpPr>
          <p:spPr>
            <a:xfrm>
              <a:off x="12839" y="7782"/>
              <a:ext cx="3167" cy="130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16"/>
              </p:custDataLst>
            </p:nvPr>
          </p:nvSpPr>
          <p:spPr>
            <a:xfrm>
              <a:off x="13016" y="7932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Memory Optimizer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018" y="8498"/>
              <a:ext cx="2881" cy="455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补充更新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合并删除</a:t>
              </a:r>
            </a:p>
          </p:txBody>
        </p:sp>
      </p:grpSp>
      <p:grpSp>
        <p:nvGrpSpPr>
          <p:cNvPr id="85" name="组合 84"/>
          <p:cNvGrpSpPr/>
          <p:nvPr>
            <p:custDataLst>
              <p:tags r:id="rId1"/>
            </p:custDataLst>
          </p:nvPr>
        </p:nvGrpSpPr>
        <p:grpSpPr>
          <a:xfrm>
            <a:off x="1908175" y="5352415"/>
            <a:ext cx="2704465" cy="1394460"/>
            <a:chOff x="6832" y="2455"/>
            <a:chExt cx="4259" cy="2196"/>
          </a:xfrm>
        </p:grpSpPr>
        <p:sp>
          <p:nvSpPr>
            <p:cNvPr id="86" name="矩形 85"/>
            <p:cNvSpPr/>
            <p:nvPr>
              <p:custDataLst>
                <p:tags r:id="rId8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9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0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4</a:t>
              </a:r>
            </a:p>
          </p:txBody>
        </p:sp>
        <p:sp>
          <p:nvSpPr>
            <p:cNvPr id="89" name="文本框 88"/>
            <p:cNvSpPr txBox="1"/>
            <p:nvPr>
              <p:custDataLst>
                <p:tags r:id="rId11"/>
              </p:custDataLst>
            </p:nvPr>
          </p:nvSpPr>
          <p:spPr>
            <a:xfrm>
              <a:off x="7338" y="3147"/>
              <a:ext cx="3061" cy="411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Raluation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再评测</a:t>
              </a:r>
            </a:p>
          </p:txBody>
        </p:sp>
        <p:sp>
          <p:nvSpPr>
            <p:cNvPr id="90" name="文本框 89"/>
            <p:cNvSpPr txBox="1"/>
            <p:nvPr>
              <p:custDataLst>
                <p:tags r:id="rId12"/>
              </p:custDataLst>
            </p:nvPr>
          </p:nvSpPr>
          <p:spPr>
            <a:xfrm>
              <a:off x="7339" y="3749"/>
              <a:ext cx="3061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重新打分，验证效果</a:t>
              </a:r>
            </a:p>
          </p:txBody>
        </p:sp>
      </p:grpSp>
      <p:grpSp>
        <p:nvGrpSpPr>
          <p:cNvPr id="91" name="组合 90"/>
          <p:cNvGrpSpPr/>
          <p:nvPr>
            <p:custDataLst>
              <p:tags r:id="rId2"/>
            </p:custDataLst>
          </p:nvPr>
        </p:nvGrpSpPr>
        <p:grpSpPr>
          <a:xfrm>
            <a:off x="7310120" y="5401945"/>
            <a:ext cx="2704465" cy="1394460"/>
            <a:chOff x="6832" y="2455"/>
            <a:chExt cx="4259" cy="2196"/>
          </a:xfrm>
        </p:grpSpPr>
        <p:sp>
          <p:nvSpPr>
            <p:cNvPr id="92" name="矩形 91"/>
            <p:cNvSpPr/>
            <p:nvPr>
              <p:custDataLst>
                <p:tags r:id="rId3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矩形 92"/>
            <p:cNvSpPr/>
            <p:nvPr>
              <p:custDataLst>
                <p:tags r:id="rId4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矩形 93"/>
            <p:cNvSpPr/>
            <p:nvPr>
              <p:custDataLst>
                <p:tags r:id="rId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5</a:t>
              </a:r>
            </a:p>
          </p:txBody>
        </p: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7384" y="3129"/>
              <a:ext cx="3127" cy="395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闭环结束</a:t>
              </a:r>
            </a:p>
          </p:txBody>
        </p:sp>
        <p:sp>
          <p:nvSpPr>
            <p:cNvPr id="96" name="文本框 95"/>
            <p:cNvSpPr txBox="1"/>
            <p:nvPr>
              <p:custDataLst>
                <p:tags r:id="rId7"/>
              </p:custDataLst>
            </p:nvPr>
          </p:nvSpPr>
          <p:spPr>
            <a:xfrm>
              <a:off x="7384" y="3749"/>
              <a:ext cx="3127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达标停止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否则继续</a:t>
              </a:r>
            </a:p>
          </p:txBody>
        </p:sp>
      </p:grpSp>
      <p:sp>
        <p:nvSpPr>
          <p:cNvPr id="97" name="下箭头 96"/>
          <p:cNvSpPr/>
          <p:nvPr/>
        </p:nvSpPr>
        <p:spPr>
          <a:xfrm>
            <a:off x="5947551" y="930169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0" name="下箭头 99"/>
          <p:cNvSpPr/>
          <p:nvPr/>
        </p:nvSpPr>
        <p:spPr>
          <a:xfrm>
            <a:off x="4306570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2" name="下箭头 101"/>
          <p:cNvSpPr/>
          <p:nvPr/>
        </p:nvSpPr>
        <p:spPr>
          <a:xfrm>
            <a:off x="7700645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3" name="下箭头 102"/>
          <p:cNvSpPr/>
          <p:nvPr/>
        </p:nvSpPr>
        <p:spPr>
          <a:xfrm>
            <a:off x="5790565" y="5096510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3" name="下箭头 99"/>
          <p:cNvSpPr/>
          <p:nvPr/>
        </p:nvSpPr>
        <p:spPr>
          <a:xfrm rot="16200000">
            <a:off x="4050191" y="2299526"/>
            <a:ext cx="305436" cy="56610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7" name="下箭头 99"/>
          <p:cNvSpPr/>
          <p:nvPr/>
        </p:nvSpPr>
        <p:spPr>
          <a:xfrm rot="16200000">
            <a:off x="7847571" y="2257152"/>
            <a:ext cx="318289" cy="625154"/>
          </a:xfrm>
          <a:prstGeom prst="downArrow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9" name="下箭头 99"/>
          <p:cNvSpPr/>
          <p:nvPr/>
        </p:nvSpPr>
        <p:spPr>
          <a:xfrm rot="16200000">
            <a:off x="5810442" y="5206651"/>
            <a:ext cx="296796" cy="1817027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287225" y="93460"/>
            <a:ext cx="344590" cy="344590"/>
            <a:chOff x="3077029" y="2540000"/>
            <a:chExt cx="936000" cy="936000"/>
          </a:xfrm>
        </p:grpSpPr>
        <p:sp>
          <p:nvSpPr>
            <p:cNvPr id="54" name="泪滴形 53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Rectangle 8"/>
          <p:cNvSpPr/>
          <p:nvPr/>
        </p:nvSpPr>
        <p:spPr>
          <a:xfrm>
            <a:off x="4744421" y="3793248"/>
            <a:ext cx="2752584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8232281" y="3793248"/>
            <a:ext cx="4791960" cy="128088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3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530946" y="830826"/>
            <a:ext cx="15313748" cy="4313690"/>
            <a:chOff x="-530946" y="830826"/>
            <a:chExt cx="15313748" cy="4313690"/>
          </a:xfrm>
        </p:grpSpPr>
        <p:sp>
          <p:nvSpPr>
            <p:cNvPr id="5" name="矩形 4"/>
            <p:cNvSpPr/>
            <p:nvPr/>
          </p:nvSpPr>
          <p:spPr>
            <a:xfrm>
              <a:off x="-530946" y="4458929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83460" y="973394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01496" y="1002194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32376" y="1007807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148914" y="830826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flipH="1">
              <a:off x="2018430" y="4630995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424515" y="4424516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3604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479630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2583" y="4444180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542131" y="4449096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670816" y="4483509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086094" y="1297858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253317" y="1268362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049729" y="2192364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395810" y="301358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7054646" y="361312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395810" y="4812890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163049" y="3359607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78420" y="3983956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11278507" y="2186214"/>
            <a:ext cx="144000" cy="144000"/>
          </a:xfrm>
          <a:prstGeom prst="ellipse">
            <a:avLst/>
          </a:prstGeom>
          <a:solidFill>
            <a:srgbClr val="A270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611836" y="5510893"/>
            <a:ext cx="144000" cy="144000"/>
          </a:xfrm>
          <a:prstGeom prst="ellipse">
            <a:avLst/>
          </a:prstGeom>
          <a:solidFill>
            <a:srgbClr val="42A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210628" y="2271486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03615" y="6437993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00400" y="6172200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1457" y="2530929"/>
            <a:ext cx="144000" cy="144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10550" y="3962400"/>
            <a:ext cx="72000" cy="72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6200" y="480060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058400" y="230505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95085" y="1857830"/>
            <a:ext cx="10608224" cy="6820352"/>
            <a:chOff x="595085" y="1857830"/>
            <a:chExt cx="10608224" cy="6820352"/>
          </a:xfrm>
        </p:grpSpPr>
        <p:grpSp>
          <p:nvGrpSpPr>
            <p:cNvPr id="6" name="组合 5"/>
            <p:cNvGrpSpPr/>
            <p:nvPr/>
          </p:nvGrpSpPr>
          <p:grpSpPr>
            <a:xfrm>
              <a:off x="2359479" y="3216049"/>
              <a:ext cx="2160000" cy="5322887"/>
              <a:chOff x="2228850" y="2214563"/>
              <a:chExt cx="2160000" cy="5322887"/>
            </a:xfrm>
          </p:grpSpPr>
          <p:sp>
            <p:nvSpPr>
              <p:cNvPr id="3" name="菱形 2"/>
              <p:cNvSpPr/>
              <p:nvPr/>
            </p:nvSpPr>
            <p:spPr>
              <a:xfrm>
                <a:off x="2228850" y="2214563"/>
                <a:ext cx="2160000" cy="114300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平行四边形 3"/>
              <p:cNvSpPr/>
              <p:nvPr/>
            </p:nvSpPr>
            <p:spPr>
              <a:xfrm rot="16200000">
                <a:off x="394744" y="461064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5400000" flipH="1">
                <a:off x="1473744" y="4623344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12006" y="4833257"/>
              <a:ext cx="1240337" cy="2879492"/>
              <a:chOff x="2228850" y="2214564"/>
              <a:chExt cx="2160000" cy="4132312"/>
            </a:xfrm>
          </p:grpSpPr>
          <p:sp>
            <p:nvSpPr>
              <p:cNvPr id="8" name="菱形 7"/>
              <p:cNvSpPr/>
              <p:nvPr/>
            </p:nvSpPr>
            <p:spPr>
              <a:xfrm>
                <a:off x="2228850" y="2214564"/>
                <a:ext cx="2160000" cy="104146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6200000">
                <a:off x="962853" y="4000878"/>
                <a:ext cx="3611995" cy="1080001"/>
              </a:xfrm>
              <a:prstGeom prst="parallelogram">
                <a:avLst>
                  <a:gd name="adj" fmla="val 60114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5400000" flipH="1">
                <a:off x="2041851" y="3992748"/>
                <a:ext cx="3611995" cy="1080001"/>
              </a:xfrm>
              <a:prstGeom prst="parallelogram">
                <a:avLst>
                  <a:gd name="adj" fmla="val 58938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82854" y="1857830"/>
              <a:ext cx="892629" cy="5530086"/>
              <a:chOff x="2228850" y="2579171"/>
              <a:chExt cx="2160000" cy="4790279"/>
            </a:xfrm>
          </p:grpSpPr>
          <p:sp>
            <p:nvSpPr>
              <p:cNvPr id="12" name="菱形 11"/>
              <p:cNvSpPr/>
              <p:nvPr/>
            </p:nvSpPr>
            <p:spPr>
              <a:xfrm>
                <a:off x="2228850" y="2579171"/>
                <a:ext cx="2160000" cy="402321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6200000">
                <a:off x="472458" y="4532929"/>
                <a:ext cx="4592786" cy="1080001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5400000" flipH="1">
                <a:off x="1551452" y="4533056"/>
                <a:ext cx="4592786" cy="1080001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043309" y="2134960"/>
              <a:ext cx="2160000" cy="6543222"/>
              <a:chOff x="2228850" y="2214563"/>
              <a:chExt cx="2160000" cy="5162564"/>
            </a:xfrm>
          </p:grpSpPr>
          <p:sp>
            <p:nvSpPr>
              <p:cNvPr id="16" name="菱形 15"/>
              <p:cNvSpPr/>
              <p:nvPr/>
            </p:nvSpPr>
            <p:spPr>
              <a:xfrm>
                <a:off x="2228850" y="2214563"/>
                <a:ext cx="2160000" cy="847424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95085" y="2394858"/>
              <a:ext cx="1485995" cy="5316764"/>
              <a:chOff x="2228850" y="2242598"/>
              <a:chExt cx="2160000" cy="5134529"/>
            </a:xfrm>
          </p:grpSpPr>
          <p:sp>
            <p:nvSpPr>
              <p:cNvPr id="20" name="菱形 19"/>
              <p:cNvSpPr/>
              <p:nvPr/>
            </p:nvSpPr>
            <p:spPr>
              <a:xfrm>
                <a:off x="2228850" y="2242598"/>
                <a:ext cx="2160000" cy="770924"/>
              </a:xfrm>
              <a:prstGeom prst="diamond">
                <a:avLst/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2136430" y="1171633"/>
            <a:ext cx="2881243" cy="914043"/>
            <a:chOff x="2136430" y="1171633"/>
            <a:chExt cx="2881243" cy="914043"/>
          </a:xfrm>
        </p:grpSpPr>
        <p:sp>
          <p:nvSpPr>
            <p:cNvPr id="23" name="文本框 22"/>
            <p:cNvSpPr txBox="1"/>
            <p:nvPr/>
          </p:nvSpPr>
          <p:spPr>
            <a:xfrm>
              <a:off x="2136430" y="1777899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自进化系统整体框架的初步搭建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326399" y="117163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8001" y="2540000"/>
            <a:ext cx="936000" cy="936000"/>
            <a:chOff x="3077029" y="2540000"/>
            <a:chExt cx="936000" cy="936000"/>
          </a:xfrm>
        </p:grpSpPr>
        <p:sp>
          <p:nvSpPr>
            <p:cNvPr id="25" name="泪滴形 2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74003" y="4455885"/>
            <a:ext cx="540000" cy="540000"/>
            <a:chOff x="3077029" y="2540000"/>
            <a:chExt cx="936000" cy="936000"/>
          </a:xfrm>
        </p:grpSpPr>
        <p:sp>
          <p:nvSpPr>
            <p:cNvPr id="29" name="泪滴形 28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15917" y="2660312"/>
            <a:ext cx="2881243" cy="975041"/>
            <a:chOff x="2136431" y="979863"/>
            <a:chExt cx="2881243" cy="975041"/>
          </a:xfrm>
        </p:grpSpPr>
        <p:sp>
          <p:nvSpPr>
            <p:cNvPr id="33" name="文本框 32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架构及代码实现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330844" y="97986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Multi Agent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789888" y="1705789"/>
            <a:ext cx="720000" cy="720000"/>
            <a:chOff x="3077029" y="2540000"/>
            <a:chExt cx="936000" cy="936000"/>
          </a:xfrm>
        </p:grpSpPr>
        <p:sp>
          <p:nvSpPr>
            <p:cNvPr id="36" name="泪滴形 35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25919" y="282870"/>
            <a:ext cx="2881243" cy="964881"/>
            <a:chOff x="2136431" y="990023"/>
            <a:chExt cx="2881243" cy="964881"/>
          </a:xfrm>
        </p:grpSpPr>
        <p:sp>
          <p:nvSpPr>
            <p:cNvPr id="39" name="文本框 38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三层记忆架构设计及初步配置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331479" y="99002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记忆管理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85775" y="359410"/>
            <a:ext cx="2886075" cy="645160"/>
            <a:chOff x="449" y="426"/>
            <a:chExt cx="4545" cy="1016"/>
          </a:xfrm>
        </p:grpSpPr>
        <p:grpSp>
          <p:nvGrpSpPr>
            <p:cNvPr id="42" name="组合 41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/>
            <p:cNvSpPr txBox="1"/>
            <p:nvPr/>
          </p:nvSpPr>
          <p:spPr>
            <a:xfrm>
              <a:off x="1477" y="426"/>
              <a:ext cx="351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sym typeface="+mn-lt"/>
                </a:rPr>
                <a:t>项目进展</a:t>
              </a:r>
            </a:p>
          </p:txBody>
        </p:sp>
      </p:grpSp>
      <p:sp>
        <p:nvSpPr>
          <p:cNvPr id="59" name="Rectangle 10"/>
          <p:cNvSpPr/>
          <p:nvPr/>
        </p:nvSpPr>
        <p:spPr>
          <a:xfrm>
            <a:off x="0" y="6141575"/>
            <a:ext cx="12191999" cy="716424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0" name="Freeform 15"/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1" name="Freeform 15"/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2" name="Rectangle 8"/>
          <p:cNvSpPr/>
          <p:nvPr/>
        </p:nvSpPr>
        <p:spPr>
          <a:xfrm>
            <a:off x="0" y="5915874"/>
            <a:ext cx="12191999" cy="225701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718567" y="6307823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3027355" y="6411765"/>
            <a:ext cx="329019" cy="34045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2606185" y="6211574"/>
            <a:ext cx="532232" cy="550732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1673392" y="6398159"/>
            <a:ext cx="329019" cy="3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4715" y="704409"/>
            <a:ext cx="6249169" cy="6249169"/>
          </a:xfrm>
          <a:prstGeom prst="rect">
            <a:avLst/>
          </a:prstGeom>
        </p:spPr>
      </p:pic>
      <p:sp>
        <p:nvSpPr>
          <p:cNvPr id="23" name="ïSlîdê"/>
          <p:cNvSpPr/>
          <p:nvPr/>
        </p:nvSpPr>
        <p:spPr>
          <a:xfrm rot="20752402">
            <a:off x="3840612" y="2302392"/>
            <a:ext cx="2977377" cy="3031847"/>
          </a:xfrm>
          <a:prstGeom prst="ellipse">
            <a:avLst/>
          </a:prstGeom>
          <a:noFill/>
          <a:ln w="1905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430662" y="2424943"/>
            <a:ext cx="2691129" cy="1292636"/>
            <a:chOff x="833850" y="5108274"/>
            <a:chExt cx="2691597" cy="1293602"/>
          </a:xfrm>
        </p:grpSpPr>
        <p:sp>
          <p:nvSpPr>
            <p:cNvPr id="31" name="矩形 30"/>
            <p:cNvSpPr/>
            <p:nvPr/>
          </p:nvSpPr>
          <p:spPr bwMode="auto">
            <a:xfrm>
              <a:off x="833850" y="5755062"/>
              <a:ext cx="2691597" cy="64681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Agent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自进化（提示词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+memory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）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三层记忆管理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44361" y="5108274"/>
              <a:ext cx="1844860" cy="36960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项目创新点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985852" y="3163938"/>
            <a:ext cx="3206148" cy="889244"/>
            <a:chOff x="8206653" y="2292873"/>
            <a:chExt cx="3206148" cy="889244"/>
          </a:xfrm>
        </p:grpSpPr>
        <p:sp>
          <p:nvSpPr>
            <p:cNvPr id="33" name="矩形 32"/>
            <p:cNvSpPr/>
            <p:nvPr/>
          </p:nvSpPr>
          <p:spPr bwMode="auto">
            <a:xfrm>
              <a:off x="8206653" y="2751230"/>
              <a:ext cx="3009889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Evaluator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双维度评估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+ Analyzer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归因框架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+  Memory&amp;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提示词优化边界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 bwMode="auto">
            <a:xfrm>
              <a:off x="8206653" y="2292873"/>
              <a:ext cx="3206148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构建自检与双维度评估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11114" y="1622174"/>
            <a:ext cx="2894418" cy="907882"/>
            <a:chOff x="8198474" y="2307321"/>
            <a:chExt cx="2894418" cy="907882"/>
          </a:xfrm>
        </p:grpSpPr>
        <p:sp>
          <p:nvSpPr>
            <p:cNvPr id="37" name="矩形 36"/>
            <p:cNvSpPr/>
            <p:nvPr/>
          </p:nvSpPr>
          <p:spPr bwMode="auto">
            <a:xfrm>
              <a:off x="8198474" y="2784316"/>
              <a:ext cx="2894418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进一步优化三层记忆管理，借鉴⼈脑的记忆筛选、重构与遗忘机制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auto">
            <a:xfrm>
              <a:off x="8198474" y="2307321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记忆管理接⼊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964338" y="4890060"/>
            <a:ext cx="2824912" cy="862058"/>
            <a:chOff x="8198473" y="2256057"/>
            <a:chExt cx="2824912" cy="862058"/>
          </a:xfrm>
        </p:grpSpPr>
        <p:sp>
          <p:nvSpPr>
            <p:cNvPr id="40" name="矩形 39"/>
            <p:cNvSpPr/>
            <p:nvPr/>
          </p:nvSpPr>
          <p:spPr bwMode="auto">
            <a:xfrm>
              <a:off x="8198473" y="2654398"/>
              <a:ext cx="2824912" cy="46371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完善⾯向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prompt + memory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的双闭环⾃进化机制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auto">
            <a:xfrm>
              <a:off x="8198473" y="2256057"/>
              <a:ext cx="2655039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实现⾃进化与双闭环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5775" y="347980"/>
            <a:ext cx="4733290" cy="645160"/>
            <a:chOff x="449" y="408"/>
            <a:chExt cx="7454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3" y="408"/>
              <a:ext cx="645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下阶段推进及安排</a:t>
              </a:r>
            </a:p>
          </p:txBody>
        </p:sp>
      </p:grpSp>
      <p:sp>
        <p:nvSpPr>
          <p:cNvPr id="15" name="iśḻïďé"/>
          <p:cNvSpPr/>
          <p:nvPr/>
        </p:nvSpPr>
        <p:spPr bwMode="auto">
          <a:xfrm>
            <a:off x="3172292" y="3226743"/>
            <a:ext cx="750297" cy="2054326"/>
          </a:xfrm>
          <a:prstGeom prst="ellipse">
            <a:avLst/>
          </a:pr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îşlïďè"/>
          <p:cNvSpPr/>
          <p:nvPr/>
        </p:nvSpPr>
        <p:spPr bwMode="auto">
          <a:xfrm>
            <a:off x="2519878" y="3226743"/>
            <a:ext cx="1027563" cy="2054326"/>
          </a:xfrm>
          <a:custGeom>
            <a:avLst/>
            <a:gdLst>
              <a:gd name="T0" fmla="*/ 690 w 1087"/>
              <a:gd name="T1" fmla="*/ 1087 h 2174"/>
              <a:gd name="T2" fmla="*/ 1087 w 1087"/>
              <a:gd name="T3" fmla="*/ 0 h 2174"/>
              <a:gd name="T4" fmla="*/ 0 w 1087"/>
              <a:gd name="T5" fmla="*/ 1087 h 2174"/>
              <a:gd name="T6" fmla="*/ 1087 w 1087"/>
              <a:gd name="T7" fmla="*/ 2174 h 2174"/>
              <a:gd name="T8" fmla="*/ 1087 w 1087"/>
              <a:gd name="T9" fmla="*/ 2174 h 2174"/>
              <a:gd name="T10" fmla="*/ 690 w 1087"/>
              <a:gd name="T11" fmla="*/ 1087 h 2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7" h="2174">
                <a:moveTo>
                  <a:pt x="690" y="1087"/>
                </a:moveTo>
                <a:cubicBezTo>
                  <a:pt x="690" y="487"/>
                  <a:pt x="868" y="0"/>
                  <a:pt x="1087" y="0"/>
                </a:cubicBezTo>
                <a:cubicBezTo>
                  <a:pt x="487" y="0"/>
                  <a:pt x="0" y="487"/>
                  <a:pt x="0" y="1087"/>
                </a:cubicBezTo>
                <a:cubicBezTo>
                  <a:pt x="0" y="1687"/>
                  <a:pt x="487" y="2174"/>
                  <a:pt x="1087" y="2174"/>
                </a:cubicBezTo>
                <a:cubicBezTo>
                  <a:pt x="1087" y="2174"/>
                  <a:pt x="1087" y="2174"/>
                  <a:pt x="1087" y="2174"/>
                </a:cubicBezTo>
                <a:cubicBezTo>
                  <a:pt x="868" y="2174"/>
                  <a:pt x="690" y="1687"/>
                  <a:pt x="690" y="1087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îṧḷîďê"/>
          <p:cNvSpPr/>
          <p:nvPr/>
        </p:nvSpPr>
        <p:spPr bwMode="auto">
          <a:xfrm>
            <a:off x="3260921" y="3981253"/>
            <a:ext cx="1236112" cy="584097"/>
          </a:xfrm>
          <a:custGeom>
            <a:avLst/>
            <a:gdLst>
              <a:gd name="T0" fmla="*/ 1042 w 1308"/>
              <a:gd name="T1" fmla="*/ 96 h 618"/>
              <a:gd name="T2" fmla="*/ 602 w 1308"/>
              <a:gd name="T3" fmla="*/ 0 h 618"/>
              <a:gd name="T4" fmla="*/ 0 w 1308"/>
              <a:gd name="T5" fmla="*/ 602 h 618"/>
              <a:gd name="T6" fmla="*/ 301 w 1308"/>
              <a:gd name="T7" fmla="*/ 618 h 618"/>
              <a:gd name="T8" fmla="*/ 1042 w 1308"/>
              <a:gd name="T9" fmla="*/ 506 h 618"/>
              <a:gd name="T10" fmla="*/ 1308 w 1308"/>
              <a:gd name="T11" fmla="*/ 301 h 618"/>
              <a:gd name="T12" fmla="*/ 1042 w 1308"/>
              <a:gd name="T13" fmla="*/ 96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08" h="618">
                <a:moveTo>
                  <a:pt x="1042" y="96"/>
                </a:moveTo>
                <a:cubicBezTo>
                  <a:pt x="918" y="50"/>
                  <a:pt x="767" y="18"/>
                  <a:pt x="602" y="0"/>
                </a:cubicBezTo>
                <a:cubicBezTo>
                  <a:pt x="0" y="602"/>
                  <a:pt x="0" y="602"/>
                  <a:pt x="0" y="602"/>
                </a:cubicBezTo>
                <a:cubicBezTo>
                  <a:pt x="96" y="612"/>
                  <a:pt x="197" y="618"/>
                  <a:pt x="301" y="618"/>
                </a:cubicBezTo>
                <a:cubicBezTo>
                  <a:pt x="582" y="618"/>
                  <a:pt x="846" y="578"/>
                  <a:pt x="1042" y="506"/>
                </a:cubicBezTo>
                <a:cubicBezTo>
                  <a:pt x="1238" y="435"/>
                  <a:pt x="1308" y="353"/>
                  <a:pt x="1308" y="301"/>
                </a:cubicBezTo>
                <a:cubicBezTo>
                  <a:pt x="1308" y="249"/>
                  <a:pt x="1238" y="167"/>
                  <a:pt x="1042" y="96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ï$ľîdê"/>
          <p:cNvSpPr/>
          <p:nvPr/>
        </p:nvSpPr>
        <p:spPr bwMode="auto">
          <a:xfrm>
            <a:off x="3262983" y="4253906"/>
            <a:ext cx="1236112" cy="951254"/>
          </a:xfrm>
          <a:custGeom>
            <a:avLst/>
            <a:gdLst>
              <a:gd name="T0" fmla="*/ 1308 w 1308"/>
              <a:gd name="T1" fmla="*/ 0 h 1007"/>
              <a:gd name="T2" fmla="*/ 1042 w 1308"/>
              <a:gd name="T3" fmla="*/ 205 h 1007"/>
              <a:gd name="T4" fmla="*/ 301 w 1308"/>
              <a:gd name="T5" fmla="*/ 317 h 1007"/>
              <a:gd name="T6" fmla="*/ 0 w 1308"/>
              <a:gd name="T7" fmla="*/ 301 h 1007"/>
              <a:gd name="T8" fmla="*/ 96 w 1308"/>
              <a:gd name="T9" fmla="*/ 741 h 1007"/>
              <a:gd name="T10" fmla="*/ 301 w 1308"/>
              <a:gd name="T11" fmla="*/ 1007 h 1007"/>
              <a:gd name="T12" fmla="*/ 301 w 1308"/>
              <a:gd name="T13" fmla="*/ 1007 h 1007"/>
              <a:gd name="T14" fmla="*/ 1013 w 1308"/>
              <a:gd name="T15" fmla="*/ 712 h 1007"/>
              <a:gd name="T16" fmla="*/ 1308 w 1308"/>
              <a:gd name="T17" fmla="*/ 0 h 1007"/>
              <a:gd name="T18" fmla="*/ 1308 w 1308"/>
              <a:gd name="T19" fmla="*/ 0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08" h="1007">
                <a:moveTo>
                  <a:pt x="1308" y="0"/>
                </a:moveTo>
                <a:cubicBezTo>
                  <a:pt x="1308" y="53"/>
                  <a:pt x="1238" y="134"/>
                  <a:pt x="1042" y="205"/>
                </a:cubicBezTo>
                <a:cubicBezTo>
                  <a:pt x="846" y="277"/>
                  <a:pt x="582" y="317"/>
                  <a:pt x="301" y="317"/>
                </a:cubicBezTo>
                <a:cubicBezTo>
                  <a:pt x="197" y="317"/>
                  <a:pt x="96" y="311"/>
                  <a:pt x="0" y="301"/>
                </a:cubicBezTo>
                <a:cubicBezTo>
                  <a:pt x="18" y="466"/>
                  <a:pt x="50" y="617"/>
                  <a:pt x="96" y="741"/>
                </a:cubicBezTo>
                <a:cubicBezTo>
                  <a:pt x="167" y="937"/>
                  <a:pt x="249" y="1007"/>
                  <a:pt x="301" y="1007"/>
                </a:cubicBezTo>
                <a:cubicBezTo>
                  <a:pt x="301" y="1007"/>
                  <a:pt x="301" y="1007"/>
                  <a:pt x="301" y="1007"/>
                </a:cubicBezTo>
                <a:cubicBezTo>
                  <a:pt x="570" y="1007"/>
                  <a:pt x="823" y="902"/>
                  <a:pt x="1013" y="712"/>
                </a:cubicBezTo>
                <a:cubicBezTo>
                  <a:pt x="1203" y="522"/>
                  <a:pt x="1308" y="269"/>
                  <a:pt x="1308" y="0"/>
                </a:cubicBezTo>
                <a:cubicBezTo>
                  <a:pt x="1308" y="0"/>
                  <a:pt x="1308" y="0"/>
                  <a:pt x="1308" y="0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iṩľídê"/>
          <p:cNvSpPr/>
          <p:nvPr/>
        </p:nvSpPr>
        <p:spPr bwMode="auto">
          <a:xfrm>
            <a:off x="3547440" y="3377761"/>
            <a:ext cx="876145" cy="958446"/>
          </a:xfrm>
          <a:custGeom>
            <a:avLst/>
            <a:gdLst>
              <a:gd name="T0" fmla="*/ 552 w 927"/>
              <a:gd name="T1" fmla="*/ 303 h 1014"/>
              <a:gd name="T2" fmla="*/ 815 w 927"/>
              <a:gd name="T3" fmla="*/ 1014 h 1014"/>
              <a:gd name="T4" fmla="*/ 926 w 927"/>
              <a:gd name="T5" fmla="*/ 927 h 1014"/>
              <a:gd name="T6" fmla="*/ 927 w 927"/>
              <a:gd name="T7" fmla="*/ 927 h 1014"/>
              <a:gd name="T8" fmla="*/ 656 w 927"/>
              <a:gd name="T9" fmla="*/ 271 h 1014"/>
              <a:gd name="T10" fmla="*/ 0 w 927"/>
              <a:gd name="T11" fmla="*/ 0 h 1014"/>
              <a:gd name="T12" fmla="*/ 552 w 927"/>
              <a:gd name="T13" fmla="*/ 303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7" h="1014">
                <a:moveTo>
                  <a:pt x="552" y="303"/>
                </a:moveTo>
                <a:cubicBezTo>
                  <a:pt x="703" y="499"/>
                  <a:pt x="815" y="766"/>
                  <a:pt x="815" y="1014"/>
                </a:cubicBezTo>
                <a:cubicBezTo>
                  <a:pt x="891" y="975"/>
                  <a:pt x="920" y="941"/>
                  <a:pt x="926" y="927"/>
                </a:cubicBezTo>
                <a:cubicBezTo>
                  <a:pt x="927" y="927"/>
                  <a:pt x="927" y="927"/>
                  <a:pt x="927" y="927"/>
                </a:cubicBezTo>
                <a:cubicBezTo>
                  <a:pt x="927" y="679"/>
                  <a:pt x="831" y="446"/>
                  <a:pt x="656" y="271"/>
                </a:cubicBezTo>
                <a:cubicBezTo>
                  <a:pt x="481" y="96"/>
                  <a:pt x="248" y="0"/>
                  <a:pt x="0" y="0"/>
                </a:cubicBezTo>
                <a:cubicBezTo>
                  <a:pt x="248" y="0"/>
                  <a:pt x="503" y="239"/>
                  <a:pt x="552" y="303"/>
                </a:cubicBezTo>
                <a:close/>
              </a:path>
            </a:pathLst>
          </a:custGeom>
          <a:solidFill>
            <a:srgbClr val="8050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îS1iďe"/>
          <p:cNvSpPr/>
          <p:nvPr/>
        </p:nvSpPr>
        <p:spPr bwMode="auto">
          <a:xfrm>
            <a:off x="3547440" y="3377761"/>
            <a:ext cx="770273" cy="958446"/>
          </a:xfrm>
          <a:custGeom>
            <a:avLst/>
            <a:gdLst>
              <a:gd name="T0" fmla="*/ 0 w 815"/>
              <a:gd name="T1" fmla="*/ 1 h 1014"/>
              <a:gd name="T2" fmla="*/ 0 w 815"/>
              <a:gd name="T3" fmla="*/ 927 h 1014"/>
              <a:gd name="T4" fmla="*/ 815 w 815"/>
              <a:gd name="T5" fmla="*/ 1014 h 1014"/>
              <a:gd name="T6" fmla="*/ 552 w 815"/>
              <a:gd name="T7" fmla="*/ 286 h 1014"/>
              <a:gd name="T8" fmla="*/ 0 w 815"/>
              <a:gd name="T9" fmla="*/ 0 h 1014"/>
              <a:gd name="T10" fmla="*/ 0 w 815"/>
              <a:gd name="T11" fmla="*/ 1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15" h="1014">
                <a:moveTo>
                  <a:pt x="0" y="1"/>
                </a:moveTo>
                <a:cubicBezTo>
                  <a:pt x="0" y="927"/>
                  <a:pt x="0" y="927"/>
                  <a:pt x="0" y="927"/>
                </a:cubicBezTo>
                <a:cubicBezTo>
                  <a:pt x="815" y="1014"/>
                  <a:pt x="815" y="1014"/>
                  <a:pt x="815" y="1014"/>
                </a:cubicBezTo>
                <a:cubicBezTo>
                  <a:pt x="815" y="766"/>
                  <a:pt x="727" y="461"/>
                  <a:pt x="552" y="286"/>
                </a:cubicBezTo>
                <a:cubicBezTo>
                  <a:pt x="411" y="145"/>
                  <a:pt x="248" y="0"/>
                  <a:pt x="0" y="0"/>
                </a:cubicBezTo>
                <a:lnTo>
                  <a:pt x="0" y="1"/>
                </a:lnTo>
                <a:close/>
              </a:path>
            </a:pathLst>
          </a:custGeom>
          <a:solidFill>
            <a:srgbClr val="563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íśļîḑé"/>
          <p:cNvSpPr/>
          <p:nvPr/>
        </p:nvSpPr>
        <p:spPr bwMode="auto">
          <a:xfrm>
            <a:off x="3399219" y="3492423"/>
            <a:ext cx="759885" cy="909705"/>
          </a:xfrm>
          <a:custGeom>
            <a:avLst/>
            <a:gdLst>
              <a:gd name="T0" fmla="*/ 804 w 804"/>
              <a:gd name="T1" fmla="*/ 875 h 963"/>
              <a:gd name="T2" fmla="*/ 589 w 804"/>
              <a:gd name="T3" fmla="*/ 278 h 963"/>
              <a:gd name="T4" fmla="*/ 157 w 804"/>
              <a:gd name="T5" fmla="*/ 0 h 963"/>
              <a:gd name="T6" fmla="*/ 102 w 804"/>
              <a:gd name="T7" fmla="*/ 119 h 963"/>
              <a:gd name="T8" fmla="*/ 4 w 804"/>
              <a:gd name="T9" fmla="*/ 653 h 963"/>
              <a:gd name="T10" fmla="*/ 0 w 804"/>
              <a:gd name="T11" fmla="*/ 806 h 963"/>
              <a:gd name="T12" fmla="*/ 4 w 804"/>
              <a:gd name="T13" fmla="*/ 959 h 963"/>
              <a:gd name="T14" fmla="*/ 157 w 804"/>
              <a:gd name="T15" fmla="*/ 963 h 963"/>
              <a:gd name="T16" fmla="*/ 310 w 804"/>
              <a:gd name="T17" fmla="*/ 959 h 963"/>
              <a:gd name="T18" fmla="*/ 804 w 804"/>
              <a:gd name="T19" fmla="*/ 875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4" h="963">
                <a:moveTo>
                  <a:pt x="804" y="875"/>
                </a:moveTo>
                <a:cubicBezTo>
                  <a:pt x="785" y="653"/>
                  <a:pt x="706" y="418"/>
                  <a:pt x="589" y="278"/>
                </a:cubicBezTo>
                <a:cubicBezTo>
                  <a:pt x="456" y="119"/>
                  <a:pt x="323" y="24"/>
                  <a:pt x="157" y="0"/>
                </a:cubicBezTo>
                <a:cubicBezTo>
                  <a:pt x="141" y="27"/>
                  <a:pt x="122" y="65"/>
                  <a:pt x="102" y="119"/>
                </a:cubicBezTo>
                <a:cubicBezTo>
                  <a:pt x="49" y="264"/>
                  <a:pt x="16" y="450"/>
                  <a:pt x="4" y="653"/>
                </a:cubicBezTo>
                <a:cubicBezTo>
                  <a:pt x="2" y="703"/>
                  <a:pt x="0" y="754"/>
                  <a:pt x="0" y="806"/>
                </a:cubicBezTo>
                <a:cubicBezTo>
                  <a:pt x="0" y="858"/>
                  <a:pt x="2" y="909"/>
                  <a:pt x="4" y="959"/>
                </a:cubicBezTo>
                <a:cubicBezTo>
                  <a:pt x="54" y="961"/>
                  <a:pt x="105" y="963"/>
                  <a:pt x="157" y="963"/>
                </a:cubicBezTo>
                <a:cubicBezTo>
                  <a:pt x="209" y="963"/>
                  <a:pt x="260" y="961"/>
                  <a:pt x="310" y="959"/>
                </a:cubicBezTo>
                <a:cubicBezTo>
                  <a:pt x="495" y="948"/>
                  <a:pt x="666" y="920"/>
                  <a:pt x="804" y="875"/>
                </a:cubicBezTo>
                <a:close/>
              </a:path>
            </a:pathLst>
          </a:custGeom>
          <a:solidFill>
            <a:srgbClr val="FF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6649421" y="1713134"/>
            <a:ext cx="686644" cy="686644"/>
            <a:chOff x="6708974" y="2051330"/>
            <a:chExt cx="686644" cy="686644"/>
          </a:xfrm>
        </p:grpSpPr>
        <p:sp>
          <p:nvSpPr>
            <p:cNvPr id="98" name="椭圆 97"/>
            <p:cNvSpPr/>
            <p:nvPr/>
          </p:nvSpPr>
          <p:spPr>
            <a:xfrm>
              <a:off x="6708974" y="2051330"/>
              <a:ext cx="686644" cy="686644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6842853" y="2137600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7992649" y="3250304"/>
            <a:ext cx="630200" cy="630200"/>
            <a:chOff x="6351496" y="3317075"/>
            <a:chExt cx="630200" cy="630200"/>
          </a:xfrm>
        </p:grpSpPr>
        <p:sp>
          <p:nvSpPr>
            <p:cNvPr id="101" name="椭圆 100"/>
            <p:cNvSpPr/>
            <p:nvPr/>
          </p:nvSpPr>
          <p:spPr>
            <a:xfrm>
              <a:off x="6351496" y="3317075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468934" y="3370565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980889" y="4890060"/>
            <a:ext cx="630200" cy="630200"/>
            <a:chOff x="7595582" y="4425846"/>
            <a:chExt cx="630200" cy="630200"/>
          </a:xfrm>
        </p:grpSpPr>
        <p:sp>
          <p:nvSpPr>
            <p:cNvPr id="100" name="椭圆 99"/>
            <p:cNvSpPr/>
            <p:nvPr/>
          </p:nvSpPr>
          <p:spPr>
            <a:xfrm>
              <a:off x="7595582" y="4425846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7700351" y="4479336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6200000">
            <a:off x="4886476" y="1361941"/>
            <a:ext cx="36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 rot="16200000">
            <a:off x="3746698" y="-526155"/>
            <a:ext cx="2900034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6" name="饼形 5"/>
          <p:cNvSpPr/>
          <p:nvPr/>
        </p:nvSpPr>
        <p:spPr>
          <a:xfrm rot="5400000">
            <a:off x="4881715" y="972694"/>
            <a:ext cx="630000" cy="630000"/>
          </a:xfrm>
          <a:prstGeom prst="pie">
            <a:avLst>
              <a:gd name="adj1" fmla="val 5351128"/>
              <a:gd name="adj2" fmla="val 16200000"/>
            </a:avLst>
          </a:prstGeom>
          <a:gradFill>
            <a:gsLst>
              <a:gs pos="0">
                <a:srgbClr val="F682B0"/>
              </a:gs>
              <a:gs pos="33000">
                <a:srgbClr val="FE93AA"/>
              </a:gs>
              <a:gs pos="77000">
                <a:srgbClr val="F8BCCC"/>
              </a:gs>
              <a:gs pos="53000">
                <a:srgbClr val="FD8EAC"/>
              </a:gs>
              <a:gs pos="97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2910356" y="3131054"/>
            <a:ext cx="180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27282" y="3313318"/>
            <a:ext cx="2477730" cy="265471"/>
          </a:xfrm>
          <a:prstGeom prst="rect">
            <a:avLst/>
          </a:prstGeom>
          <a:gradFill>
            <a:gsLst>
              <a:gs pos="74000">
                <a:srgbClr val="975FA2"/>
              </a:gs>
              <a:gs pos="50000">
                <a:srgbClr val="F682B0"/>
              </a:gs>
              <a:gs pos="7000">
                <a:srgbClr val="FE93AA"/>
              </a:gs>
              <a:gs pos="30000">
                <a:srgbClr val="FD8EAC"/>
              </a:gs>
              <a:gs pos="97000">
                <a:srgbClr val="38CEE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91643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578867" y="3101557"/>
            <a:ext cx="442451" cy="630000"/>
            <a:chOff x="7593320" y="7069392"/>
            <a:chExt cx="442451" cy="630000"/>
          </a:xfrm>
        </p:grpSpPr>
        <p:sp>
          <p:nvSpPr>
            <p:cNvPr id="19" name="椭圆 18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72971" y="3131054"/>
            <a:ext cx="442451" cy="630000"/>
            <a:chOff x="7593320" y="7069392"/>
            <a:chExt cx="442451" cy="630000"/>
          </a:xfrm>
        </p:grpSpPr>
        <p:sp>
          <p:nvSpPr>
            <p:cNvPr id="23" name="椭圆 22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172261" y="3131054"/>
            <a:ext cx="442451" cy="630000"/>
            <a:chOff x="7593320" y="7069392"/>
            <a:chExt cx="442451" cy="630000"/>
          </a:xfrm>
        </p:grpSpPr>
        <p:sp>
          <p:nvSpPr>
            <p:cNvPr id="26" name="椭圆 25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 flipV="1">
            <a:off x="5164393" y="1307460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5100840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164393" y="2403756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6703142" y="1730247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6177476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6678561" y="2637563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6653980" y="3721859"/>
            <a:ext cx="0" cy="108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 flipH="1">
            <a:off x="6405714" y="2966557"/>
            <a:ext cx="900000" cy="900000"/>
          </a:xfrm>
          <a:prstGeom prst="ellipse">
            <a:avLst/>
          </a:prstGeom>
          <a:gradFill flip="none" rotWithShape="1">
            <a:gsLst>
              <a:gs pos="82000">
                <a:srgbClr val="C05EA6"/>
              </a:gs>
              <a:gs pos="0">
                <a:srgbClr val="F682B0"/>
              </a:gs>
              <a:gs pos="29000">
                <a:srgbClr val="FE93AA"/>
              </a:gs>
              <a:gs pos="56000">
                <a:srgbClr val="FD8EAC"/>
              </a:gs>
              <a:gs pos="97000">
                <a:srgbClr val="B45B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47921" y="3362045"/>
            <a:ext cx="1811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团队介绍</a:t>
            </a:r>
          </a:p>
        </p:txBody>
      </p:sp>
      <p:sp>
        <p:nvSpPr>
          <p:cNvPr id="7" name="矩形 6"/>
          <p:cNvSpPr/>
          <p:nvPr/>
        </p:nvSpPr>
        <p:spPr>
          <a:xfrm>
            <a:off x="2490780" y="3986394"/>
            <a:ext cx="17252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Our Teams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47980"/>
            <a:ext cx="4733290" cy="645160"/>
            <a:chOff x="449" y="408"/>
            <a:chExt cx="7454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3" y="408"/>
              <a:ext cx="645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团队介绍</a:t>
              </a:r>
            </a:p>
          </p:txBody>
        </p:sp>
      </p:grpSp>
      <p:sp>
        <p:nvSpPr>
          <p:cNvPr id="62" name="Shape 4"/>
          <p:cNvSpPr/>
          <p:nvPr/>
        </p:nvSpPr>
        <p:spPr>
          <a:xfrm>
            <a:off x="571500" y="1393031"/>
            <a:ext cx="3429000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63" name="Shape 5"/>
          <p:cNvSpPr/>
          <p:nvPr/>
        </p:nvSpPr>
        <p:spPr>
          <a:xfrm>
            <a:off x="571500" y="1393031"/>
            <a:ext cx="3416312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64" name="Shape 6"/>
          <p:cNvSpPr/>
          <p:nvPr/>
        </p:nvSpPr>
        <p:spPr>
          <a:xfrm>
            <a:off x="571500" y="3786188"/>
            <a:ext cx="3416312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65" name="Shape 7"/>
          <p:cNvSpPr/>
          <p:nvPr/>
        </p:nvSpPr>
        <p:spPr>
          <a:xfrm>
            <a:off x="1803388" y="1678781"/>
            <a:ext cx="952500" cy="95250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8288">
            <a:solidFill>
              <a:srgbClr val="3B82F6"/>
            </a:solidFill>
            <a:prstDash val="dash"/>
          </a:ln>
        </p:spPr>
      </p:sp>
      <p:sp>
        <p:nvSpPr>
          <p:cNvPr id="67" name="Text 9"/>
          <p:cNvSpPr/>
          <p:nvPr/>
        </p:nvSpPr>
        <p:spPr>
          <a:xfrm>
            <a:off x="1814830" y="2833370"/>
            <a:ext cx="952500" cy="2298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张中天</a:t>
            </a:r>
          </a:p>
        </p:txBody>
      </p:sp>
      <p:sp>
        <p:nvSpPr>
          <p:cNvPr id="68" name="Text 10"/>
          <p:cNvSpPr/>
          <p:nvPr/>
        </p:nvSpPr>
        <p:spPr>
          <a:xfrm>
            <a:off x="1542415" y="3253740"/>
            <a:ext cx="1594485" cy="229870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</a:rPr>
              <a:t>绝对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</a:rPr>
              <a:t>之人</a:t>
            </a:r>
          </a:p>
        </p:txBody>
      </p:sp>
      <p:sp>
        <p:nvSpPr>
          <p:cNvPr id="74" name="Shape 15"/>
          <p:cNvSpPr/>
          <p:nvPr/>
        </p:nvSpPr>
        <p:spPr>
          <a:xfrm>
            <a:off x="4368812" y="1393031"/>
            <a:ext cx="3435363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75" name="Shape 16"/>
          <p:cNvSpPr/>
          <p:nvPr/>
        </p:nvSpPr>
        <p:spPr>
          <a:xfrm>
            <a:off x="4375137" y="1393031"/>
            <a:ext cx="3422637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76" name="Shape 17"/>
          <p:cNvSpPr/>
          <p:nvPr/>
        </p:nvSpPr>
        <p:spPr>
          <a:xfrm>
            <a:off x="4375137" y="3786188"/>
            <a:ext cx="3422637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77" name="Shape 18"/>
          <p:cNvSpPr/>
          <p:nvPr/>
        </p:nvSpPr>
        <p:spPr>
          <a:xfrm>
            <a:off x="5610188" y="1678781"/>
            <a:ext cx="952500" cy="952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8288">
            <a:solidFill>
              <a:srgbClr val="10B981"/>
            </a:solidFill>
            <a:prstDash val="dash"/>
          </a:ln>
        </p:spPr>
      </p:sp>
      <p:sp>
        <p:nvSpPr>
          <p:cNvPr id="79" name="Text 20"/>
          <p:cNvSpPr/>
          <p:nvPr/>
        </p:nvSpPr>
        <p:spPr>
          <a:xfrm>
            <a:off x="5790448" y="2809716"/>
            <a:ext cx="6108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+mn-lt"/>
                <a:cs typeface="Inter" pitchFamily="34" charset="-120"/>
              </a:rPr>
              <a:t>舒孺</a:t>
            </a:r>
          </a:p>
        </p:txBody>
      </p:sp>
      <p:sp>
        <p:nvSpPr>
          <p:cNvPr id="80" name="Text 21"/>
          <p:cNvSpPr/>
          <p:nvPr/>
        </p:nvSpPr>
        <p:spPr>
          <a:xfrm>
            <a:off x="4930775" y="3227705"/>
            <a:ext cx="2405380" cy="205105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产品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市场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设计</a:t>
            </a:r>
          </a:p>
        </p:txBody>
      </p:sp>
      <p:sp>
        <p:nvSpPr>
          <p:cNvPr id="85" name="Shape 26"/>
          <p:cNvSpPr/>
          <p:nvPr/>
        </p:nvSpPr>
        <p:spPr>
          <a:xfrm>
            <a:off x="8178775" y="1393031"/>
            <a:ext cx="3441688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27"/>
          <p:cNvSpPr/>
          <p:nvPr/>
        </p:nvSpPr>
        <p:spPr>
          <a:xfrm>
            <a:off x="8191500" y="1393031"/>
            <a:ext cx="3429000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87" name="Shape 28"/>
          <p:cNvSpPr/>
          <p:nvPr/>
        </p:nvSpPr>
        <p:spPr>
          <a:xfrm>
            <a:off x="8191500" y="3786188"/>
            <a:ext cx="3429000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88" name="Shape 29"/>
          <p:cNvSpPr/>
          <p:nvPr/>
        </p:nvSpPr>
        <p:spPr>
          <a:xfrm>
            <a:off x="9429751" y="1678781"/>
            <a:ext cx="952500" cy="95250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8288">
            <a:solidFill>
              <a:srgbClr val="F59E0B"/>
            </a:solidFill>
            <a:prstDash val="dash"/>
          </a:ln>
        </p:spPr>
      </p:sp>
      <p:sp>
        <p:nvSpPr>
          <p:cNvPr id="90" name="Text 31"/>
          <p:cNvSpPr/>
          <p:nvPr/>
        </p:nvSpPr>
        <p:spPr>
          <a:xfrm>
            <a:off x="9470231" y="2833846"/>
            <a:ext cx="91630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郭伟杰</a:t>
            </a:r>
          </a:p>
        </p:txBody>
      </p:sp>
      <p:sp>
        <p:nvSpPr>
          <p:cNvPr id="91" name="Text 32"/>
          <p:cNvSpPr/>
          <p:nvPr/>
        </p:nvSpPr>
        <p:spPr>
          <a:xfrm>
            <a:off x="8854440" y="3228975"/>
            <a:ext cx="2329815" cy="205105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项目规划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开发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4578868" y="4149090"/>
            <a:ext cx="3034030" cy="2136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累计学科竞赛获奖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22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项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国际国家级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15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项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，其中含未来设计师国家级二等奖，米兰设计周国家级三等奖等。天津首场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42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小时黑客松活动（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BOHACK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）空间视觉策划负责人。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849673" y="4147820"/>
            <a:ext cx="25958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组织队友工作</a:t>
            </a:r>
          </a:p>
          <a:p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组织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工作</a:t>
            </a:r>
          </a:p>
          <a:p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组织队友组织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工作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07400" y="4147820"/>
            <a:ext cx="2997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拆需求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排节奏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做开发</a:t>
            </a:r>
          </a:p>
          <a:p>
            <a:pPr algn="just"/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希望每一个好想法，都能被做成看得见、用得上的东西。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42005" y="1978660"/>
            <a:ext cx="613600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THANKS</a:t>
            </a:r>
            <a:endParaRPr kumimoji="0" lang="zh-CN" altLang="en-US" sz="96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25887" y="3848556"/>
            <a:ext cx="7456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面向智能客服的</a:t>
            </a:r>
            <a:r>
              <a:rPr kumimoji="0" lang="en-US" altLang="zh-CN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血糖管理自进化系统</a:t>
            </a:r>
            <a:endParaRPr kumimoji="0" lang="zh-CN" altLang="en-US" sz="600" b="0" i="0" u="none" strike="noStrike" kern="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593FC7-FB17-4940-4183-842A27D63781}"/>
              </a:ext>
            </a:extLst>
          </p:cNvPr>
          <p:cNvSpPr txBox="1"/>
          <p:nvPr/>
        </p:nvSpPr>
        <p:spPr>
          <a:xfrm>
            <a:off x="3437775" y="5088088"/>
            <a:ext cx="544385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团队成员：张中天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舒孺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郭伟杰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113.65,&quot;top&quot;:44.05,&quot;width&quot;:784.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6.4,&quot;left&quot;:20.35,&quot;top&quot;:44.05,&quot;width&quot;:877.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1343</Words>
  <Application>Microsoft Office PowerPoint</Application>
  <PresentationFormat>宽屏</PresentationFormat>
  <Paragraphs>310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.PingFangUITextSC-Regular</vt:lpstr>
      <vt:lpstr>Lato Hairline</vt:lpstr>
      <vt:lpstr>Lato Regular</vt:lpstr>
      <vt:lpstr>var(--ds-font-family-code)</vt:lpstr>
      <vt:lpstr>等线</vt:lpstr>
      <vt:lpstr>等线 Light</vt:lpstr>
      <vt:lpstr>宋体</vt:lpstr>
      <vt:lpstr>微软雅黑</vt:lpstr>
      <vt:lpstr>印品粗朗体</vt:lpstr>
      <vt:lpstr>Arial</vt:lpstr>
      <vt:lpstr>Calibri</vt:lpstr>
      <vt:lpstr>Lato Light</vt:lpstr>
      <vt:lpstr>OCR A Extended</vt:lpstr>
      <vt:lpstr>Roboto Mono</vt:lpstr>
      <vt:lpstr>Wingdings</vt:lpstr>
      <vt:lpstr>Office 主题​​</vt:lpstr>
      <vt:lpstr>第一PPT，www.1ppt.com</vt:lpstr>
      <vt:lpstr>1_第一PPT，www.1ppt.com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孺 舒</cp:lastModifiedBy>
  <cp:revision>28</cp:revision>
  <dcterms:created xsi:type="dcterms:W3CDTF">2026-03-26T17:32:00Z</dcterms:created>
  <dcterms:modified xsi:type="dcterms:W3CDTF">2026-03-27T03:29:54Z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3BFD99CB6F3346BF81A967D40C663A18_13</vt:lpwstr>
  </property>
  <property fmtid="{D5CDD505-2E9C-101B-9397-08002B2CF9AE}" pid="3" name="KSOProductBuildVer">
    <vt:lpwstr>2052-12.1.0.24657</vt:lpwstr>
  </property>
</Properties>
</file>