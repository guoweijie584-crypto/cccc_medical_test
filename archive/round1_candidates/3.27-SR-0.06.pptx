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6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09" r:id="rId3"/>
    <p:sldMasterId id="2147483719" r:id="rId4"/>
  </p:sldMasterIdLst>
  <p:notesMasterIdLst>
    <p:notesMasterId r:id="rId20"/>
  </p:notesMasterIdLst>
  <p:sldIdLst>
    <p:sldId id="1686" r:id="rId5"/>
    <p:sldId id="260" r:id="rId6"/>
    <p:sldId id="304" r:id="rId7"/>
    <p:sldId id="291" r:id="rId8"/>
    <p:sldId id="1560" r:id="rId9"/>
    <p:sldId id="1697" r:id="rId10"/>
    <p:sldId id="1696" r:id="rId11"/>
    <p:sldId id="1695" r:id="rId12"/>
    <p:sldId id="303" r:id="rId13"/>
    <p:sldId id="323" r:id="rId14"/>
    <p:sldId id="1699" r:id="rId15"/>
    <p:sldId id="1225" r:id="rId16"/>
    <p:sldId id="1694" r:id="rId17"/>
    <p:sldId id="305" r:id="rId18"/>
    <p:sldId id="30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89AD"/>
    <a:srgbClr val="82528C"/>
    <a:srgbClr val="238A87"/>
    <a:srgbClr val="ED7EA3"/>
    <a:srgbClr val="AFABAB"/>
    <a:srgbClr val="020226"/>
    <a:srgbClr val="FF8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760" autoAdjust="0"/>
  </p:normalViewPr>
  <p:slideViewPr>
    <p:cSldViewPr snapToGrid="0">
      <p:cViewPr>
        <p:scale>
          <a:sx n="65" d="100"/>
          <a:sy n="65" d="100"/>
        </p:scale>
        <p:origin x="557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57757-769C-4720-8CE4-AED602158A8E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24C45-0456-460D-AB25-35EB8E70D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25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99F32-8F5D-3E63-00EB-8C18870E8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C59ABD-2D08-DFBE-3B94-6F8B7ECFF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521729-6961-1A82-6371-957E6065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7812D7-5880-AACF-921F-010C6B529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D84B9B-1CC8-3BEF-F128-4A882749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36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66BCA-B717-7976-21B2-DC149EA03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C410E9-325C-A389-5C68-A6E6BAF5F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C0D575-E221-A978-5827-91B75F3A5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B6193A-3CB9-C220-595F-28849D95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191A56-E3C6-B4A3-6679-AE9B4B4B7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03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9B499-C819-E2DB-21E6-2CB301FF3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914858-F4FA-6750-5296-F46F0836B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1DE8DB-F8E6-E28C-5E22-808D5D8DF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E8132E-1B7B-DF97-2EC2-E3B79C14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357500-7D87-D7CA-8E0E-AD2F4AB0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06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24412-EBE8-A056-EF31-AD9F1906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07F93B-3335-0253-E907-F67AE15BD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C8EEB5-A9A3-6743-8F5D-5D3111692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2A7C26-8421-9585-4CAE-E88FE7EC0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1A099B-DC8C-7E24-F265-B9EAEF261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13B923-3C64-4CFA-112B-FA2A4146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50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CD847-150A-38F0-0A84-B416BEC6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45EB78-3BC6-B7C8-F354-C025C233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161156-AFFC-28C1-B3B2-EA69E32E8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4C6A1B-8576-4DFF-7BCB-D5539E79D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31BF55-3492-8B9E-449F-DC9100DA1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0E285B-5451-ED05-E10F-103ACF4A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EA6996-E968-24A5-775D-E67C8085A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A9DFEE-942C-1269-25C6-B66FB67B7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13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8C70E-053F-8056-C5FD-681F03E5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9CD364-6A34-197B-B364-79E114C3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7CD373-27AC-5927-B78C-094F6455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84732B-5DC2-3763-675B-79511FA0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61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8B3C32-BF10-5F22-29D2-60697776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4EEDE0-1E58-6F8E-126A-4DFA84AF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5F238B-CBB6-7A2A-1D67-0FA9A160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97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5DF7F-3923-A976-C687-E817EBFB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05838-79B1-DA7F-B36B-8DA8E0B1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16134E-66FB-9351-BC86-676D7C495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589509-5EF7-2320-E96D-6165403C9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725068-94D6-DE8B-4C2B-B55BAA3C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ADD085-CDB4-4433-8EBE-7AC8DD5E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98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46330-8C2A-081D-EA4D-447D7F17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DCC8D2-7F38-0964-AF62-FDDB6F8E6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AF7B2F-D2C9-DABB-7324-94A66648E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3DA4F5-355A-7C72-23C8-CE3C15148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E95310-4A88-7F87-906A-6996E49D3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0BE1DE-9A22-4EDB-48EA-B4B265B02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4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7D21CD-0EB8-F4F2-D3E8-0F3DE0CE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3A627D-8F99-1E6C-D7B6-860AA7703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86A98B-47C7-93C0-8630-6047227AF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E85516-A65B-272E-F0D1-CC9DE7D3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107A50-1D5F-5A60-E90E-4BF574F5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81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ACDE4C-47A4-A598-D65D-325DD67385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2A6CE2-E226-135C-0FC5-E37121FA5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4386BC-8335-2473-9BD1-0F547968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5C944-E632-15A6-1B44-049698DA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88F22F-F3F3-E8C2-06EA-6DDC3F76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9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13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49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835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89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80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7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7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83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40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51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40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89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63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967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637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92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24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83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5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2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23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20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54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49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5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865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966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66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46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82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30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42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45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2437102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72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31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63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8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62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476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57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omotion Imag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716928" y="6333092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Shape 25"/>
          <p:cNvSpPr>
            <a:spLocks noGrp="1"/>
          </p:cNvSpPr>
          <p:nvPr>
            <p:ph type="pic" idx="2"/>
          </p:nvPr>
        </p:nvSpPr>
        <p:spPr>
          <a:xfrm>
            <a:off x="838200" y="1828800"/>
            <a:ext cx="10515599" cy="2009774"/>
          </a:xfrm>
          <a:prstGeom prst="rect">
            <a:avLst/>
          </a:prstGeom>
          <a:solidFill>
            <a:srgbClr val="5F6977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554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 Work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pic" idx="2"/>
          </p:nvPr>
        </p:nvSpPr>
        <p:spPr>
          <a:xfrm>
            <a:off x="990600" y="1896791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6" name="Shape 56"/>
          <p:cNvSpPr>
            <a:spLocks noGrp="1"/>
          </p:cNvSpPr>
          <p:nvPr>
            <p:ph type="pic" idx="3"/>
          </p:nvPr>
        </p:nvSpPr>
        <p:spPr>
          <a:xfrm>
            <a:off x="6182544" y="1896791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7" name="Shape 57"/>
          <p:cNvSpPr>
            <a:spLocks noGrp="1"/>
          </p:cNvSpPr>
          <p:nvPr>
            <p:ph type="pic" idx="4"/>
          </p:nvPr>
        </p:nvSpPr>
        <p:spPr>
          <a:xfrm>
            <a:off x="990600" y="4143344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8" name="Shape 58"/>
          <p:cNvSpPr>
            <a:spLocks noGrp="1"/>
          </p:cNvSpPr>
          <p:nvPr>
            <p:ph type="pic" idx="5"/>
          </p:nvPr>
        </p:nvSpPr>
        <p:spPr>
          <a:xfrm>
            <a:off x="6182544" y="4150892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658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#4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/>
          </p:cNvSpPr>
          <p:nvPr>
            <p:ph type="pic" idx="2"/>
          </p:nvPr>
        </p:nvSpPr>
        <p:spPr>
          <a:xfrm>
            <a:off x="717550" y="2155825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pic" idx="3"/>
          </p:nvPr>
        </p:nvSpPr>
        <p:spPr>
          <a:xfrm>
            <a:off x="3435350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2" name="Shape 182"/>
          <p:cNvSpPr>
            <a:spLocks noGrp="1"/>
          </p:cNvSpPr>
          <p:nvPr>
            <p:ph type="pic" idx="4"/>
          </p:nvPr>
        </p:nvSpPr>
        <p:spPr>
          <a:xfrm>
            <a:off x="6138548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3" name="Shape 183"/>
          <p:cNvSpPr>
            <a:spLocks noGrp="1"/>
          </p:cNvSpPr>
          <p:nvPr>
            <p:ph type="pic" idx="5"/>
          </p:nvPr>
        </p:nvSpPr>
        <p:spPr>
          <a:xfrm>
            <a:off x="8840788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738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748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3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07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108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  <a:latin typeface="Lato Hairline" panose="020F0502020204030203"/>
                <a:cs typeface="Lato Hairline" panose="020F0502020204030203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3"/>
                </a:solidFill>
                <a:latin typeface="Lato Light" panose="020F0502020204030203"/>
                <a:cs typeface="Lato Light" panose="020F05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44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837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634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solidFill>
          <a:srgbClr val="0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27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8638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6355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5844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2702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8134110" y="6545425"/>
            <a:ext cx="96625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www.1ppt.com/hangye/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www.1ppt.com/sucai/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www.1ppt.com/tubiao/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www.1ppt.com/powerpoint/  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www.1ppt.com/ziti/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www.1ppt.com/xiazai/jihua/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www.1ppt.com/xiazai/jianli/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www.1ppt.com/xiazai/huibao/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57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3609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0049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00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64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56CDAE-75C9-EDE0-022E-209DB42A8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1EAFC5-3CD8-2B57-DC6A-14FA43D22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CFF6D3-C526-57E3-D673-EC934A1471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249BE4-EBAA-46D2-DCE9-35105C831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0BB515-8CF3-3277-DC43-46D6F8BBE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74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31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87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943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notesSlide" Target="../notesSlides/notesSlide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microsoft.com/office/2007/relationships/hdphoto" Target="../media/hdphoto1.wdp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slideLayout" Target="../slideLayouts/slideLayout70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1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tags" Target="../tags/tag45.xml"/><Relationship Id="rId26" Type="http://schemas.microsoft.com/office/2007/relationships/hdphoto" Target="../media/hdphoto1.wdp"/><Relationship Id="rId3" Type="http://schemas.openxmlformats.org/officeDocument/2006/relationships/tags" Target="../tags/tag30.xml"/><Relationship Id="rId21" Type="http://schemas.openxmlformats.org/officeDocument/2006/relationships/notesSlide" Target="../notesSlides/notesSlide7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tags" Target="../tags/tag44.xml"/><Relationship Id="rId25" Type="http://schemas.openxmlformats.org/officeDocument/2006/relationships/image" Target="../media/image12.png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20" Type="http://schemas.openxmlformats.org/officeDocument/2006/relationships/slideLayout" Target="../slideLayouts/slideLayout70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24" Type="http://schemas.openxmlformats.org/officeDocument/2006/relationships/image" Target="../media/image15.png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23" Type="http://schemas.openxmlformats.org/officeDocument/2006/relationships/image" Target="../media/image14.png"/><Relationship Id="rId10" Type="http://schemas.openxmlformats.org/officeDocument/2006/relationships/tags" Target="../tags/tag37.xml"/><Relationship Id="rId19" Type="http://schemas.openxmlformats.org/officeDocument/2006/relationships/tags" Target="../tags/tag46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0.xml"/><Relationship Id="rId6" Type="http://schemas.microsoft.com/office/2007/relationships/hdphoto" Target="../media/hdphoto2.wdp"/><Relationship Id="rId5" Type="http://schemas.openxmlformats.org/officeDocument/2006/relationships/image" Target="../media/image16.png"/><Relationship Id="rId4" Type="http://schemas.microsoft.com/office/2007/relationships/hdphoto" Target="../media/hdphoto1.wdp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59.xml"/><Relationship Id="rId18" Type="http://schemas.openxmlformats.org/officeDocument/2006/relationships/tags" Target="../tags/tag64.xml"/><Relationship Id="rId26" Type="http://schemas.openxmlformats.org/officeDocument/2006/relationships/tags" Target="../tags/tag72.xml"/><Relationship Id="rId39" Type="http://schemas.openxmlformats.org/officeDocument/2006/relationships/image" Target="../media/image11.png"/><Relationship Id="rId21" Type="http://schemas.openxmlformats.org/officeDocument/2006/relationships/tags" Target="../tags/tag67.xml"/><Relationship Id="rId34" Type="http://schemas.openxmlformats.org/officeDocument/2006/relationships/tags" Target="../tags/tag80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5" Type="http://schemas.openxmlformats.org/officeDocument/2006/relationships/tags" Target="../tags/tag71.xml"/><Relationship Id="rId33" Type="http://schemas.openxmlformats.org/officeDocument/2006/relationships/tags" Target="../tags/tag79.xml"/><Relationship Id="rId38" Type="http://schemas.openxmlformats.org/officeDocument/2006/relationships/notesSlide" Target="../notesSlides/notesSlide10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20" Type="http://schemas.openxmlformats.org/officeDocument/2006/relationships/tags" Target="../tags/tag66.xml"/><Relationship Id="rId29" Type="http://schemas.openxmlformats.org/officeDocument/2006/relationships/tags" Target="../tags/tag75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24" Type="http://schemas.openxmlformats.org/officeDocument/2006/relationships/tags" Target="../tags/tag70.xml"/><Relationship Id="rId32" Type="http://schemas.openxmlformats.org/officeDocument/2006/relationships/tags" Target="../tags/tag78.xml"/><Relationship Id="rId37" Type="http://schemas.openxmlformats.org/officeDocument/2006/relationships/slideLayout" Target="../slideLayouts/slideLayout70.xml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23" Type="http://schemas.openxmlformats.org/officeDocument/2006/relationships/tags" Target="../tags/tag69.xml"/><Relationship Id="rId28" Type="http://schemas.openxmlformats.org/officeDocument/2006/relationships/tags" Target="../tags/tag74.xml"/><Relationship Id="rId36" Type="http://schemas.openxmlformats.org/officeDocument/2006/relationships/tags" Target="../tags/tag82.xml"/><Relationship Id="rId10" Type="http://schemas.openxmlformats.org/officeDocument/2006/relationships/tags" Target="../tags/tag56.xml"/><Relationship Id="rId19" Type="http://schemas.openxmlformats.org/officeDocument/2006/relationships/tags" Target="../tags/tag65.xml"/><Relationship Id="rId31" Type="http://schemas.openxmlformats.org/officeDocument/2006/relationships/tags" Target="../tags/tag77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Relationship Id="rId22" Type="http://schemas.openxmlformats.org/officeDocument/2006/relationships/tags" Target="../tags/tag68.xml"/><Relationship Id="rId27" Type="http://schemas.openxmlformats.org/officeDocument/2006/relationships/tags" Target="../tags/tag73.xml"/><Relationship Id="rId30" Type="http://schemas.openxmlformats.org/officeDocument/2006/relationships/tags" Target="../tags/tag76.xml"/><Relationship Id="rId35" Type="http://schemas.openxmlformats.org/officeDocument/2006/relationships/tags" Target="../tags/tag81.xml"/><Relationship Id="rId8" Type="http://schemas.openxmlformats.org/officeDocument/2006/relationships/tags" Target="../tags/tag54.xml"/><Relationship Id="rId3" Type="http://schemas.openxmlformats.org/officeDocument/2006/relationships/tags" Target="../tags/tag4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摄图网_400789432"/>
          <p:cNvPicPr>
            <a:picLocks noChangeAspect="1"/>
          </p:cNvPicPr>
          <p:nvPr/>
        </p:nvPicPr>
        <p:blipFill>
          <a:blip r:embed="rId3" cstate="email">
            <a:lum bright="-6000"/>
          </a:blip>
          <a:srcRect/>
          <a:stretch>
            <a:fillRect/>
          </a:stretch>
        </p:blipFill>
        <p:spPr>
          <a:xfrm>
            <a:off x="10191115" y="-1214755"/>
            <a:ext cx="3005455" cy="2978150"/>
          </a:xfrm>
          <a:prstGeom prst="ellipse">
            <a:avLst/>
          </a:prstGeom>
        </p:spPr>
      </p:pic>
      <p:pic>
        <p:nvPicPr>
          <p:cNvPr id="3" name="图片 2" descr="摄图网_400789432"/>
          <p:cNvPicPr>
            <a:picLocks noChangeAspect="1"/>
          </p:cNvPicPr>
          <p:nvPr/>
        </p:nvPicPr>
        <p:blipFill>
          <a:blip r:embed="rId4" cstate="email">
            <a:lum bright="-6000"/>
          </a:blip>
          <a:srcRect/>
          <a:stretch>
            <a:fillRect/>
          </a:stretch>
        </p:blipFill>
        <p:spPr>
          <a:xfrm>
            <a:off x="749935" y="4787900"/>
            <a:ext cx="1100455" cy="1106170"/>
          </a:xfrm>
          <a:prstGeom prst="ellipse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9406863" y="5173238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435668" y="883416"/>
            <a:ext cx="119509" cy="11950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478936" y="5249438"/>
            <a:ext cx="170330" cy="170330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1511394" y="5173238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511394" y="5533693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511394" y="5898687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684569" y="940850"/>
            <a:ext cx="4822861" cy="4822861"/>
          </a:xfrm>
          <a:prstGeom prst="ellipse">
            <a:avLst/>
          </a:prstGeom>
          <a:solidFill>
            <a:srgbClr val="0E4B7A">
              <a:alpha val="40000"/>
            </a:srgb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327844" y="556455"/>
            <a:ext cx="5536310" cy="5536310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358878" y="4192050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430951" y="4268250"/>
            <a:ext cx="170330" cy="170330"/>
          </a:xfrm>
          <a:prstGeom prst="ellipse">
            <a:avLst/>
          </a:prstGeom>
          <a:solidFill>
            <a:srgbClr val="0E4B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133909" y="691184"/>
            <a:ext cx="217150" cy="21715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94145" y="746046"/>
            <a:ext cx="114607" cy="114607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644229" y="832648"/>
            <a:ext cx="80680" cy="8068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9624692" y="1843779"/>
            <a:ext cx="104181" cy="104181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9174285" y="5109010"/>
            <a:ext cx="140428" cy="140428"/>
            <a:chOff x="9572355" y="5049973"/>
            <a:chExt cx="322730" cy="322730"/>
          </a:xfrm>
        </p:grpSpPr>
        <p:sp>
          <p:nvSpPr>
            <p:cNvPr id="37" name="椭圆 36"/>
            <p:cNvSpPr/>
            <p:nvPr/>
          </p:nvSpPr>
          <p:spPr>
            <a:xfrm>
              <a:off x="9572355" y="5049973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9644428" y="5126173"/>
              <a:ext cx="170330" cy="170330"/>
            </a:xfrm>
            <a:prstGeom prst="ellipse">
              <a:avLst/>
            </a:prstGeom>
            <a:solidFill>
              <a:srgbClr val="48C5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945731" y="5276642"/>
            <a:ext cx="157238" cy="157238"/>
            <a:chOff x="2579606" y="4476642"/>
            <a:chExt cx="322730" cy="322730"/>
          </a:xfrm>
        </p:grpSpPr>
        <p:sp>
          <p:nvSpPr>
            <p:cNvPr id="40" name="椭圆 39"/>
            <p:cNvSpPr/>
            <p:nvPr/>
          </p:nvSpPr>
          <p:spPr>
            <a:xfrm>
              <a:off x="2579606" y="4476642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651679" y="4552842"/>
              <a:ext cx="170330" cy="170330"/>
            </a:xfrm>
            <a:prstGeom prst="ellipse">
              <a:avLst/>
            </a:prstGeom>
            <a:solidFill>
              <a:srgbClr val="0E4B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46" name="椭圆 45"/>
          <p:cNvSpPr/>
          <p:nvPr/>
        </p:nvSpPr>
        <p:spPr>
          <a:xfrm>
            <a:off x="2146231" y="-561629"/>
            <a:ext cx="7827818" cy="7827818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pic>
        <p:nvPicPr>
          <p:cNvPr id="48" name="图片 47" descr="图片包含 就坐&#10;&#10;描述已自动生成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3570247" y="730353"/>
            <a:ext cx="5010676" cy="501067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520255" y="2524133"/>
            <a:ext cx="9610139" cy="119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AI Agent </a:t>
            </a:r>
            <a:r>
              <a:rPr kumimoji="0" lang="zh-CN" altLang="en-US" sz="54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血糖管理自进化系统</a:t>
            </a:r>
            <a:endParaRPr kumimoji="0" lang="zh-CN" altLang="en-US" sz="6000" b="1" i="0" u="none" strike="noStrike" kern="1200" cap="none" spc="-130" normalizeH="0" baseline="0" noProof="0" dirty="0">
              <a:ln>
                <a:noFill/>
              </a:ln>
              <a:gradFill>
                <a:gsLst>
                  <a:gs pos="20000">
                    <a:srgbClr val="FE93AA"/>
                  </a:gs>
                  <a:gs pos="69000">
                    <a:srgbClr val="4472C4">
                      <a:lumMod val="45000"/>
                      <a:lumOff val="55000"/>
                    </a:srgbClr>
                  </a:gs>
                  <a:gs pos="43000">
                    <a:srgbClr val="DCA5C2"/>
                  </a:gs>
                  <a:gs pos="90000">
                    <a:srgbClr val="4472C4">
                      <a:lumMod val="45000"/>
                      <a:lumOff val="55000"/>
                    </a:srgbClr>
                  </a:gs>
                  <a:gs pos="100000">
                    <a:srgbClr val="4472C4">
                      <a:lumMod val="30000"/>
                      <a:lumOff val="70000"/>
                    </a:srgb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7F46D7-AD91-AACA-E1E2-A58FEB494C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086589" y="1072321"/>
            <a:ext cx="7376799" cy="456477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693A253-3BA8-54F3-FC49-F850A3430E39}"/>
              </a:ext>
            </a:extLst>
          </p:cNvPr>
          <p:cNvSpPr txBox="1"/>
          <p:nvPr/>
        </p:nvSpPr>
        <p:spPr>
          <a:xfrm>
            <a:off x="1133326" y="1649591"/>
            <a:ext cx="9997068" cy="988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面向智能客服的</a:t>
            </a:r>
            <a:endParaRPr kumimoji="0" lang="en-US" altLang="zh-CN" sz="4400" b="1" i="0" u="none" strike="noStrike" kern="1200" cap="none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71723" y="5249438"/>
            <a:ext cx="4707780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团队成员：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 B C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日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87257" y="740228"/>
            <a:ext cx="2017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29829" y="2192439"/>
            <a:ext cx="2462404" cy="3352278"/>
            <a:chOff x="854293" y="2207188"/>
            <a:chExt cx="2462404" cy="3352278"/>
          </a:xfrm>
        </p:grpSpPr>
        <p:sp>
          <p:nvSpPr>
            <p:cNvPr id="26" name="矩形 25"/>
            <p:cNvSpPr/>
            <p:nvPr/>
          </p:nvSpPr>
          <p:spPr>
            <a:xfrm>
              <a:off x="1111517" y="4565785"/>
              <a:ext cx="194796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项目介绍</a:t>
              </a:r>
            </a:p>
          </p:txBody>
        </p:sp>
        <p:sp>
          <p:nvSpPr>
            <p:cNvPr id="34" name="等腰三角形 33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854293" y="5190134"/>
              <a:ext cx="24624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Project Introduction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556966" y="2192439"/>
            <a:ext cx="2160000" cy="3352278"/>
            <a:chOff x="1005495" y="2207188"/>
            <a:chExt cx="2160000" cy="3352278"/>
          </a:xfrm>
        </p:grpSpPr>
        <p:sp>
          <p:nvSpPr>
            <p:cNvPr id="39" name="矩形 38"/>
            <p:cNvSpPr/>
            <p:nvPr/>
          </p:nvSpPr>
          <p:spPr>
            <a:xfrm>
              <a:off x="1172426" y="4565785"/>
              <a:ext cx="182614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项目进展</a:t>
              </a:r>
            </a:p>
          </p:txBody>
        </p:sp>
        <p:sp>
          <p:nvSpPr>
            <p:cNvPr id="40" name="等腰三角形 39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095576" y="5190134"/>
              <a:ext cx="19798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Project progress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231941" y="2192439"/>
            <a:ext cx="2561920" cy="3352278"/>
            <a:chOff x="804535" y="2207188"/>
            <a:chExt cx="2561920" cy="3352278"/>
          </a:xfrm>
        </p:grpSpPr>
        <p:sp>
          <p:nvSpPr>
            <p:cNvPr id="44" name="矩形 43"/>
            <p:cNvSpPr/>
            <p:nvPr/>
          </p:nvSpPr>
          <p:spPr>
            <a:xfrm>
              <a:off x="1172426" y="4565785"/>
              <a:ext cx="182614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项目介绍</a:t>
              </a:r>
            </a:p>
          </p:txBody>
        </p:sp>
        <p:sp>
          <p:nvSpPr>
            <p:cNvPr id="45" name="等腰三角形 44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3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804535" y="5190134"/>
              <a:ext cx="25619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点击添加具体文案内容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107875" y="2192439"/>
            <a:ext cx="2561920" cy="3352278"/>
            <a:chOff x="804535" y="2207188"/>
            <a:chExt cx="2561920" cy="3352278"/>
          </a:xfrm>
        </p:grpSpPr>
        <p:sp>
          <p:nvSpPr>
            <p:cNvPr id="49" name="矩形 48"/>
            <p:cNvSpPr/>
            <p:nvPr/>
          </p:nvSpPr>
          <p:spPr>
            <a:xfrm>
              <a:off x="1172424" y="4565785"/>
              <a:ext cx="182614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项目介绍</a:t>
              </a:r>
            </a:p>
          </p:txBody>
        </p:sp>
        <p:sp>
          <p:nvSpPr>
            <p:cNvPr id="50" name="等腰三角形 49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4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804535" y="5190134"/>
              <a:ext cx="25619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点击添加具体文案内容</a:t>
              </a:r>
            </a:p>
          </p:txBody>
        </p:sp>
      </p:grpSp>
      <p:sp>
        <p:nvSpPr>
          <p:cNvPr id="53" name="等腰三角形 52"/>
          <p:cNvSpPr/>
          <p:nvPr/>
        </p:nvSpPr>
        <p:spPr>
          <a:xfrm>
            <a:off x="2888584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等腰三角形 53"/>
          <p:cNvSpPr/>
          <p:nvPr/>
        </p:nvSpPr>
        <p:spPr>
          <a:xfrm>
            <a:off x="0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等腰三角形 54"/>
          <p:cNvSpPr/>
          <p:nvPr/>
        </p:nvSpPr>
        <p:spPr>
          <a:xfrm>
            <a:off x="5850193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847230" y="560439"/>
            <a:ext cx="4424516" cy="1435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 录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530946" y="-846548"/>
            <a:ext cx="15313748" cy="7725192"/>
            <a:chOff x="-471952" y="-433596"/>
            <a:chExt cx="15313748" cy="7725192"/>
          </a:xfrm>
        </p:grpSpPr>
        <p:sp>
          <p:nvSpPr>
            <p:cNvPr id="5" name="矩形 4"/>
            <p:cNvSpPr/>
            <p:nvPr/>
          </p:nvSpPr>
          <p:spPr>
            <a:xfrm>
              <a:off x="-471952" y="5196348"/>
              <a:ext cx="12960000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-324466" y="1710813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09309" y="-433596"/>
              <a:ext cx="4500357" cy="772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9600" b="1" i="0" u="none" strike="noStrike" kern="1200" cap="none" spc="0" normalizeH="0" baseline="0" noProof="0" dirty="0">
                  <a:ln>
                    <a:solidFill>
                      <a:srgbClr val="44C9F5"/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6" name="饼形 5"/>
            <p:cNvSpPr/>
            <p:nvPr/>
          </p:nvSpPr>
          <p:spPr>
            <a:xfrm>
              <a:off x="4660490" y="1739613"/>
              <a:ext cx="630000" cy="630000"/>
            </a:xfrm>
            <a:prstGeom prst="pie">
              <a:avLst>
                <a:gd name="adj1" fmla="val 5351128"/>
                <a:gd name="adj2" fmla="val 16200000"/>
              </a:avLst>
            </a:prstGeom>
            <a:gradFill>
              <a:gsLst>
                <a:gs pos="0">
                  <a:srgbClr val="F682B0"/>
                </a:gs>
                <a:gs pos="33000">
                  <a:srgbClr val="FE93AA"/>
                </a:gs>
                <a:gs pos="77000">
                  <a:srgbClr val="F8BCCC"/>
                </a:gs>
                <a:gs pos="53000">
                  <a:srgbClr val="FD8EAC"/>
                </a:gs>
                <a:gs pos="97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591370" y="1745226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6754762" y="1740310"/>
              <a:ext cx="3362632" cy="2354672"/>
            </a:xfrm>
            <a:prstGeom prst="parallelogram">
              <a:avLst>
                <a:gd name="adj" fmla="val 109952"/>
              </a:avLst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9207908" y="1568245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 rot="19068212">
              <a:off x="7167714" y="3321310"/>
              <a:ext cx="1440000" cy="265471"/>
            </a:xfrm>
            <a:prstGeom prst="rect">
              <a:avLst/>
            </a:prstGeom>
            <a:gradFill>
              <a:gsLst>
                <a:gs pos="74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38CEE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813754" y="3734982"/>
              <a:ext cx="720000" cy="72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2598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538624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61577" y="5181599"/>
              <a:ext cx="442451" cy="630000"/>
              <a:chOff x="7593320" y="7069392"/>
              <a:chExt cx="442451" cy="6300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2554287" y="5186515"/>
              <a:ext cx="442451" cy="630000"/>
              <a:chOff x="7593320" y="7069392"/>
              <a:chExt cx="442451" cy="630000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0729810" y="5220928"/>
              <a:ext cx="442451" cy="630000"/>
              <a:chOff x="7593320" y="7069392"/>
              <a:chExt cx="442451" cy="6300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 flipH="1" flipV="1">
              <a:off x="5145088" y="2035277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6118482" y="2487330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6118482" y="4094982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454804" y="5550309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AA4D8CD4-BCEC-095C-A838-E920219D91D9}"/>
              </a:ext>
            </a:extLst>
          </p:cNvPr>
          <p:cNvSpPr/>
          <p:nvPr/>
        </p:nvSpPr>
        <p:spPr>
          <a:xfrm>
            <a:off x="3505552" y="3670766"/>
            <a:ext cx="18261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项目介绍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EDB5B2-A72B-13F3-39DF-A65638B57A60}"/>
              </a:ext>
            </a:extLst>
          </p:cNvPr>
          <p:cNvSpPr/>
          <p:nvPr/>
        </p:nvSpPr>
        <p:spPr>
          <a:xfrm>
            <a:off x="3187417" y="4295115"/>
            <a:ext cx="2462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Project Introduction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图片 73" descr="摄图网_400789432"/>
          <p:cNvPicPr>
            <a:picLocks noChangeAspect="1"/>
          </p:cNvPicPr>
          <p:nvPr/>
        </p:nvPicPr>
        <p:blipFill>
          <a:blip r:embed="rId3" cstate="email">
            <a:lum bright="-6000"/>
          </a:blip>
          <a:srcRect/>
          <a:stretch>
            <a:fillRect/>
          </a:stretch>
        </p:blipFill>
        <p:spPr>
          <a:xfrm>
            <a:off x="5007275" y="1950448"/>
            <a:ext cx="2457450" cy="2473325"/>
          </a:xfrm>
          <a:prstGeom prst="ellipse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800600"/>
            <a:ext cx="12191999" cy="2057400"/>
          </a:xfrm>
          <a:prstGeom prst="rect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0" name="Freeform 15"/>
          <p:cNvSpPr/>
          <p:nvPr/>
        </p:nvSpPr>
        <p:spPr bwMode="auto">
          <a:xfrm rot="5400000">
            <a:off x="11658276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Freeform 15"/>
          <p:cNvSpPr/>
          <p:nvPr/>
        </p:nvSpPr>
        <p:spPr bwMode="auto">
          <a:xfrm rot="16200000">
            <a:off x="183412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3911211" y="5519172"/>
            <a:ext cx="0" cy="71720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485775" y="374650"/>
            <a:ext cx="2885440" cy="551180"/>
            <a:chOff x="449" y="450"/>
            <a:chExt cx="4544" cy="868"/>
          </a:xfrm>
        </p:grpSpPr>
        <p:grpSp>
          <p:nvGrpSpPr>
            <p:cNvPr id="4" name="组合 3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sym typeface="+mn-lt"/>
                </a:rPr>
                <a:t>项目简介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EF9C89-A627-C3AD-D3D6-4AFF0CF47346}"/>
              </a:ext>
            </a:extLst>
          </p:cNvPr>
          <p:cNvSpPr txBox="1"/>
          <p:nvPr/>
        </p:nvSpPr>
        <p:spPr>
          <a:xfrm>
            <a:off x="4145671" y="5642613"/>
            <a:ext cx="8962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面向智能客服的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 Agent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血糖管理自进化系统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576D38-3716-A6DD-57A8-B569753B2543}"/>
              </a:ext>
            </a:extLst>
          </p:cNvPr>
          <p:cNvSpPr txBox="1"/>
          <p:nvPr/>
        </p:nvSpPr>
        <p:spPr>
          <a:xfrm>
            <a:off x="1946031" y="5642613"/>
            <a:ext cx="16718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项目名称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DB9BB18-0AE4-EEC5-590E-DE66366FC841}"/>
              </a:ext>
            </a:extLst>
          </p:cNvPr>
          <p:cNvGrpSpPr/>
          <p:nvPr/>
        </p:nvGrpSpPr>
        <p:grpSpPr>
          <a:xfrm>
            <a:off x="1621137" y="2378198"/>
            <a:ext cx="4579144" cy="1048345"/>
            <a:chOff x="1621639" y="2495841"/>
            <a:chExt cx="4579144" cy="1048345"/>
          </a:xfrm>
        </p:grpSpPr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DCB3D5BA-448B-29B3-48DC-9EFCAACF16DB}"/>
                </a:ext>
              </a:extLst>
            </p:cNvPr>
            <p:cNvSpPr/>
            <p:nvPr/>
          </p:nvSpPr>
          <p:spPr>
            <a:xfrm>
              <a:off x="1621639" y="2495841"/>
              <a:ext cx="285750" cy="285750"/>
            </a:xfrm>
            <a:prstGeom prst="rect">
              <a:avLst/>
            </a:prstGeom>
            <a:solidFill>
              <a:srgbClr val="FFC700">
                <a:alpha val="15000"/>
              </a:srgbClr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pic>
          <p:nvPicPr>
            <p:cNvPr id="12" name="Image 2" descr="preencoded.png">
              <a:extLst>
                <a:ext uri="{FF2B5EF4-FFF2-40B4-BE49-F238E27FC236}">
                  <a16:creationId xmlns:a16="http://schemas.microsoft.com/office/drawing/2014/main" id="{84BB660E-1B62-5A6A-710D-8D2B0E76C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</a:blip>
            <a:stretch>
              <a:fillRect/>
            </a:stretch>
          </p:blipFill>
          <p:spPr>
            <a:xfrm>
              <a:off x="1693077" y="2567278"/>
              <a:ext cx="142875" cy="142875"/>
            </a:xfrm>
            <a:prstGeom prst="rect">
              <a:avLst/>
            </a:prstGeom>
          </p:spPr>
        </p:pic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DB3E85CE-E81A-AFED-256A-57BA9698A061}"/>
                </a:ext>
              </a:extLst>
            </p:cNvPr>
            <p:cNvSpPr/>
            <p:nvPr/>
          </p:nvSpPr>
          <p:spPr>
            <a:xfrm>
              <a:off x="2007402" y="2538703"/>
              <a:ext cx="1087282" cy="2428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糖尿病现状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endParaRPr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13954F34-D7D8-FBE8-2160-BCEB32343965}"/>
                </a:ext>
              </a:extLst>
            </p:cNvPr>
            <p:cNvSpPr/>
            <p:nvPr/>
          </p:nvSpPr>
          <p:spPr>
            <a:xfrm>
              <a:off x="1621639" y="2867316"/>
              <a:ext cx="4579144" cy="457200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E93AA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1.4亿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0E0E0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患者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endParaRPr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00EEB8E1-C0F0-2ABD-02AD-2BA59E9D158B}"/>
                </a:ext>
              </a:extLst>
            </p:cNvPr>
            <p:cNvSpPr/>
            <p:nvPr/>
          </p:nvSpPr>
          <p:spPr>
            <a:xfrm>
              <a:off x="1621639" y="3379880"/>
              <a:ext cx="4579144" cy="1643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26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我国糖尿病患者数量庞大，血糖管理需求巨大且迫切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2018E2D-BF7F-AA80-AC12-DA6AF53C51AC}"/>
              </a:ext>
            </a:extLst>
          </p:cNvPr>
          <p:cNvGrpSpPr/>
          <p:nvPr/>
        </p:nvGrpSpPr>
        <p:grpSpPr>
          <a:xfrm>
            <a:off x="8627055" y="2378198"/>
            <a:ext cx="3337463" cy="1038010"/>
            <a:chOff x="8235996" y="2026556"/>
            <a:chExt cx="3337463" cy="1038010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426A2DEE-4093-9932-DD65-383432A6358F}"/>
                </a:ext>
              </a:extLst>
            </p:cNvPr>
            <p:cNvGrpSpPr/>
            <p:nvPr/>
          </p:nvGrpSpPr>
          <p:grpSpPr>
            <a:xfrm>
              <a:off x="8235996" y="2026556"/>
              <a:ext cx="3337463" cy="1038010"/>
              <a:chOff x="8383778" y="2129449"/>
              <a:chExt cx="3337463" cy="1038010"/>
            </a:xfrm>
          </p:grpSpPr>
          <p:sp>
            <p:nvSpPr>
              <p:cNvPr id="20" name="Shape 18">
                <a:extLst>
                  <a:ext uri="{FF2B5EF4-FFF2-40B4-BE49-F238E27FC236}">
                    <a16:creationId xmlns:a16="http://schemas.microsoft.com/office/drawing/2014/main" id="{086EC741-7D1B-ED80-E905-C920FFD28666}"/>
                  </a:ext>
                </a:extLst>
              </p:cNvPr>
              <p:cNvSpPr/>
              <p:nvPr/>
            </p:nvSpPr>
            <p:spPr>
              <a:xfrm>
                <a:off x="8383779" y="2129449"/>
                <a:ext cx="257175" cy="257175"/>
              </a:xfrm>
              <a:prstGeom prst="rect">
                <a:avLst/>
              </a:prstGeom>
              <a:solidFill>
                <a:srgbClr val="FFFFFF">
                  <a:alpha val="10000"/>
                </a:srgbClr>
              </a:solid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22" name="Text 19">
                <a:extLst>
                  <a:ext uri="{FF2B5EF4-FFF2-40B4-BE49-F238E27FC236}">
                    <a16:creationId xmlns:a16="http://schemas.microsoft.com/office/drawing/2014/main" id="{9CEA3B76-4796-D32B-B8ED-F184C7A177A6}"/>
                  </a:ext>
                </a:extLst>
              </p:cNvPr>
              <p:cNvSpPr/>
              <p:nvPr/>
            </p:nvSpPr>
            <p:spPr>
              <a:xfrm>
                <a:off x="8726679" y="2168739"/>
                <a:ext cx="1150144" cy="156707"/>
              </a:xfrm>
              <a:prstGeom prst="rect">
                <a:avLst/>
              </a:prstGeom>
              <a:ln/>
            </p:spPr>
            <p:txBody>
              <a:bodyPr wrap="square"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Helvetica Neue" pitchFamily="34" charset="-120"/>
                  </a:rPr>
                  <a:t>智能客服趋势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/>
                  <a:cs typeface="+mn-cs"/>
                </a:endParaRPr>
              </a:p>
            </p:txBody>
          </p:sp>
          <p:sp>
            <p:nvSpPr>
              <p:cNvPr id="23" name="Text 20">
                <a:extLst>
                  <a:ext uri="{FF2B5EF4-FFF2-40B4-BE49-F238E27FC236}">
                    <a16:creationId xmlns:a16="http://schemas.microsoft.com/office/drawing/2014/main" id="{2E2942AA-51C0-3700-1633-19078A4A8239}"/>
                  </a:ext>
                </a:extLst>
              </p:cNvPr>
              <p:cNvSpPr/>
              <p:nvPr/>
            </p:nvSpPr>
            <p:spPr>
              <a:xfrm>
                <a:off x="8383778" y="2478211"/>
                <a:ext cx="2986087" cy="250031"/>
              </a:xfrm>
              <a:prstGeom prst="rect">
                <a:avLst/>
              </a:prstGeom>
              <a:ln/>
            </p:spPr>
            <p:txBody>
              <a:bodyPr wrap="square"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45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9C97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Helvetica Neue" pitchFamily="34" charset="-120"/>
                  </a:rPr>
                  <a:t>AI Agent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279C97"/>
                  </a:solidFill>
                  <a:effectLst/>
                  <a:uLnTx/>
                  <a:uFillTx/>
                  <a:latin typeface="Calibri" panose="020F0502020204030204"/>
                  <a:ea typeface="微软雅黑"/>
                  <a:cs typeface="+mn-cs"/>
                </a:endParaRPr>
              </a:p>
            </p:txBody>
          </p:sp>
          <p:sp>
            <p:nvSpPr>
              <p:cNvPr id="26" name="Text 21">
                <a:extLst>
                  <a:ext uri="{FF2B5EF4-FFF2-40B4-BE49-F238E27FC236}">
                    <a16:creationId xmlns:a16="http://schemas.microsoft.com/office/drawing/2014/main" id="{DD2FDCA6-0464-8613-3B9E-4FC29E5D969E}"/>
                  </a:ext>
                </a:extLst>
              </p:cNvPr>
              <p:cNvSpPr/>
              <p:nvPr/>
            </p:nvSpPr>
            <p:spPr>
              <a:xfrm>
                <a:off x="8383778" y="2989239"/>
                <a:ext cx="3337463" cy="178220"/>
              </a:xfrm>
              <a:prstGeom prst="rect">
                <a:avLst/>
              </a:prstGeom>
              <a:ln/>
            </p:spPr>
            <p:txBody>
              <a:bodyPr wrap="square"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ts val="126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+mn-cs"/>
                  </a:rPr>
                  <a:t>“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+mn-cs"/>
                  </a:rPr>
                  <a:t>Multi Agent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+mn-cs"/>
                  </a:rPr>
                  <a:t>”不是炫技，⽽是场景驱动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+mn-cs"/>
                </a:endParaRPr>
              </a:p>
            </p:txBody>
          </p:sp>
        </p:grpSp>
        <p:pic>
          <p:nvPicPr>
            <p:cNvPr id="29" name="Image 4" descr="preencoded.png">
              <a:extLst>
                <a:ext uri="{FF2B5EF4-FFF2-40B4-BE49-F238E27FC236}">
                  <a16:creationId xmlns:a16="http://schemas.microsoft.com/office/drawing/2014/main" id="{6C870602-C27C-F541-1703-F6C64D997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81515" y="2093965"/>
              <a:ext cx="164306" cy="128588"/>
            </a:xfrm>
            <a:prstGeom prst="rect">
              <a:avLst/>
            </a:prstGeom>
          </p:spPr>
        </p:pic>
      </p:grpSp>
      <p:sp>
        <p:nvSpPr>
          <p:cNvPr id="38" name="Shape 9">
            <a:extLst>
              <a:ext uri="{FF2B5EF4-FFF2-40B4-BE49-F238E27FC236}">
                <a16:creationId xmlns:a16="http://schemas.microsoft.com/office/drawing/2014/main" id="{0FCDEE03-D144-52C3-DB4D-1374BFD9D994}"/>
              </a:ext>
            </a:extLst>
          </p:cNvPr>
          <p:cNvSpPr/>
          <p:nvPr/>
        </p:nvSpPr>
        <p:spPr>
          <a:xfrm>
            <a:off x="4820840" y="1156748"/>
            <a:ext cx="285750" cy="285750"/>
          </a:xfrm>
          <a:prstGeom prst="rect">
            <a:avLst/>
          </a:prstGeom>
          <a:solidFill>
            <a:srgbClr val="FFC700">
              <a:alpha val="15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AFFDCE03-EE14-72DC-7AB0-36B82A5B6303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4892278" y="1228185"/>
            <a:ext cx="142875" cy="142875"/>
          </a:xfrm>
          <a:prstGeom prst="rect">
            <a:avLst/>
          </a:prstGeom>
        </p:spPr>
      </p:pic>
      <p:sp>
        <p:nvSpPr>
          <p:cNvPr id="40" name="Text 10">
            <a:extLst>
              <a:ext uri="{FF2B5EF4-FFF2-40B4-BE49-F238E27FC236}">
                <a16:creationId xmlns:a16="http://schemas.microsoft.com/office/drawing/2014/main" id="{C4780A18-43A7-3E5D-CE1C-59425E7D43AD}"/>
              </a:ext>
            </a:extLst>
          </p:cNvPr>
          <p:cNvSpPr/>
          <p:nvPr/>
        </p:nvSpPr>
        <p:spPr>
          <a:xfrm>
            <a:off x="5206603" y="1199610"/>
            <a:ext cx="812879" cy="1921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Helvetica Neue" pitchFamily="34" charset="-120"/>
              </a:rPr>
              <a:t>现有问题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/>
              <a:cs typeface="+mn-cs"/>
            </a:endParaRPr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01FEEDB8-A26D-5883-ED13-8BD12772953D}"/>
              </a:ext>
            </a:extLst>
          </p:cNvPr>
          <p:cNvSpPr/>
          <p:nvPr/>
        </p:nvSpPr>
        <p:spPr>
          <a:xfrm>
            <a:off x="6019482" y="1060767"/>
            <a:ext cx="42863" cy="42863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FBEA09A7-2DAC-A105-EA7D-7A1CD3631D62}"/>
              </a:ext>
            </a:extLst>
          </p:cNvPr>
          <p:cNvSpPr/>
          <p:nvPr/>
        </p:nvSpPr>
        <p:spPr>
          <a:xfrm>
            <a:off x="6148070" y="1007188"/>
            <a:ext cx="2298920" cy="1148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专家资源稀缺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Helvetica Neue" pitchFamily="34" charset="-122"/>
              <a:cs typeface="+mn-cs"/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AE903104-C8BB-5093-37F9-5E13BA1B1437}"/>
              </a:ext>
            </a:extLst>
          </p:cNvPr>
          <p:cNvSpPr/>
          <p:nvPr/>
        </p:nvSpPr>
        <p:spPr>
          <a:xfrm>
            <a:off x="6019482" y="1282223"/>
            <a:ext cx="42863" cy="42863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C631562F-2073-8236-FA6E-840258DAEDAA}"/>
              </a:ext>
            </a:extLst>
          </p:cNvPr>
          <p:cNvSpPr/>
          <p:nvPr/>
        </p:nvSpPr>
        <p:spPr>
          <a:xfrm>
            <a:off x="6148070" y="1228645"/>
            <a:ext cx="2571057" cy="23501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传统模式无法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7×24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实时响应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Helvetica Neue" pitchFamily="34" charset="-122"/>
              <a:cs typeface="+mn-cs"/>
            </a:endParaRPr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92A8B4B5-FFF2-A6D4-0D4A-2C83116F9A4C}"/>
              </a:ext>
            </a:extLst>
          </p:cNvPr>
          <p:cNvSpPr/>
          <p:nvPr/>
        </p:nvSpPr>
        <p:spPr>
          <a:xfrm>
            <a:off x="6019482" y="1503679"/>
            <a:ext cx="42863" cy="42863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8B04DF6B-5069-1E9D-EA1F-A28DB1AE32A5}"/>
              </a:ext>
            </a:extLst>
          </p:cNvPr>
          <p:cNvSpPr/>
          <p:nvPr/>
        </p:nvSpPr>
        <p:spPr>
          <a:xfrm>
            <a:off x="6148070" y="1450101"/>
            <a:ext cx="1887566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两次门诊之间管理不连续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Helvetica Neue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85775" y="374650"/>
            <a:ext cx="2885440" cy="551180"/>
            <a:chOff x="449" y="450"/>
            <a:chExt cx="4544" cy="868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项目框架图</a:t>
              </a: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E89BC8F-A1AF-69AB-ED26-1CE1756A0490}"/>
              </a:ext>
            </a:extLst>
          </p:cNvPr>
          <p:cNvSpPr txBox="1"/>
          <p:nvPr/>
        </p:nvSpPr>
        <p:spPr>
          <a:xfrm>
            <a:off x="4783906" y="1777239"/>
            <a:ext cx="890980" cy="25945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MCP tools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1998B81-31D9-D17E-BECF-789305240E03}"/>
              </a:ext>
            </a:extLst>
          </p:cNvPr>
          <p:cNvSpPr/>
          <p:nvPr/>
        </p:nvSpPr>
        <p:spPr>
          <a:xfrm>
            <a:off x="5833639" y="1313583"/>
            <a:ext cx="1903609" cy="1154032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10132962-2F58-6DC3-FACC-0D502E6DDE53}"/>
              </a:ext>
            </a:extLst>
          </p:cNvPr>
          <p:cNvSpPr/>
          <p:nvPr/>
        </p:nvSpPr>
        <p:spPr>
          <a:xfrm>
            <a:off x="5151470" y="3097518"/>
            <a:ext cx="4407242" cy="715422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6305480-9E14-B3CE-AD7F-DA46305137FB}"/>
              </a:ext>
            </a:extLst>
          </p:cNvPr>
          <p:cNvSpPr txBox="1"/>
          <p:nvPr/>
        </p:nvSpPr>
        <p:spPr>
          <a:xfrm>
            <a:off x="5291512" y="3258544"/>
            <a:ext cx="1508445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Ledger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append-only JSONL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69D9D8A-412F-5CD6-C883-C1E7A34189D4}"/>
              </a:ext>
            </a:extLst>
          </p:cNvPr>
          <p:cNvSpPr txBox="1"/>
          <p:nvPr/>
        </p:nvSpPr>
        <p:spPr>
          <a:xfrm>
            <a:off x="9801597" y="5675688"/>
            <a:ext cx="2426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项目整体框架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CF089F3-2E9D-8EEF-1E04-25A94CAD68B6}"/>
              </a:ext>
            </a:extLst>
          </p:cNvPr>
          <p:cNvSpPr/>
          <p:nvPr/>
        </p:nvSpPr>
        <p:spPr>
          <a:xfrm>
            <a:off x="6231672" y="2887146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Daemon · single writer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1AD98AC8-7683-88E5-2E79-2B017E7678D1}"/>
              </a:ext>
            </a:extLst>
          </p:cNvPr>
          <p:cNvSpPr txBox="1"/>
          <p:nvPr/>
        </p:nvSpPr>
        <p:spPr>
          <a:xfrm>
            <a:off x="6940000" y="3272960"/>
            <a:ext cx="822864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Actor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Manager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6140094-5876-A7FF-4CFE-B5B497062843}"/>
              </a:ext>
            </a:extLst>
          </p:cNvPr>
          <p:cNvSpPr txBox="1"/>
          <p:nvPr/>
        </p:nvSpPr>
        <p:spPr>
          <a:xfrm>
            <a:off x="7892680" y="3272960"/>
            <a:ext cx="1534226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Automation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Rules · Nudge · Cron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365707AE-6FB9-F240-E34A-EDCE3623DB2C}"/>
              </a:ext>
            </a:extLst>
          </p:cNvPr>
          <p:cNvSpPr/>
          <p:nvPr/>
        </p:nvSpPr>
        <p:spPr>
          <a:xfrm>
            <a:off x="6252567" y="5429155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IM Bridges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6F0CF03C-EB09-F514-D167-DD4DEC9A9499}"/>
              </a:ext>
            </a:extLst>
          </p:cNvPr>
          <p:cNvSpPr/>
          <p:nvPr/>
        </p:nvSpPr>
        <p:spPr>
          <a:xfrm>
            <a:off x="5444527" y="5651916"/>
            <a:ext cx="3650242" cy="909875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2426A062-5E83-E1F9-4F28-DD19DA2C34DE}"/>
              </a:ext>
            </a:extLst>
          </p:cNvPr>
          <p:cNvSpPr txBox="1"/>
          <p:nvPr/>
        </p:nvSpPr>
        <p:spPr>
          <a:xfrm>
            <a:off x="6779491" y="5789724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Slack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03552F60-BC4D-C96D-A8E4-A4A4D6139728}"/>
              </a:ext>
            </a:extLst>
          </p:cNvPr>
          <p:cNvCxnSpPr>
            <a:cxnSpLocks/>
          </p:cNvCxnSpPr>
          <p:nvPr/>
        </p:nvCxnSpPr>
        <p:spPr>
          <a:xfrm>
            <a:off x="7175825" y="2479692"/>
            <a:ext cx="0" cy="38779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1EED6256-0354-F6DF-7DF1-B65302C7EBCC}"/>
              </a:ext>
            </a:extLst>
          </p:cNvPr>
          <p:cNvSpPr/>
          <p:nvPr/>
        </p:nvSpPr>
        <p:spPr>
          <a:xfrm>
            <a:off x="6238676" y="4204050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Control Plane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9D72F979-7B81-5FA4-D3CA-F111C30C7DA9}"/>
              </a:ext>
            </a:extLst>
          </p:cNvPr>
          <p:cNvSpPr/>
          <p:nvPr/>
        </p:nvSpPr>
        <p:spPr>
          <a:xfrm>
            <a:off x="5705516" y="1206084"/>
            <a:ext cx="2800230" cy="1401768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3377A80-56B5-378B-13CF-7A3D5125BA0F}"/>
              </a:ext>
            </a:extLst>
          </p:cNvPr>
          <p:cNvSpPr/>
          <p:nvPr/>
        </p:nvSpPr>
        <p:spPr>
          <a:xfrm>
            <a:off x="6096000" y="988345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Actor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8AD5716-8807-9172-516E-2F19BFFC7212}"/>
              </a:ext>
            </a:extLst>
          </p:cNvPr>
          <p:cNvSpPr txBox="1"/>
          <p:nvPr/>
        </p:nvSpPr>
        <p:spPr>
          <a:xfrm>
            <a:off x="5927266" y="1483924"/>
            <a:ext cx="82710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主治医生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024FB784-663B-9A49-C6B5-92303386CB9F}"/>
              </a:ext>
            </a:extLst>
          </p:cNvPr>
          <p:cNvSpPr txBox="1"/>
          <p:nvPr/>
        </p:nvSpPr>
        <p:spPr>
          <a:xfrm>
            <a:off x="5911800" y="2130405"/>
            <a:ext cx="711224" cy="23505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药剂师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634B9B4-B06A-BB87-119C-D849F93D4544}"/>
              </a:ext>
            </a:extLst>
          </p:cNvPr>
          <p:cNvSpPr txBox="1"/>
          <p:nvPr/>
        </p:nvSpPr>
        <p:spPr>
          <a:xfrm>
            <a:off x="7991696" y="1303859"/>
            <a:ext cx="411883" cy="833551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记忆管理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C4DE8FE-EE27-FFF3-F65E-65A82EC0F158}"/>
              </a:ext>
            </a:extLst>
          </p:cNvPr>
          <p:cNvSpPr txBox="1"/>
          <p:nvPr/>
        </p:nvSpPr>
        <p:spPr>
          <a:xfrm>
            <a:off x="5927266" y="1811628"/>
            <a:ext cx="676091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营养师</a:t>
            </a:r>
          </a:p>
        </p:txBody>
      </p:sp>
      <p:sp>
        <p:nvSpPr>
          <p:cNvPr id="98" name="右大括号 97">
            <a:extLst>
              <a:ext uri="{FF2B5EF4-FFF2-40B4-BE49-F238E27FC236}">
                <a16:creationId xmlns:a16="http://schemas.microsoft.com/office/drawing/2014/main" id="{40E58138-3214-0C4E-3D22-57C6DA0890AE}"/>
              </a:ext>
            </a:extLst>
          </p:cNvPr>
          <p:cNvSpPr/>
          <p:nvPr/>
        </p:nvSpPr>
        <p:spPr>
          <a:xfrm>
            <a:off x="7735279" y="1421804"/>
            <a:ext cx="267469" cy="925799"/>
          </a:xfrm>
          <a:prstGeom prst="rightBrace">
            <a:avLst>
              <a:gd name="adj1" fmla="val 0"/>
              <a:gd name="adj2" fmla="val 50000"/>
            </a:avLst>
          </a:prstGeom>
          <a:noFill/>
          <a:ln w="6350" cap="flat" cmpd="sng" algn="ctr">
            <a:solidFill>
              <a:srgbClr val="AFABA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1921A49-9A50-E357-24CD-51F8C652442F}"/>
              </a:ext>
            </a:extLst>
          </p:cNvPr>
          <p:cNvSpPr txBox="1"/>
          <p:nvPr/>
        </p:nvSpPr>
        <p:spPr>
          <a:xfrm>
            <a:off x="6707020" y="1811628"/>
            <a:ext cx="950099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代谢病医生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4B9BDAF-F915-6711-CD2D-5DFA5F4E2523}"/>
              </a:ext>
            </a:extLst>
          </p:cNvPr>
          <p:cNvSpPr txBox="1"/>
          <p:nvPr/>
        </p:nvSpPr>
        <p:spPr>
          <a:xfrm>
            <a:off x="6810647" y="1485954"/>
            <a:ext cx="82710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科普老师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AE5DBD4B-2AFC-369E-A0C0-07F076102534}"/>
              </a:ext>
            </a:extLst>
          </p:cNvPr>
          <p:cNvSpPr/>
          <p:nvPr/>
        </p:nvSpPr>
        <p:spPr>
          <a:xfrm>
            <a:off x="9819844" y="1246952"/>
            <a:ext cx="1846735" cy="2730372"/>
          </a:xfrm>
          <a:prstGeom prst="rect">
            <a:avLst/>
          </a:prstGeom>
          <a:noFill/>
          <a:ln w="28575" cap="flat" cmpd="sng" algn="ctr">
            <a:solidFill>
              <a:srgbClr val="238A87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D3D13E5E-64AE-478B-CFE0-539FFC7C5A30}"/>
              </a:ext>
            </a:extLst>
          </p:cNvPr>
          <p:cNvCxnSpPr>
            <a:cxnSpLocks/>
          </p:cNvCxnSpPr>
          <p:nvPr/>
        </p:nvCxnSpPr>
        <p:spPr>
          <a:xfrm>
            <a:off x="7189716" y="3862100"/>
            <a:ext cx="0" cy="299999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03" name="矩形 102">
            <a:extLst>
              <a:ext uri="{FF2B5EF4-FFF2-40B4-BE49-F238E27FC236}">
                <a16:creationId xmlns:a16="http://schemas.microsoft.com/office/drawing/2014/main" id="{19821EDC-FD55-EA9A-0213-244AF369C72D}"/>
              </a:ext>
            </a:extLst>
          </p:cNvPr>
          <p:cNvSpPr/>
          <p:nvPr/>
        </p:nvSpPr>
        <p:spPr>
          <a:xfrm>
            <a:off x="5151470" y="4419752"/>
            <a:ext cx="4407242" cy="675817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90EB66B8-A800-FAA3-C926-627FBC319ACD}"/>
              </a:ext>
            </a:extLst>
          </p:cNvPr>
          <p:cNvSpPr txBox="1"/>
          <p:nvPr/>
        </p:nvSpPr>
        <p:spPr>
          <a:xfrm>
            <a:off x="5291512" y="4580778"/>
            <a:ext cx="1508445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Web UI:8848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E655959-6FED-82A1-DF57-D980400872F1}"/>
              </a:ext>
            </a:extLst>
          </p:cNvPr>
          <p:cNvSpPr txBox="1"/>
          <p:nvPr/>
        </p:nvSpPr>
        <p:spPr>
          <a:xfrm>
            <a:off x="6940000" y="4595194"/>
            <a:ext cx="822864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CLI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CF09E1FD-0C76-A546-6675-3AA10C202F18}"/>
              </a:ext>
            </a:extLst>
          </p:cNvPr>
          <p:cNvSpPr txBox="1"/>
          <p:nvPr/>
        </p:nvSpPr>
        <p:spPr>
          <a:xfrm>
            <a:off x="7892680" y="4595194"/>
            <a:ext cx="1534226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MCP(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stdio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)</a:t>
            </a: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48724D41-3A3E-DFBB-F86F-A6B7DBC74DAE}"/>
              </a:ext>
            </a:extLst>
          </p:cNvPr>
          <p:cNvCxnSpPr>
            <a:cxnSpLocks/>
          </p:cNvCxnSpPr>
          <p:nvPr/>
        </p:nvCxnSpPr>
        <p:spPr>
          <a:xfrm>
            <a:off x="5099267" y="2352821"/>
            <a:ext cx="606249" cy="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2DEAAEBD-B8A2-C31E-356A-9446563872F0}"/>
              </a:ext>
            </a:extLst>
          </p:cNvPr>
          <p:cNvSpPr/>
          <p:nvPr/>
        </p:nvSpPr>
        <p:spPr>
          <a:xfrm>
            <a:off x="2849958" y="1839469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Agent Runtimes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E29E31A8-40E8-11D6-359B-B6C60BDB04A4}"/>
              </a:ext>
            </a:extLst>
          </p:cNvPr>
          <p:cNvSpPr/>
          <p:nvPr/>
        </p:nvSpPr>
        <p:spPr>
          <a:xfrm>
            <a:off x="2324918" y="2053816"/>
            <a:ext cx="2749173" cy="715422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476969CB-BE6A-296A-7141-1BC913FFC289}"/>
              </a:ext>
            </a:extLst>
          </p:cNvPr>
          <p:cNvSpPr txBox="1"/>
          <p:nvPr/>
        </p:nvSpPr>
        <p:spPr>
          <a:xfrm>
            <a:off x="2446915" y="2156178"/>
            <a:ext cx="1099351" cy="24968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Claude Code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8FCBBF7-54F7-D249-4FC2-F437E2306A0F}"/>
              </a:ext>
            </a:extLst>
          </p:cNvPr>
          <p:cNvSpPr txBox="1"/>
          <p:nvPr/>
        </p:nvSpPr>
        <p:spPr>
          <a:xfrm>
            <a:off x="3630381" y="2163389"/>
            <a:ext cx="1287256" cy="233776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Codex CLI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F93E9057-FD5C-8CC3-4EE6-9E2FC228E143}"/>
              </a:ext>
            </a:extLst>
          </p:cNvPr>
          <p:cNvSpPr txBox="1"/>
          <p:nvPr/>
        </p:nvSpPr>
        <p:spPr>
          <a:xfrm>
            <a:off x="2446915" y="2475682"/>
            <a:ext cx="893611" cy="24247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Gemini CLI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69D501C6-276E-F66E-C270-CCFAD6B0C717}"/>
              </a:ext>
            </a:extLst>
          </p:cNvPr>
          <p:cNvSpPr txBox="1"/>
          <p:nvPr/>
        </p:nvSpPr>
        <p:spPr>
          <a:xfrm>
            <a:off x="3430653" y="2473034"/>
            <a:ext cx="1486984" cy="23377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+ 5 more + custom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CBCD34B-665C-B3F8-571D-CC670125D6A3}"/>
              </a:ext>
            </a:extLst>
          </p:cNvPr>
          <p:cNvSpPr/>
          <p:nvPr/>
        </p:nvSpPr>
        <p:spPr>
          <a:xfrm>
            <a:off x="9811948" y="1024630"/>
            <a:ext cx="187429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三层记忆管理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B28550C8-5238-C4B7-1C8D-E13D06947BE6}"/>
              </a:ext>
            </a:extLst>
          </p:cNvPr>
          <p:cNvCxnSpPr>
            <a:cxnSpLocks/>
          </p:cNvCxnSpPr>
          <p:nvPr/>
        </p:nvCxnSpPr>
        <p:spPr>
          <a:xfrm flipH="1">
            <a:off x="8381807" y="1720634"/>
            <a:ext cx="1633050" cy="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162C694A-E954-9266-9F9E-A7A79701DA2A}"/>
              </a:ext>
            </a:extLst>
          </p:cNvPr>
          <p:cNvSpPr txBox="1"/>
          <p:nvPr/>
        </p:nvSpPr>
        <p:spPr>
          <a:xfrm>
            <a:off x="6707020" y="2127965"/>
            <a:ext cx="950099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心理咨询师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F773707-8E63-4A45-BD65-D771CCFBA939}"/>
              </a:ext>
            </a:extLst>
          </p:cNvPr>
          <p:cNvSpPr txBox="1"/>
          <p:nvPr/>
        </p:nvSpPr>
        <p:spPr>
          <a:xfrm>
            <a:off x="5674886" y="5785487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Telegram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CF18E668-210A-5745-8379-D17F159EF219}"/>
              </a:ext>
            </a:extLst>
          </p:cNvPr>
          <p:cNvSpPr txBox="1"/>
          <p:nvPr/>
        </p:nvSpPr>
        <p:spPr>
          <a:xfrm>
            <a:off x="7884096" y="5797220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Discord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83C29AD7-622C-B8AE-3A5E-1912D755F890}"/>
              </a:ext>
            </a:extLst>
          </p:cNvPr>
          <p:cNvSpPr txBox="1"/>
          <p:nvPr/>
        </p:nvSpPr>
        <p:spPr>
          <a:xfrm>
            <a:off x="5686194" y="6155522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Feishu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DA7F230-0618-978B-63F7-8ADFA76B202F}"/>
              </a:ext>
            </a:extLst>
          </p:cNvPr>
          <p:cNvSpPr txBox="1"/>
          <p:nvPr/>
        </p:nvSpPr>
        <p:spPr>
          <a:xfrm>
            <a:off x="6779491" y="6157336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DingTalk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C0C4ADF0-7D86-88CA-EE28-CF70D6ECC9D6}"/>
              </a:ext>
            </a:extLst>
          </p:cNvPr>
          <p:cNvCxnSpPr>
            <a:cxnSpLocks/>
          </p:cNvCxnSpPr>
          <p:nvPr/>
        </p:nvCxnSpPr>
        <p:spPr>
          <a:xfrm>
            <a:off x="7165392" y="5125342"/>
            <a:ext cx="0" cy="299999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0F1FF495-0DA7-DD2F-6A58-8A323F75D2E2}"/>
              </a:ext>
            </a:extLst>
          </p:cNvPr>
          <p:cNvSpPr/>
          <p:nvPr/>
        </p:nvSpPr>
        <p:spPr>
          <a:xfrm>
            <a:off x="9948515" y="1379220"/>
            <a:ext cx="1616364" cy="2438853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7A9A3ADA-244E-249D-3DFB-93448F2F9368}"/>
              </a:ext>
            </a:extLst>
          </p:cNvPr>
          <p:cNvSpPr txBox="1"/>
          <p:nvPr/>
        </p:nvSpPr>
        <p:spPr>
          <a:xfrm>
            <a:off x="10123752" y="1523536"/>
            <a:ext cx="1305536" cy="510843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短期记忆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高活力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碎片化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1621FE4B-5AB3-B9DA-8193-98B8A776F1D7}"/>
              </a:ext>
            </a:extLst>
          </p:cNvPr>
          <p:cNvSpPr txBox="1"/>
          <p:nvPr/>
        </p:nvSpPr>
        <p:spPr>
          <a:xfrm>
            <a:off x="10134149" y="2290154"/>
            <a:ext cx="1295140" cy="512537"/>
          </a:xfrm>
          <a:prstGeom prst="rect">
            <a:avLst/>
          </a:prstGeom>
          <a:solidFill>
            <a:srgbClr val="186A8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中期记忆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中等活力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已整合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F6D2E660-5B2D-5EE5-7CEB-44B7E4A5EAE7}"/>
              </a:ext>
            </a:extLst>
          </p:cNvPr>
          <p:cNvSpPr txBox="1"/>
          <p:nvPr/>
        </p:nvSpPr>
        <p:spPr>
          <a:xfrm>
            <a:off x="10134148" y="3097517"/>
            <a:ext cx="1295140" cy="490005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长期记忆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高活力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永久锁定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735DF963-DE1C-E001-AC60-CBCC27485EF2}"/>
              </a:ext>
            </a:extLst>
          </p:cNvPr>
          <p:cNvGrpSpPr/>
          <p:nvPr/>
        </p:nvGrpSpPr>
        <p:grpSpPr>
          <a:xfrm rot="5400000">
            <a:off x="765143" y="2820124"/>
            <a:ext cx="335714" cy="738576"/>
            <a:chOff x="334611" y="1353173"/>
            <a:chExt cx="653622" cy="1437977"/>
          </a:xfrm>
        </p:grpSpPr>
        <p:sp>
          <p:nvSpPr>
            <p:cNvPr id="134" name="Arrow: Chevron 30">
              <a:extLst>
                <a:ext uri="{FF2B5EF4-FFF2-40B4-BE49-F238E27FC236}">
                  <a16:creationId xmlns:a16="http://schemas.microsoft.com/office/drawing/2014/main" id="{AE504542-570C-0908-3CEE-37CCDEA5720E}"/>
                </a:ext>
              </a:extLst>
            </p:cNvPr>
            <p:cNvSpPr/>
            <p:nvPr/>
          </p:nvSpPr>
          <p:spPr>
            <a:xfrm rot="16200000">
              <a:off x="478706" y="120907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5" name="Arrow: Chevron 31">
              <a:extLst>
                <a:ext uri="{FF2B5EF4-FFF2-40B4-BE49-F238E27FC236}">
                  <a16:creationId xmlns:a16="http://schemas.microsoft.com/office/drawing/2014/main" id="{DF256C95-DBCA-4EAA-36D6-F0BB450A1EF9}"/>
                </a:ext>
              </a:extLst>
            </p:cNvPr>
            <p:cNvSpPr/>
            <p:nvPr/>
          </p:nvSpPr>
          <p:spPr>
            <a:xfrm rot="16200000">
              <a:off x="478706" y="154898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6" name="Arrow: Chevron 32">
              <a:extLst>
                <a:ext uri="{FF2B5EF4-FFF2-40B4-BE49-F238E27FC236}">
                  <a16:creationId xmlns:a16="http://schemas.microsoft.com/office/drawing/2014/main" id="{92E32C8A-5D85-DEB5-3BFE-DFFC54E57DDB}"/>
                </a:ext>
              </a:extLst>
            </p:cNvPr>
            <p:cNvSpPr/>
            <p:nvPr/>
          </p:nvSpPr>
          <p:spPr>
            <a:xfrm rot="16200000">
              <a:off x="478706" y="1914419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7" name="Arrow: Chevron 33">
              <a:extLst>
                <a:ext uri="{FF2B5EF4-FFF2-40B4-BE49-F238E27FC236}">
                  <a16:creationId xmlns:a16="http://schemas.microsoft.com/office/drawing/2014/main" id="{EF14E828-84B1-82D9-B68D-8B88696C224F}"/>
                </a:ext>
              </a:extLst>
            </p:cNvPr>
            <p:cNvSpPr/>
            <p:nvPr/>
          </p:nvSpPr>
          <p:spPr>
            <a:xfrm rot="16200000">
              <a:off x="478706" y="2281624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A78FC38-8207-ED3C-F1A8-161B14C48419}"/>
              </a:ext>
            </a:extLst>
          </p:cNvPr>
          <p:cNvSpPr txBox="1"/>
          <p:nvPr/>
        </p:nvSpPr>
        <p:spPr>
          <a:xfrm>
            <a:off x="1349466" y="3015015"/>
            <a:ext cx="8073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Architecture Layers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C38DD2C0-4605-9A85-C568-9CBCDFB0F0DF}"/>
              </a:ext>
            </a:extLst>
          </p:cNvPr>
          <p:cNvGrpSpPr/>
          <p:nvPr/>
        </p:nvGrpSpPr>
        <p:grpSpPr>
          <a:xfrm>
            <a:off x="212883" y="3581948"/>
            <a:ext cx="4639747" cy="3001060"/>
            <a:chOff x="99802" y="3388227"/>
            <a:chExt cx="4639747" cy="3104140"/>
          </a:xfrm>
        </p:grpSpPr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089515AA-3043-A05D-61A5-ED228C00EC16}"/>
                </a:ext>
              </a:extLst>
            </p:cNvPr>
            <p:cNvSpPr/>
            <p:nvPr/>
          </p:nvSpPr>
          <p:spPr>
            <a:xfrm>
              <a:off x="441247" y="3388227"/>
              <a:ext cx="4094833" cy="3104140"/>
            </a:xfrm>
            <a:prstGeom prst="rect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A73187B8-9DD8-7AB6-3BB3-3E1A47E6D4D9}"/>
                </a:ext>
              </a:extLst>
            </p:cNvPr>
            <p:cNvCxnSpPr/>
            <p:nvPr/>
          </p:nvCxnSpPr>
          <p:spPr>
            <a:xfrm>
              <a:off x="450631" y="405012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A2FB6854-EA37-8640-13D6-457A6B4D07F0}"/>
                </a:ext>
              </a:extLst>
            </p:cNvPr>
            <p:cNvSpPr txBox="1"/>
            <p:nvPr/>
          </p:nvSpPr>
          <p:spPr>
            <a:xfrm>
              <a:off x="525706" y="3419286"/>
              <a:ext cx="4003841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Ports (Entry)                                          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Web UI (React)  │  CLI  │  IM Bridge  │  MCP Server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946CB01A-BA66-9A36-99E7-6451B382DFA1}"/>
                </a:ext>
              </a:extLst>
            </p:cNvPr>
            <p:cNvSpPr txBox="1"/>
            <p:nvPr/>
          </p:nvSpPr>
          <p:spPr>
            <a:xfrm>
              <a:off x="99802" y="4172073"/>
              <a:ext cx="4639747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Daemon (</a:t>
              </a:r>
              <a:r>
                <a:rPr kumimoji="0" lang="en-US" altLang="zh-CN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ccccd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)                  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IPC Server  │  Delivery  │  Automation  │  Runners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277A8E23-FDF1-3E44-C01F-E5A81B696CFC}"/>
                </a:ext>
              </a:extLst>
            </p:cNvPr>
            <p:cNvCxnSpPr/>
            <p:nvPr/>
          </p:nvCxnSpPr>
          <p:spPr>
            <a:xfrm>
              <a:off x="441247" y="488609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0A302755-AC33-03CB-D1FD-8C3EA5F7D9CD}"/>
                </a:ext>
              </a:extLst>
            </p:cNvPr>
            <p:cNvCxnSpPr/>
            <p:nvPr/>
          </p:nvCxnSpPr>
          <p:spPr>
            <a:xfrm>
              <a:off x="441246" y="570153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0F7FF950-F7D1-F269-3E91-E679C55832B4}"/>
                </a:ext>
              </a:extLst>
            </p:cNvPr>
            <p:cNvSpPr txBox="1"/>
            <p:nvPr/>
          </p:nvSpPr>
          <p:spPr>
            <a:xfrm>
              <a:off x="470087" y="4977764"/>
              <a:ext cx="4118912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Kernel  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               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Group  │  Actor  │  Ledger  │  Inbox  │  Permissions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5F9E5CD9-A93C-4BFA-48EE-628E591E0514}"/>
                </a:ext>
              </a:extLst>
            </p:cNvPr>
            <p:cNvSpPr txBox="1"/>
            <p:nvPr/>
          </p:nvSpPr>
          <p:spPr>
            <a:xfrm>
              <a:off x="268052" y="5831513"/>
              <a:ext cx="4065994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     Contracts (v1)                        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Event  │  Message  │  Actor  │  IPC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80" name="文本框 79">
            <a:extLst>
              <a:ext uri="{FF2B5EF4-FFF2-40B4-BE49-F238E27FC236}">
                <a16:creationId xmlns:a16="http://schemas.microsoft.com/office/drawing/2014/main" id="{152C4A97-A155-1F7B-8124-15604A73F931}"/>
              </a:ext>
            </a:extLst>
          </p:cNvPr>
          <p:cNvSpPr txBox="1"/>
          <p:nvPr/>
        </p:nvSpPr>
        <p:spPr>
          <a:xfrm>
            <a:off x="4499177" y="400848"/>
            <a:ext cx="896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面向智能客服的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 Agent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血糖管理自进化系统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68" name="图片 167">
            <a:extLst>
              <a:ext uri="{FF2B5EF4-FFF2-40B4-BE49-F238E27FC236}">
                <a16:creationId xmlns:a16="http://schemas.microsoft.com/office/drawing/2014/main" id="{37F51E29-59BD-054A-7A67-0D74BF612A4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5E759C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9785880" y="4495923"/>
            <a:ext cx="2077283" cy="2074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CFCB982B-995B-7E80-6507-97BDCA5B1588}"/>
              </a:ext>
            </a:extLst>
          </p:cNvPr>
          <p:cNvSpPr/>
          <p:nvPr/>
        </p:nvSpPr>
        <p:spPr>
          <a:xfrm>
            <a:off x="1" y="6127877"/>
            <a:ext cx="12361332" cy="730123"/>
          </a:xfrm>
          <a:prstGeom prst="rect">
            <a:avLst/>
          </a:prstGeom>
          <a:solidFill>
            <a:srgbClr val="D5E8D4">
              <a:alpha val="68000"/>
            </a:srgbClr>
          </a:solidFill>
          <a:ln w="349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469C5F02-1A24-AB32-FBBF-FDC7C3DB06A1}"/>
              </a:ext>
            </a:extLst>
          </p:cNvPr>
          <p:cNvPicPr>
            <a:picLocks noChangeAspect="1"/>
          </p:cNvPicPr>
          <p:nvPr/>
        </p:nvPicPr>
        <p:blipFill>
          <a:blip r:embed="rId30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4272" y="865754"/>
            <a:ext cx="6249169" cy="6249169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485775" y="374650"/>
            <a:ext cx="2886075" cy="551815"/>
            <a:chOff x="449" y="450"/>
            <a:chExt cx="4545" cy="869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Memory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架构图</a:t>
              </a:r>
            </a:p>
          </p:txBody>
        </p:sp>
      </p:grpSp>
      <p:grpSp>
        <p:nvGrpSpPr>
          <p:cNvPr id="83" name="组合 82"/>
          <p:cNvGrpSpPr/>
          <p:nvPr>
            <p:custDataLst>
              <p:tags r:id="rId1"/>
            </p:custDataLst>
          </p:nvPr>
        </p:nvGrpSpPr>
        <p:grpSpPr>
          <a:xfrm>
            <a:off x="554355" y="1994535"/>
            <a:ext cx="3072765" cy="2509205"/>
            <a:chOff x="6832" y="2455"/>
            <a:chExt cx="4259" cy="2642"/>
          </a:xfrm>
        </p:grpSpPr>
        <p:sp>
          <p:nvSpPr>
            <p:cNvPr id="115" name="矩形 114"/>
            <p:cNvSpPr/>
            <p:nvPr>
              <p:custDataLst>
                <p:tags r:id="rId23"/>
              </p:custDataLst>
            </p:nvPr>
          </p:nvSpPr>
          <p:spPr>
            <a:xfrm>
              <a:off x="7042" y="2944"/>
              <a:ext cx="3837" cy="2043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3" name="矩形 122"/>
            <p:cNvSpPr/>
            <p:nvPr>
              <p:custDataLst>
                <p:tags r:id="rId24"/>
              </p:custDataLst>
            </p:nvPr>
          </p:nvSpPr>
          <p:spPr>
            <a:xfrm>
              <a:off x="6832" y="2798"/>
              <a:ext cx="4259" cy="2299"/>
            </a:xfrm>
            <a:prstGeom prst="rect">
              <a:avLst/>
            </a:prstGeom>
            <a:noFill/>
            <a:ln w="25400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4" name="矩形 123"/>
            <p:cNvSpPr/>
            <p:nvPr>
              <p:custDataLst>
                <p:tags r:id="rId25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1600" b="1" kern="0" dirty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rPr>
                <a:t>Memory </a:t>
              </a:r>
              <a:r>
                <a:rPr lang="zh-CN" altLang="en-US" sz="1600" b="1" kern="0" dirty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rPr>
                <a:t>模块</a:t>
              </a:r>
              <a:r>
                <a:rPr lang="en-US" altLang="zh-CN" sz="1600" b="1" kern="0" dirty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rPr>
                <a:t> </a:t>
              </a:r>
            </a:p>
          </p:txBody>
        </p:sp>
        <p:sp>
          <p:nvSpPr>
            <p:cNvPr id="125" name="文本框 124"/>
            <p:cNvSpPr txBox="1"/>
            <p:nvPr>
              <p:custDataLst>
                <p:tags r:id="rId26"/>
              </p:custDataLst>
            </p:nvPr>
          </p:nvSpPr>
          <p:spPr>
            <a:xfrm>
              <a:off x="7187" y="3161"/>
              <a:ext cx="3547" cy="327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后端记忆存储引擎</a:t>
              </a:r>
            </a:p>
          </p:txBody>
        </p:sp>
        <p:sp>
          <p:nvSpPr>
            <p:cNvPr id="126" name="文本框 125"/>
            <p:cNvSpPr txBox="1"/>
            <p:nvPr>
              <p:custDataLst>
                <p:tags r:id="rId27"/>
              </p:custDataLst>
            </p:nvPr>
          </p:nvSpPr>
          <p:spPr>
            <a:xfrm>
              <a:off x="7187" y="4002"/>
              <a:ext cx="3550" cy="773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结构化数据：患者画像、血糖记录、用药方案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向量数据：对话嵌入、语义检索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12396" y="3099622"/>
            <a:ext cx="2559321" cy="246389"/>
          </a:xfrm>
          <a:prstGeom prst="rect">
            <a:avLst/>
          </a:prstGeom>
          <a:solidFill>
            <a:srgbClr val="186A8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SQLite +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向量索引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(sqlite-vec)</a:t>
            </a: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4839595" y="1994326"/>
            <a:ext cx="3401036" cy="2509205"/>
            <a:chOff x="6578" y="2416"/>
            <a:chExt cx="4714" cy="2642"/>
          </a:xfrm>
        </p:grpSpPr>
        <p:sp>
          <p:nvSpPr>
            <p:cNvPr id="5" name="矩形 4"/>
            <p:cNvSpPr/>
            <p:nvPr>
              <p:custDataLst>
                <p:tags r:id="rId18"/>
              </p:custDataLst>
            </p:nvPr>
          </p:nvSpPr>
          <p:spPr>
            <a:xfrm>
              <a:off x="6720" y="2942"/>
              <a:ext cx="4387" cy="2043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19"/>
              </p:custDataLst>
            </p:nvPr>
          </p:nvSpPr>
          <p:spPr>
            <a:xfrm>
              <a:off x="6578" y="2759"/>
              <a:ext cx="4714" cy="2299"/>
            </a:xfrm>
            <a:prstGeom prst="rect">
              <a:avLst/>
            </a:prstGeom>
            <a:noFill/>
            <a:ln w="25400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20"/>
              </p:custDataLst>
            </p:nvPr>
          </p:nvSpPr>
          <p:spPr>
            <a:xfrm>
              <a:off x="7437" y="2416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1600" b="1" kern="0" dirty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rPr>
                <a:t>Memory actor </a:t>
              </a:r>
            </a:p>
          </p:txBody>
        </p:sp>
        <p:sp>
          <p:nvSpPr>
            <p:cNvPr id="8" name="文本框 7"/>
            <p:cNvSpPr txBox="1"/>
            <p:nvPr>
              <p:custDataLst>
                <p:tags r:id="rId21"/>
              </p:custDataLst>
            </p:nvPr>
          </p:nvSpPr>
          <p:spPr>
            <a:xfrm>
              <a:off x="6999" y="3161"/>
              <a:ext cx="3939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桥接层</a:t>
              </a:r>
            </a:p>
          </p:txBody>
        </p:sp>
        <p:sp>
          <p:nvSpPr>
            <p:cNvPr id="15" name="文本框 14"/>
            <p:cNvSpPr txBox="1"/>
            <p:nvPr>
              <p:custDataLst>
                <p:tags r:id="rId22"/>
              </p:custDataLst>
            </p:nvPr>
          </p:nvSpPr>
          <p:spPr>
            <a:xfrm>
              <a:off x="6999" y="3993"/>
              <a:ext cx="3939" cy="773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结构化数据：患者画像、血糖记录、用药方案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向量数据：对话嵌入、语义检索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143336" y="3134360"/>
            <a:ext cx="2841892" cy="280035"/>
          </a:xfrm>
          <a:prstGeom prst="rect">
            <a:avLst/>
          </a:prstGeom>
          <a:solidFill>
            <a:srgbClr val="186A8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唯一与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Memory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模块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交互的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actor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9452610" y="1322070"/>
            <a:ext cx="2593975" cy="4198620"/>
            <a:chOff x="14673" y="2082"/>
            <a:chExt cx="4085" cy="6612"/>
          </a:xfrm>
        </p:grpSpPr>
        <p:grpSp>
          <p:nvGrpSpPr>
            <p:cNvPr id="18" name="组合 17"/>
            <p:cNvGrpSpPr/>
            <p:nvPr>
              <p:custDataLst>
                <p:tags r:id="rId3"/>
              </p:custDataLst>
            </p:nvPr>
          </p:nvGrpSpPr>
          <p:grpSpPr>
            <a:xfrm>
              <a:off x="14888" y="2253"/>
              <a:ext cx="3680" cy="1481"/>
              <a:chOff x="6832" y="2455"/>
              <a:chExt cx="4259" cy="1440"/>
            </a:xfrm>
          </p:grpSpPr>
          <p:sp>
            <p:nvSpPr>
              <p:cNvPr id="19" name="矩形 18"/>
              <p:cNvSpPr/>
              <p:nvPr>
                <p:custDataLst>
                  <p:tags r:id="rId14"/>
                </p:custDataLst>
              </p:nvPr>
            </p:nvSpPr>
            <p:spPr>
              <a:xfrm>
                <a:off x="7035" y="2968"/>
                <a:ext cx="3837" cy="766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15"/>
                </p:custDataLst>
              </p:nvPr>
            </p:nvSpPr>
            <p:spPr>
              <a:xfrm>
                <a:off x="6832" y="2798"/>
                <a:ext cx="4259" cy="1097"/>
              </a:xfrm>
              <a:prstGeom prst="rect">
                <a:avLst/>
              </a:prstGeom>
              <a:noFill/>
              <a:ln w="25400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1" name="矩形 20"/>
              <p:cNvSpPr/>
              <p:nvPr>
                <p:custDataLst>
                  <p:tags r:id="rId16"/>
                </p:custDataLst>
              </p:nvPr>
            </p:nvSpPr>
            <p:spPr>
              <a:xfrm>
                <a:off x="7447" y="2455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400" b="1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rPr>
                  <a:t>短期记忆</a:t>
                </a:r>
                <a:r>
                  <a:rPr lang="en-US" altLang="zh-CN" sz="1400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rPr>
                  <a:t> </a:t>
                </a:r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7447" y="3161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TTL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：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1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小时</a:t>
                </a:r>
              </a:p>
            </p:txBody>
          </p:sp>
        </p:grpSp>
        <p:grpSp>
          <p:nvGrpSpPr>
            <p:cNvPr id="36" name="组合 35"/>
            <p:cNvGrpSpPr/>
            <p:nvPr>
              <p:custDataLst>
                <p:tags r:id="rId4"/>
              </p:custDataLst>
            </p:nvPr>
          </p:nvGrpSpPr>
          <p:grpSpPr>
            <a:xfrm>
              <a:off x="14888" y="4613"/>
              <a:ext cx="3680" cy="1481"/>
              <a:chOff x="6832" y="2455"/>
              <a:chExt cx="4259" cy="1440"/>
            </a:xfrm>
          </p:grpSpPr>
          <p:sp>
            <p:nvSpPr>
              <p:cNvPr id="37" name="矩形 36"/>
              <p:cNvSpPr/>
              <p:nvPr>
                <p:custDataLst>
                  <p:tags r:id="rId10"/>
                </p:custDataLst>
              </p:nvPr>
            </p:nvSpPr>
            <p:spPr>
              <a:xfrm>
                <a:off x="7035" y="2968"/>
                <a:ext cx="3837" cy="766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>
                <p:custDataLst>
                  <p:tags r:id="rId11"/>
                </p:custDataLst>
              </p:nvPr>
            </p:nvSpPr>
            <p:spPr>
              <a:xfrm>
                <a:off x="6832" y="2798"/>
                <a:ext cx="4259" cy="1097"/>
              </a:xfrm>
              <a:prstGeom prst="rect">
                <a:avLst/>
              </a:prstGeom>
              <a:noFill/>
              <a:ln w="25400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9" name="矩形 38"/>
              <p:cNvSpPr/>
              <p:nvPr>
                <p:custDataLst>
                  <p:tags r:id="rId12"/>
                </p:custDataLst>
              </p:nvPr>
            </p:nvSpPr>
            <p:spPr>
              <a:xfrm>
                <a:off x="7447" y="2455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400" b="1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rPr>
                  <a:t>中期记忆</a:t>
                </a:r>
                <a:r>
                  <a:rPr lang="en-US" altLang="zh-CN" sz="1400" b="1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rPr>
                  <a:t> </a:t>
                </a:r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447" y="3161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TTL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：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30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小时</a:t>
                </a:r>
              </a:p>
            </p:txBody>
          </p:sp>
        </p:grpSp>
        <p:grpSp>
          <p:nvGrpSpPr>
            <p:cNvPr id="41" name="组合 40"/>
            <p:cNvGrpSpPr/>
            <p:nvPr>
              <p:custDataLst>
                <p:tags r:id="rId5"/>
              </p:custDataLst>
            </p:nvPr>
          </p:nvGrpSpPr>
          <p:grpSpPr>
            <a:xfrm>
              <a:off x="14888" y="6885"/>
              <a:ext cx="3680" cy="1522"/>
              <a:chOff x="6832" y="2415"/>
              <a:chExt cx="4259" cy="1480"/>
            </a:xfrm>
          </p:grpSpPr>
          <p:sp>
            <p:nvSpPr>
              <p:cNvPr id="42" name="矩形 41"/>
              <p:cNvSpPr/>
              <p:nvPr>
                <p:custDataLst>
                  <p:tags r:id="rId6"/>
                </p:custDataLst>
              </p:nvPr>
            </p:nvSpPr>
            <p:spPr>
              <a:xfrm>
                <a:off x="7035" y="2968"/>
                <a:ext cx="3837" cy="766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6" name="矩形 45"/>
              <p:cNvSpPr/>
              <p:nvPr>
                <p:custDataLst>
                  <p:tags r:id="rId7"/>
                </p:custDataLst>
              </p:nvPr>
            </p:nvSpPr>
            <p:spPr>
              <a:xfrm>
                <a:off x="6832" y="2798"/>
                <a:ext cx="4259" cy="1097"/>
              </a:xfrm>
              <a:prstGeom prst="rect">
                <a:avLst/>
              </a:prstGeom>
              <a:noFill/>
              <a:ln w="25400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53" name="矩形 52"/>
              <p:cNvSpPr/>
              <p:nvPr>
                <p:custDataLst>
                  <p:tags r:id="rId8"/>
                </p:custDataLst>
              </p:nvPr>
            </p:nvSpPr>
            <p:spPr>
              <a:xfrm>
                <a:off x="7447" y="2415"/>
                <a:ext cx="2952" cy="42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400" b="1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rPr>
                  <a:t>长期记忆</a:t>
                </a:r>
                <a:r>
                  <a:rPr lang="en-US" altLang="zh-CN" sz="1400" b="1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rPr>
                  <a:t> </a:t>
                </a:r>
              </a:p>
            </p:txBody>
          </p:sp>
          <p:sp>
            <p:nvSpPr>
              <p:cNvPr id="61" name="文本框 6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447" y="3161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永久存储</a:t>
                </a:r>
              </a:p>
            </p:txBody>
          </p:sp>
        </p:grpSp>
        <p:sp>
          <p:nvSpPr>
            <p:cNvPr id="101" name="矩形 100"/>
            <p:cNvSpPr/>
            <p:nvPr/>
          </p:nvSpPr>
          <p:spPr>
            <a:xfrm>
              <a:off x="14673" y="2082"/>
              <a:ext cx="4085" cy="6612"/>
            </a:xfrm>
            <a:prstGeom prst="rect">
              <a:avLst/>
            </a:prstGeom>
            <a:noFill/>
            <a:ln w="25400" cap="flat" cmpd="sng" algn="ctr">
              <a:solidFill>
                <a:srgbClr val="F989A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" name="右箭头 97">
            <a:extLst>
              <a:ext uri="{FF2B5EF4-FFF2-40B4-BE49-F238E27FC236}">
                <a16:creationId xmlns:a16="http://schemas.microsoft.com/office/drawing/2014/main" id="{DB412EB2-9AC0-D738-27A0-4044A0A22D6E}"/>
              </a:ext>
            </a:extLst>
          </p:cNvPr>
          <p:cNvSpPr/>
          <p:nvPr/>
        </p:nvSpPr>
        <p:spPr>
          <a:xfrm>
            <a:off x="3926443" y="3152018"/>
            <a:ext cx="620395" cy="3879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3" name="右箭头 97">
            <a:extLst>
              <a:ext uri="{FF2B5EF4-FFF2-40B4-BE49-F238E27FC236}">
                <a16:creationId xmlns:a16="http://schemas.microsoft.com/office/drawing/2014/main" id="{85607F8C-C747-EB27-1DB7-2EB75ADA0A85}"/>
              </a:ext>
            </a:extLst>
          </p:cNvPr>
          <p:cNvSpPr/>
          <p:nvPr/>
        </p:nvSpPr>
        <p:spPr>
          <a:xfrm>
            <a:off x="8595235" y="3123490"/>
            <a:ext cx="620395" cy="3879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BFA5F19-FD52-6E05-90B4-7C1A4C4CE79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404" y="5520689"/>
            <a:ext cx="1420487" cy="1420487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041D6CC1-0248-38AF-D630-BAFFA383AB85}"/>
              </a:ext>
            </a:extLst>
          </p:cNvPr>
          <p:cNvGrpSpPr/>
          <p:nvPr/>
        </p:nvGrpSpPr>
        <p:grpSpPr>
          <a:xfrm rot="5400000">
            <a:off x="7082453" y="6171400"/>
            <a:ext cx="3047413" cy="900000"/>
            <a:chOff x="4244551" y="1792911"/>
            <a:chExt cx="3047413" cy="900000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F188FDB-CCB6-8017-E29B-B4115D5C55EE}"/>
                </a:ext>
              </a:extLst>
            </p:cNvPr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47BF4E55-3F8B-9C50-C0BF-6A7AFCB09F85}"/>
                </a:ext>
              </a:extLst>
            </p:cNvPr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74A3BF6D-135F-C8D5-AE05-534235C2737F}"/>
              </a:ext>
            </a:extLst>
          </p:cNvPr>
          <p:cNvSpPr txBox="1"/>
          <p:nvPr/>
        </p:nvSpPr>
        <p:spPr>
          <a:xfrm>
            <a:off x="8165888" y="5435491"/>
            <a:ext cx="11878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记忆模块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4461AB5-7F80-4497-52F0-45C0D7CC24F5}"/>
              </a:ext>
            </a:extLst>
          </p:cNvPr>
          <p:cNvGrpSpPr/>
          <p:nvPr/>
        </p:nvGrpSpPr>
        <p:grpSpPr>
          <a:xfrm>
            <a:off x="779286" y="6207481"/>
            <a:ext cx="539467" cy="539467"/>
            <a:chOff x="5169988" y="2277563"/>
            <a:chExt cx="1800000" cy="1800000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8B55A485-4A37-7154-19AF-8BDBAADD9249}"/>
                </a:ext>
              </a:extLst>
            </p:cNvPr>
            <p:cNvSpPr/>
            <p:nvPr/>
          </p:nvSpPr>
          <p:spPr>
            <a:xfrm>
              <a:off x="5169988" y="2277563"/>
              <a:ext cx="1800000" cy="1800000"/>
            </a:xfrm>
            <a:prstGeom prst="ellipse">
              <a:avLst/>
            </a:prstGeom>
            <a:noFill/>
            <a:ln w="31750" cap="flat" cmpd="sng" algn="ctr">
              <a:solidFill>
                <a:srgbClr val="80508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等腰三角形 50">
              <a:extLst>
                <a:ext uri="{FF2B5EF4-FFF2-40B4-BE49-F238E27FC236}">
                  <a16:creationId xmlns:a16="http://schemas.microsoft.com/office/drawing/2014/main" id="{60A41FE1-2685-56CD-5EF1-FEC3BB06F0F6}"/>
                </a:ext>
              </a:extLst>
            </p:cNvPr>
            <p:cNvSpPr/>
            <p:nvPr/>
          </p:nvSpPr>
          <p:spPr>
            <a:xfrm flipV="1">
              <a:off x="5449888" y="3100388"/>
              <a:ext cx="1219200" cy="514350"/>
            </a:xfrm>
            <a:prstGeom prst="triangle">
              <a:avLst>
                <a:gd name="adj" fmla="val 64063"/>
              </a:avLst>
            </a:prstGeom>
            <a:noFill/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6E90D456-F5D8-4245-927A-2FB34BA1FCBC}"/>
                </a:ext>
              </a:extLst>
            </p:cNvPr>
            <p:cNvSpPr/>
            <p:nvPr/>
          </p:nvSpPr>
          <p:spPr>
            <a:xfrm>
              <a:off x="6629400" y="3067050"/>
              <a:ext cx="108000" cy="108000"/>
            </a:xfrm>
            <a:prstGeom prst="ellipse">
              <a:avLst/>
            </a:prstGeom>
            <a:solidFill>
              <a:srgbClr val="FF84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BD49ADB1-F0FA-601E-4142-111928FC148D}"/>
                </a:ext>
              </a:extLst>
            </p:cNvPr>
            <p:cNvSpPr/>
            <p:nvPr/>
          </p:nvSpPr>
          <p:spPr>
            <a:xfrm>
              <a:off x="6172200" y="35623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DD03D26D-157B-88DA-8EAE-53F17572F889}"/>
                </a:ext>
              </a:extLst>
            </p:cNvPr>
            <p:cNvSpPr/>
            <p:nvPr/>
          </p:nvSpPr>
          <p:spPr>
            <a:xfrm>
              <a:off x="5410200" y="30670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BF774024-B5D1-430A-3888-EF5B423ED15B}"/>
              </a:ext>
            </a:extLst>
          </p:cNvPr>
          <p:cNvGrpSpPr/>
          <p:nvPr/>
        </p:nvGrpSpPr>
        <p:grpSpPr>
          <a:xfrm>
            <a:off x="3809690" y="5569319"/>
            <a:ext cx="1184831" cy="1184831"/>
            <a:chOff x="1931488" y="2277563"/>
            <a:chExt cx="1800000" cy="1800000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C346BF90-E461-60BE-9A69-2D17668D6EF7}"/>
                </a:ext>
              </a:extLst>
            </p:cNvPr>
            <p:cNvSpPr/>
            <p:nvPr/>
          </p:nvSpPr>
          <p:spPr>
            <a:xfrm>
              <a:off x="1931488" y="2277563"/>
              <a:ext cx="1800000" cy="1800000"/>
            </a:xfrm>
            <a:prstGeom prst="ellipse">
              <a:avLst/>
            </a:prstGeom>
            <a:noFill/>
            <a:ln w="25400">
              <a:solidFill>
                <a:srgbClr val="8050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B355F86C-5215-74E2-38B8-D29DCC4396F8}"/>
                </a:ext>
              </a:extLst>
            </p:cNvPr>
            <p:cNvCxnSpPr/>
            <p:nvPr/>
          </p:nvCxnSpPr>
          <p:spPr>
            <a:xfrm>
              <a:off x="2552700" y="2876550"/>
              <a:ext cx="609600" cy="6667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96B861A0-5269-8737-671D-E7D479D058AA}"/>
                </a:ext>
              </a:extLst>
            </p:cNvPr>
            <p:cNvSpPr/>
            <p:nvPr/>
          </p:nvSpPr>
          <p:spPr>
            <a:xfrm>
              <a:off x="2533650" y="2838450"/>
              <a:ext cx="108000" cy="108000"/>
            </a:xfrm>
            <a:prstGeom prst="ellipse">
              <a:avLst/>
            </a:prstGeom>
            <a:solidFill>
              <a:srgbClr val="FF84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0716C6A4-A0FA-AB58-9B89-49E0497F968B}"/>
                </a:ext>
              </a:extLst>
            </p:cNvPr>
            <p:cNvSpPr/>
            <p:nvPr/>
          </p:nvSpPr>
          <p:spPr>
            <a:xfrm>
              <a:off x="3085281" y="3457165"/>
              <a:ext cx="108000" cy="108000"/>
            </a:xfrm>
            <a:prstGeom prst="ellipse">
              <a:avLst/>
            </a:prstGeom>
            <a:solidFill>
              <a:srgbClr val="42A9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700BAD60-90B9-A1CB-9861-84D9A9682210}"/>
              </a:ext>
            </a:extLst>
          </p:cNvPr>
          <p:cNvGrpSpPr/>
          <p:nvPr/>
        </p:nvGrpSpPr>
        <p:grpSpPr>
          <a:xfrm>
            <a:off x="10068261" y="6207481"/>
            <a:ext cx="580118" cy="580118"/>
            <a:chOff x="8408488" y="2277563"/>
            <a:chExt cx="1800000" cy="1800000"/>
          </a:xfrm>
        </p:grpSpPr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475E63D2-D55D-BC9D-CDC1-226398104254}"/>
                </a:ext>
              </a:extLst>
            </p:cNvPr>
            <p:cNvSpPr/>
            <p:nvPr/>
          </p:nvSpPr>
          <p:spPr>
            <a:xfrm>
              <a:off x="8408488" y="2277563"/>
              <a:ext cx="1800000" cy="1800000"/>
            </a:xfrm>
            <a:prstGeom prst="ellipse">
              <a:avLst/>
            </a:prstGeom>
            <a:noFill/>
            <a:ln w="25400">
              <a:solidFill>
                <a:srgbClr val="8050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2561F54D-0192-8CEE-C321-04CF8943EA94}"/>
                </a:ext>
              </a:extLst>
            </p:cNvPr>
            <p:cNvGrpSpPr/>
            <p:nvPr/>
          </p:nvGrpSpPr>
          <p:grpSpPr>
            <a:xfrm>
              <a:off x="8686800" y="3047999"/>
              <a:ext cx="1238250" cy="309564"/>
              <a:chOff x="8763000" y="3048000"/>
              <a:chExt cx="1238250" cy="309564"/>
            </a:xfrm>
          </p:grpSpPr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9FDC1C7B-1475-5339-4C66-F318C4B1D9C2}"/>
                  </a:ext>
                </a:extLst>
              </p:cNvPr>
              <p:cNvCxnSpPr/>
              <p:nvPr/>
            </p:nvCxnSpPr>
            <p:spPr>
              <a:xfrm>
                <a:off x="9144000" y="3048000"/>
                <a:ext cx="628650" cy="309563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751EBE0D-D3A1-7A89-27B3-CA63E5DCE205}"/>
                  </a:ext>
                </a:extLst>
              </p:cNvPr>
              <p:cNvCxnSpPr/>
              <p:nvPr/>
            </p:nvCxnSpPr>
            <p:spPr>
              <a:xfrm flipV="1">
                <a:off x="8763000" y="3048001"/>
                <a:ext cx="400050" cy="15239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E7E0A822-B692-28B3-9D72-ADE2D03D0710}"/>
                  </a:ext>
                </a:extLst>
              </p:cNvPr>
              <p:cNvCxnSpPr/>
              <p:nvPr/>
            </p:nvCxnSpPr>
            <p:spPr>
              <a:xfrm flipV="1">
                <a:off x="9772650" y="3086100"/>
                <a:ext cx="228600" cy="271464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DB05C18C-5995-CC07-DE7B-25DADB4688E2}"/>
                </a:ext>
              </a:extLst>
            </p:cNvPr>
            <p:cNvSpPr/>
            <p:nvPr/>
          </p:nvSpPr>
          <p:spPr>
            <a:xfrm>
              <a:off x="9029700" y="3009900"/>
              <a:ext cx="108000" cy="108000"/>
            </a:xfrm>
            <a:prstGeom prst="ellipse">
              <a:avLst/>
            </a:prstGeom>
            <a:solidFill>
              <a:srgbClr val="FF84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0A5B0C05-0C8E-3FD0-0DF6-5ED5D0CD29E2}"/>
                </a:ext>
              </a:extLst>
            </p:cNvPr>
            <p:cNvSpPr/>
            <p:nvPr/>
          </p:nvSpPr>
          <p:spPr>
            <a:xfrm>
              <a:off x="8648700" y="316230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EA74DB4B-BA77-196B-3B25-9D990A2AC2DD}"/>
                </a:ext>
              </a:extLst>
            </p:cNvPr>
            <p:cNvSpPr/>
            <p:nvPr/>
          </p:nvSpPr>
          <p:spPr>
            <a:xfrm>
              <a:off x="9639300" y="331470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31FD477B-4549-D9DC-905E-4F73D64E0C2E}"/>
                </a:ext>
              </a:extLst>
            </p:cNvPr>
            <p:cNvSpPr/>
            <p:nvPr/>
          </p:nvSpPr>
          <p:spPr>
            <a:xfrm>
              <a:off x="9906000" y="302895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B6E52584-CC9F-3F96-621B-53EDF1E1C3E5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1602" y="5821765"/>
            <a:ext cx="998063" cy="9251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0">
            <a:extLst>
              <a:ext uri="{FF2B5EF4-FFF2-40B4-BE49-F238E27FC236}">
                <a16:creationId xmlns:a16="http://schemas.microsoft.com/office/drawing/2014/main" id="{EFBBE1FE-A4BE-0E0D-9190-EFBA8FE2B356}"/>
              </a:ext>
            </a:extLst>
          </p:cNvPr>
          <p:cNvSpPr/>
          <p:nvPr/>
        </p:nvSpPr>
        <p:spPr>
          <a:xfrm>
            <a:off x="0" y="5117382"/>
            <a:ext cx="11344233" cy="1414016"/>
          </a:xfrm>
          <a:prstGeom prst="rect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AF47B786-20FF-3045-28B2-A7BEDFA57C7E}"/>
              </a:ext>
            </a:extLst>
          </p:cNvPr>
          <p:cNvSpPr/>
          <p:nvPr/>
        </p:nvSpPr>
        <p:spPr>
          <a:xfrm>
            <a:off x="891822" y="5858932"/>
            <a:ext cx="10442222" cy="519289"/>
          </a:xfrm>
          <a:custGeom>
            <a:avLst/>
            <a:gdLst>
              <a:gd name="connsiteX0" fmla="*/ 0 w 10408356"/>
              <a:gd name="connsiteY0" fmla="*/ 79023 h 530578"/>
              <a:gd name="connsiteX1" fmla="*/ 1501422 w 10408356"/>
              <a:gd name="connsiteY1" fmla="*/ 530578 h 530578"/>
              <a:gd name="connsiteX2" fmla="*/ 3172178 w 10408356"/>
              <a:gd name="connsiteY2" fmla="*/ 519289 h 530578"/>
              <a:gd name="connsiteX3" fmla="*/ 4707467 w 10408356"/>
              <a:gd name="connsiteY3" fmla="*/ 180623 h 530578"/>
              <a:gd name="connsiteX4" fmla="*/ 6310489 w 10408356"/>
              <a:gd name="connsiteY4" fmla="*/ 259645 h 530578"/>
              <a:gd name="connsiteX5" fmla="*/ 7924800 w 10408356"/>
              <a:gd name="connsiteY5" fmla="*/ 112889 h 530578"/>
              <a:gd name="connsiteX6" fmla="*/ 9302045 w 10408356"/>
              <a:gd name="connsiteY6" fmla="*/ 0 h 530578"/>
              <a:gd name="connsiteX7" fmla="*/ 10408356 w 10408356"/>
              <a:gd name="connsiteY7" fmla="*/ 327378 h 530578"/>
              <a:gd name="connsiteX0" fmla="*/ 0 w 10408356"/>
              <a:gd name="connsiteY0" fmla="*/ 180623 h 620889"/>
              <a:gd name="connsiteX1" fmla="*/ 1478844 w 10408356"/>
              <a:gd name="connsiteY1" fmla="*/ 0 h 620889"/>
              <a:gd name="connsiteX2" fmla="*/ 3172178 w 10408356"/>
              <a:gd name="connsiteY2" fmla="*/ 620889 h 620889"/>
              <a:gd name="connsiteX3" fmla="*/ 4707467 w 10408356"/>
              <a:gd name="connsiteY3" fmla="*/ 282223 h 620889"/>
              <a:gd name="connsiteX4" fmla="*/ 6310489 w 10408356"/>
              <a:gd name="connsiteY4" fmla="*/ 361245 h 620889"/>
              <a:gd name="connsiteX5" fmla="*/ 7924800 w 10408356"/>
              <a:gd name="connsiteY5" fmla="*/ 214489 h 620889"/>
              <a:gd name="connsiteX6" fmla="*/ 9302045 w 10408356"/>
              <a:gd name="connsiteY6" fmla="*/ 101600 h 620889"/>
              <a:gd name="connsiteX7" fmla="*/ 10408356 w 10408356"/>
              <a:gd name="connsiteY7" fmla="*/ 428978 h 620889"/>
              <a:gd name="connsiteX0" fmla="*/ 0 w 10408356"/>
              <a:gd name="connsiteY0" fmla="*/ 79023 h 519289"/>
              <a:gd name="connsiteX1" fmla="*/ 1478844 w 10408356"/>
              <a:gd name="connsiteY1" fmla="*/ 180623 h 519289"/>
              <a:gd name="connsiteX2" fmla="*/ 3172178 w 10408356"/>
              <a:gd name="connsiteY2" fmla="*/ 519289 h 519289"/>
              <a:gd name="connsiteX3" fmla="*/ 4707467 w 10408356"/>
              <a:gd name="connsiteY3" fmla="*/ 180623 h 519289"/>
              <a:gd name="connsiteX4" fmla="*/ 6310489 w 10408356"/>
              <a:gd name="connsiteY4" fmla="*/ 259645 h 519289"/>
              <a:gd name="connsiteX5" fmla="*/ 7924800 w 10408356"/>
              <a:gd name="connsiteY5" fmla="*/ 112889 h 519289"/>
              <a:gd name="connsiteX6" fmla="*/ 9302045 w 10408356"/>
              <a:gd name="connsiteY6" fmla="*/ 0 h 519289"/>
              <a:gd name="connsiteX7" fmla="*/ 10408356 w 10408356"/>
              <a:gd name="connsiteY7" fmla="*/ 327378 h 519289"/>
              <a:gd name="connsiteX0" fmla="*/ 0 w 10408356"/>
              <a:gd name="connsiteY0" fmla="*/ 79023 h 519289"/>
              <a:gd name="connsiteX1" fmla="*/ 1478844 w 10408356"/>
              <a:gd name="connsiteY1" fmla="*/ 180623 h 519289"/>
              <a:gd name="connsiteX2" fmla="*/ 3172178 w 10408356"/>
              <a:gd name="connsiteY2" fmla="*/ 519289 h 519289"/>
              <a:gd name="connsiteX3" fmla="*/ 4673600 w 10408356"/>
              <a:gd name="connsiteY3" fmla="*/ 22578 h 519289"/>
              <a:gd name="connsiteX4" fmla="*/ 6310489 w 10408356"/>
              <a:gd name="connsiteY4" fmla="*/ 259645 h 519289"/>
              <a:gd name="connsiteX5" fmla="*/ 7924800 w 10408356"/>
              <a:gd name="connsiteY5" fmla="*/ 112889 h 519289"/>
              <a:gd name="connsiteX6" fmla="*/ 9302045 w 10408356"/>
              <a:gd name="connsiteY6" fmla="*/ 0 h 519289"/>
              <a:gd name="connsiteX7" fmla="*/ 10408356 w 10408356"/>
              <a:gd name="connsiteY7" fmla="*/ 327378 h 519289"/>
              <a:gd name="connsiteX0" fmla="*/ 0 w 10408356"/>
              <a:gd name="connsiteY0" fmla="*/ 79023 h 519289"/>
              <a:gd name="connsiteX1" fmla="*/ 1478844 w 10408356"/>
              <a:gd name="connsiteY1" fmla="*/ 180623 h 519289"/>
              <a:gd name="connsiteX2" fmla="*/ 3172178 w 10408356"/>
              <a:gd name="connsiteY2" fmla="*/ 519289 h 519289"/>
              <a:gd name="connsiteX3" fmla="*/ 4673600 w 10408356"/>
              <a:gd name="connsiteY3" fmla="*/ 22578 h 519289"/>
              <a:gd name="connsiteX4" fmla="*/ 6265333 w 10408356"/>
              <a:gd name="connsiteY4" fmla="*/ 158045 h 519289"/>
              <a:gd name="connsiteX5" fmla="*/ 7924800 w 10408356"/>
              <a:gd name="connsiteY5" fmla="*/ 112889 h 519289"/>
              <a:gd name="connsiteX6" fmla="*/ 9302045 w 10408356"/>
              <a:gd name="connsiteY6" fmla="*/ 0 h 519289"/>
              <a:gd name="connsiteX7" fmla="*/ 10408356 w 10408356"/>
              <a:gd name="connsiteY7" fmla="*/ 327378 h 519289"/>
              <a:gd name="connsiteX0" fmla="*/ 0 w 10408356"/>
              <a:gd name="connsiteY0" fmla="*/ 79023 h 519289"/>
              <a:gd name="connsiteX1" fmla="*/ 1478844 w 10408356"/>
              <a:gd name="connsiteY1" fmla="*/ 180623 h 519289"/>
              <a:gd name="connsiteX2" fmla="*/ 3172178 w 10408356"/>
              <a:gd name="connsiteY2" fmla="*/ 519289 h 519289"/>
              <a:gd name="connsiteX3" fmla="*/ 4673600 w 10408356"/>
              <a:gd name="connsiteY3" fmla="*/ 22578 h 519289"/>
              <a:gd name="connsiteX4" fmla="*/ 6265333 w 10408356"/>
              <a:gd name="connsiteY4" fmla="*/ 158045 h 519289"/>
              <a:gd name="connsiteX5" fmla="*/ 7902223 w 10408356"/>
              <a:gd name="connsiteY5" fmla="*/ 67734 h 519289"/>
              <a:gd name="connsiteX6" fmla="*/ 9302045 w 10408356"/>
              <a:gd name="connsiteY6" fmla="*/ 0 h 519289"/>
              <a:gd name="connsiteX7" fmla="*/ 10408356 w 10408356"/>
              <a:gd name="connsiteY7" fmla="*/ 327378 h 519289"/>
              <a:gd name="connsiteX0" fmla="*/ 0 w 10408356"/>
              <a:gd name="connsiteY0" fmla="*/ 79023 h 519289"/>
              <a:gd name="connsiteX1" fmla="*/ 1478844 w 10408356"/>
              <a:gd name="connsiteY1" fmla="*/ 180623 h 519289"/>
              <a:gd name="connsiteX2" fmla="*/ 3172178 w 10408356"/>
              <a:gd name="connsiteY2" fmla="*/ 519289 h 519289"/>
              <a:gd name="connsiteX3" fmla="*/ 4673600 w 10408356"/>
              <a:gd name="connsiteY3" fmla="*/ 22578 h 519289"/>
              <a:gd name="connsiteX4" fmla="*/ 6299200 w 10408356"/>
              <a:gd name="connsiteY4" fmla="*/ 225778 h 519289"/>
              <a:gd name="connsiteX5" fmla="*/ 7902223 w 10408356"/>
              <a:gd name="connsiteY5" fmla="*/ 67734 h 519289"/>
              <a:gd name="connsiteX6" fmla="*/ 9302045 w 10408356"/>
              <a:gd name="connsiteY6" fmla="*/ 0 h 519289"/>
              <a:gd name="connsiteX7" fmla="*/ 10408356 w 10408356"/>
              <a:gd name="connsiteY7" fmla="*/ 327378 h 519289"/>
              <a:gd name="connsiteX0" fmla="*/ 0 w 10408356"/>
              <a:gd name="connsiteY0" fmla="*/ 79023 h 519289"/>
              <a:gd name="connsiteX1" fmla="*/ 1478844 w 10408356"/>
              <a:gd name="connsiteY1" fmla="*/ 180623 h 519289"/>
              <a:gd name="connsiteX2" fmla="*/ 3172178 w 10408356"/>
              <a:gd name="connsiteY2" fmla="*/ 519289 h 519289"/>
              <a:gd name="connsiteX3" fmla="*/ 4673600 w 10408356"/>
              <a:gd name="connsiteY3" fmla="*/ 22578 h 519289"/>
              <a:gd name="connsiteX4" fmla="*/ 6299200 w 10408356"/>
              <a:gd name="connsiteY4" fmla="*/ 225778 h 519289"/>
              <a:gd name="connsiteX5" fmla="*/ 7902223 w 10408356"/>
              <a:gd name="connsiteY5" fmla="*/ 67734 h 519289"/>
              <a:gd name="connsiteX6" fmla="*/ 9302045 w 10408356"/>
              <a:gd name="connsiteY6" fmla="*/ 0 h 519289"/>
              <a:gd name="connsiteX7" fmla="*/ 10408356 w 10408356"/>
              <a:gd name="connsiteY7" fmla="*/ 417689 h 519289"/>
              <a:gd name="connsiteX0" fmla="*/ 0 w 10442222"/>
              <a:gd name="connsiteY0" fmla="*/ 79023 h 519289"/>
              <a:gd name="connsiteX1" fmla="*/ 1478844 w 10442222"/>
              <a:gd name="connsiteY1" fmla="*/ 180623 h 519289"/>
              <a:gd name="connsiteX2" fmla="*/ 3172178 w 10442222"/>
              <a:gd name="connsiteY2" fmla="*/ 519289 h 519289"/>
              <a:gd name="connsiteX3" fmla="*/ 4673600 w 10442222"/>
              <a:gd name="connsiteY3" fmla="*/ 22578 h 519289"/>
              <a:gd name="connsiteX4" fmla="*/ 6299200 w 10442222"/>
              <a:gd name="connsiteY4" fmla="*/ 225778 h 519289"/>
              <a:gd name="connsiteX5" fmla="*/ 7902223 w 10442222"/>
              <a:gd name="connsiteY5" fmla="*/ 67734 h 519289"/>
              <a:gd name="connsiteX6" fmla="*/ 9302045 w 10442222"/>
              <a:gd name="connsiteY6" fmla="*/ 0 h 519289"/>
              <a:gd name="connsiteX7" fmla="*/ 10442222 w 10442222"/>
              <a:gd name="connsiteY7" fmla="*/ 259645 h 519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42222" h="519289">
                <a:moveTo>
                  <a:pt x="0" y="79023"/>
                </a:moveTo>
                <a:lnTo>
                  <a:pt x="1478844" y="180623"/>
                </a:lnTo>
                <a:lnTo>
                  <a:pt x="3172178" y="519289"/>
                </a:lnTo>
                <a:lnTo>
                  <a:pt x="4673600" y="22578"/>
                </a:lnTo>
                <a:lnTo>
                  <a:pt x="6299200" y="225778"/>
                </a:lnTo>
                <a:lnTo>
                  <a:pt x="7902223" y="67734"/>
                </a:lnTo>
                <a:lnTo>
                  <a:pt x="9302045" y="0"/>
                </a:lnTo>
                <a:lnTo>
                  <a:pt x="10442222" y="259645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>
            <p:custDataLst>
              <p:tags r:id="rId1"/>
            </p:custDataLst>
          </p:nvPr>
        </p:nvSpPr>
        <p:spPr>
          <a:xfrm>
            <a:off x="3638360" y="3455175"/>
            <a:ext cx="4820919" cy="1253856"/>
          </a:xfrm>
          <a:prstGeom prst="rect">
            <a:avLst/>
          </a:prstGeom>
          <a:solidFill>
            <a:srgbClr val="D5E8D4">
              <a:alpha val="6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矩形 54"/>
          <p:cNvSpPr/>
          <p:nvPr>
            <p:custDataLst>
              <p:tags r:id="rId2"/>
            </p:custDataLst>
          </p:nvPr>
        </p:nvSpPr>
        <p:spPr>
          <a:xfrm>
            <a:off x="3544592" y="3366890"/>
            <a:ext cx="4989221" cy="1469330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6" name="矩形 55"/>
          <p:cNvSpPr/>
          <p:nvPr>
            <p:custDataLst>
              <p:tags r:id="rId3"/>
            </p:custDataLst>
          </p:nvPr>
        </p:nvSpPr>
        <p:spPr>
          <a:xfrm>
            <a:off x="3785739" y="3064818"/>
            <a:ext cx="2784181" cy="317011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STEP 3</a:t>
            </a:r>
            <a:r>
              <a:rPr kumimoji="0" lang="zh-CN" altLang="en-US" sz="1200" b="0" i="0" u="none" strike="noStrike" kern="0" cap="none" spc="0" normalizeH="0" baseline="0" noProof="0" dirty="0">
                <a:ln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primary </a:t>
            </a:r>
            <a:r>
              <a:rPr kumimoji="0" lang="zh-CN" altLang="en-US" sz="1200" b="1" i="0" u="none" strike="noStrike" kern="0" cap="none" spc="0" normalizeH="0" baseline="0" noProof="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并行咨询三位专家</a:t>
            </a:r>
          </a:p>
        </p:txBody>
      </p:sp>
      <p:sp>
        <p:nvSpPr>
          <p:cNvPr id="58" name="文本框 57"/>
          <p:cNvSpPr txBox="1"/>
          <p:nvPr>
            <p:custDataLst>
              <p:tags r:id="rId4"/>
            </p:custDataLst>
          </p:nvPr>
        </p:nvSpPr>
        <p:spPr>
          <a:xfrm>
            <a:off x="5442775" y="4067277"/>
            <a:ext cx="1360805" cy="6108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/>
            <a:r>
              <a:rPr lang="zh-CN" altLang="en-US" dirty="0"/>
              <a:t>分析血糖数据</a:t>
            </a:r>
          </a:p>
          <a:p>
            <a:pPr/>
            <a:r>
              <a:rPr lang="zh-CN" altLang="en-US" dirty="0"/>
              <a:t>提供餐食搭配</a:t>
            </a:r>
          </a:p>
          <a:p>
            <a:pPr/>
            <a:r>
              <a:rPr lang="zh-CN" altLang="en-US" dirty="0"/>
              <a:t>预估血糖影响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4114920" y="3588922"/>
            <a:ext cx="986155" cy="280035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pharmacist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496071" y="3589115"/>
            <a:ext cx="1011259" cy="273363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nutritionist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6935333" y="3588091"/>
            <a:ext cx="1360805" cy="320969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metabolic specialist</a:t>
            </a:r>
          </a:p>
        </p:txBody>
      </p:sp>
      <p:sp>
        <p:nvSpPr>
          <p:cNvPr id="66" name="文本框 65"/>
          <p:cNvSpPr txBox="1"/>
          <p:nvPr>
            <p:custDataLst>
              <p:tags r:id="rId5"/>
            </p:custDataLst>
          </p:nvPr>
        </p:nvSpPr>
        <p:spPr>
          <a:xfrm>
            <a:off x="3826668" y="4043634"/>
            <a:ext cx="1360805" cy="6108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分析当前用药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评估药物风险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给出调整建议</a:t>
            </a:r>
          </a:p>
        </p:txBody>
      </p:sp>
      <p:sp>
        <p:nvSpPr>
          <p:cNvPr id="67" name="文本框 66"/>
          <p:cNvSpPr txBox="1"/>
          <p:nvPr>
            <p:custDataLst>
              <p:tags r:id="rId6"/>
            </p:custDataLst>
          </p:nvPr>
        </p:nvSpPr>
        <p:spPr>
          <a:xfrm>
            <a:off x="6935334" y="4037080"/>
            <a:ext cx="1360805" cy="6108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/>
            <a:r>
              <a:rPr lang="zh-CN" altLang="en-US" dirty="0"/>
              <a:t>评估控制状况</a:t>
            </a:r>
          </a:p>
          <a:p>
            <a:pPr/>
            <a:r>
              <a:rPr lang="zh-CN" altLang="en-US" dirty="0"/>
              <a:t>识别并发症</a:t>
            </a:r>
          </a:p>
          <a:p>
            <a:pPr/>
            <a:r>
              <a:rPr lang="zh-CN" altLang="en-US" dirty="0"/>
              <a:t>给出诊疗建议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485775" y="374650"/>
            <a:ext cx="2886075" cy="551815"/>
            <a:chOff x="449" y="450"/>
            <a:chExt cx="4545" cy="869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业务流程图</a:t>
              </a:r>
            </a:p>
          </p:txBody>
        </p:sp>
      </p:grpSp>
      <p:cxnSp>
        <p:nvCxnSpPr>
          <p:cNvPr id="33" name="直接箭头连接符 32"/>
          <p:cNvCxnSpPr/>
          <p:nvPr/>
        </p:nvCxnSpPr>
        <p:spPr>
          <a:xfrm>
            <a:off x="1477010" y="1733550"/>
            <a:ext cx="0" cy="387985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478789" y="1334602"/>
            <a:ext cx="2359019" cy="368583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用户发起咨询</a:t>
            </a:r>
          </a:p>
        </p:txBody>
      </p:sp>
      <p:sp>
        <p:nvSpPr>
          <p:cNvPr id="35" name="矩形 34"/>
          <p:cNvSpPr/>
          <p:nvPr>
            <p:custDataLst>
              <p:tags r:id="rId7"/>
            </p:custDataLst>
          </p:nvPr>
        </p:nvSpPr>
        <p:spPr>
          <a:xfrm>
            <a:off x="478790" y="2181155"/>
            <a:ext cx="2359025" cy="27495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lvl="0" algn="ctr">
              <a:defRPr/>
            </a:pPr>
            <a:r>
              <a:rPr kumimoji="0" lang="en-US" altLang="zh-CN" sz="1200" b="0" i="0" u="none" strike="noStrike" kern="0" cap="none" spc="0" normalizeH="0" baseline="0" noProof="0" dirty="0">
                <a:ln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STEP 1</a:t>
            </a:r>
            <a:r>
              <a:rPr kumimoji="0" lang="zh-CN" altLang="en-US" sz="1200" b="0" i="0" u="none" strike="noStrike" kern="0" cap="none" spc="0" normalizeH="0" baseline="0" noProof="0" dirty="0">
                <a:ln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ln/>
                <a:solidFill>
                  <a:schemeClr val="bg1"/>
                </a:solidFill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primary</a:t>
            </a:r>
            <a:r>
              <a:rPr kumimoji="0" lang="zh-CN" altLang="en-US" sz="1200" b="1" i="0" u="none" strike="noStrike" kern="0" cap="none" spc="0" normalizeH="0" baseline="0" noProof="0" dirty="0">
                <a:ln/>
                <a:solidFill>
                  <a:schemeClr val="bg1"/>
                </a:solidFill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接收用户</a:t>
            </a:r>
            <a:r>
              <a:rPr lang="zh-CN" altLang="en-US" sz="1200" b="1" kern="0" dirty="0">
                <a:ln/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rPr>
              <a:t>消息</a:t>
            </a:r>
          </a:p>
        </p:txBody>
      </p:sp>
      <p:sp>
        <p:nvSpPr>
          <p:cNvPr id="45" name="文本框 44"/>
          <p:cNvSpPr txBox="1"/>
          <p:nvPr>
            <p:custDataLst>
              <p:tags r:id="rId8"/>
            </p:custDataLst>
          </p:nvPr>
        </p:nvSpPr>
        <p:spPr>
          <a:xfrm>
            <a:off x="494030" y="2539295"/>
            <a:ext cx="2358320" cy="71209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判断需要咨询哪些专家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识别紧急信号（需立即就医）</a:t>
            </a:r>
          </a:p>
        </p:txBody>
      </p:sp>
      <p:grpSp>
        <p:nvGrpSpPr>
          <p:cNvPr id="47" name="组合 46"/>
          <p:cNvGrpSpPr/>
          <p:nvPr>
            <p:custDataLst>
              <p:tags r:id="rId9"/>
            </p:custDataLst>
          </p:nvPr>
        </p:nvGrpSpPr>
        <p:grpSpPr>
          <a:xfrm>
            <a:off x="486085" y="3783965"/>
            <a:ext cx="2385695" cy="1039495"/>
            <a:chOff x="6988" y="2603"/>
            <a:chExt cx="3757" cy="1637"/>
          </a:xfrm>
        </p:grpSpPr>
        <p:sp>
          <p:nvSpPr>
            <p:cNvPr id="50" name="矩形 49"/>
            <p:cNvSpPr/>
            <p:nvPr>
              <p:custDataLst>
                <p:tags r:id="rId18"/>
              </p:custDataLst>
            </p:nvPr>
          </p:nvSpPr>
          <p:spPr>
            <a:xfrm>
              <a:off x="6988" y="2603"/>
              <a:ext cx="3691" cy="394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STEP 2</a:t>
              </a:r>
              <a:r>
                <a:rPr kumimoji="0" lang="zh-CN" altLang="en-US" sz="1200" b="0" i="0" u="none" strike="noStrike" kern="0" cap="none" spc="0" normalizeH="0" baseline="0" noProof="0" dirty="0">
                  <a:ln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：</a:t>
              </a:r>
              <a:r>
                <a:rPr kumimoji="0" lang="en-US" altLang="zh-CN" sz="1200" b="1" i="0" u="none" strike="noStrike" kern="0" cap="none" spc="0" normalizeH="0" baseline="0" noProof="0" dirty="0">
                  <a:ln/>
                  <a:solidFill>
                    <a:schemeClr val="bg1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primary → memory</a:t>
              </a:r>
            </a:p>
          </p:txBody>
        </p:sp>
        <p:sp>
          <p:nvSpPr>
            <p:cNvPr id="52" name="文本框 51"/>
            <p:cNvSpPr txBox="1"/>
            <p:nvPr>
              <p:custDataLst>
                <p:tags r:id="rId19"/>
              </p:custDataLst>
            </p:nvPr>
          </p:nvSpPr>
          <p:spPr>
            <a:xfrm>
              <a:off x="7030" y="3179"/>
              <a:ext cx="3715" cy="1061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请求：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patient_id + query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返回：三层记忆</a:t>
              </a:r>
            </a:p>
          </p:txBody>
        </p:sp>
      </p:grpSp>
      <p:sp>
        <p:nvSpPr>
          <p:cNvPr id="126" name="文本框 125"/>
          <p:cNvSpPr txBox="1"/>
          <p:nvPr>
            <p:custDataLst>
              <p:tags r:id="rId10"/>
            </p:custDataLst>
          </p:nvPr>
        </p:nvSpPr>
        <p:spPr>
          <a:xfrm>
            <a:off x="5421117" y="1677652"/>
            <a:ext cx="2343783" cy="6515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整合专家建议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用患者可理解的语言表达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不暴露内部分工细节</a:t>
            </a:r>
          </a:p>
        </p:txBody>
      </p:sp>
      <p:cxnSp>
        <p:nvCxnSpPr>
          <p:cNvPr id="165" name="直接箭头连接符 164"/>
          <p:cNvCxnSpPr/>
          <p:nvPr/>
        </p:nvCxnSpPr>
        <p:spPr>
          <a:xfrm>
            <a:off x="1477010" y="3298825"/>
            <a:ext cx="0" cy="38779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66" name="直接箭头连接符 165"/>
          <p:cNvCxnSpPr>
            <a:cxnSpLocks/>
          </p:cNvCxnSpPr>
          <p:nvPr/>
        </p:nvCxnSpPr>
        <p:spPr>
          <a:xfrm>
            <a:off x="2975311" y="4372712"/>
            <a:ext cx="396539" cy="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70" name="直接箭头连接符 169"/>
          <p:cNvCxnSpPr>
            <a:cxnSpLocks/>
          </p:cNvCxnSpPr>
          <p:nvPr/>
        </p:nvCxnSpPr>
        <p:spPr>
          <a:xfrm flipV="1">
            <a:off x="7260778" y="2519398"/>
            <a:ext cx="0" cy="61087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35691AFA-9AE3-8BBC-BF63-FB7F4447AF39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279" y="3457705"/>
            <a:ext cx="564668" cy="5352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C58D69-B8BA-25C8-07CA-9C6AA6585ECD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582" y="3457705"/>
            <a:ext cx="564668" cy="53523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A5C9D04-6901-11E5-9BE7-77C2CF7A7872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046" y="3467100"/>
            <a:ext cx="564668" cy="53523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2D52E28-C025-BDC7-D531-51777E105D01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313" y="1382991"/>
            <a:ext cx="1234443" cy="1234443"/>
          </a:xfrm>
          <a:prstGeom prst="rect">
            <a:avLst/>
          </a:prstGeom>
        </p:spPr>
      </p:pic>
      <p:sp>
        <p:nvSpPr>
          <p:cNvPr id="143" name="文本框 142"/>
          <p:cNvSpPr txBox="1"/>
          <p:nvPr>
            <p:custDataLst>
              <p:tags r:id="rId11"/>
            </p:custDataLst>
          </p:nvPr>
        </p:nvSpPr>
        <p:spPr>
          <a:xfrm>
            <a:off x="9290348" y="1196340"/>
            <a:ext cx="2407617" cy="584199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【综合建议】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【特别提醒】</a:t>
            </a:r>
          </a:p>
        </p:txBody>
      </p:sp>
      <p:sp>
        <p:nvSpPr>
          <p:cNvPr id="152" name="文本框 151"/>
          <p:cNvSpPr txBox="1"/>
          <p:nvPr>
            <p:custDataLst>
              <p:tags r:id="rId12"/>
            </p:custDataLst>
          </p:nvPr>
        </p:nvSpPr>
        <p:spPr>
          <a:xfrm>
            <a:off x="9291946" y="4279508"/>
            <a:ext cx="2414270" cy="543952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  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每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5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轮对话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  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或评分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&lt; 35 / 50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4" name="文本框 163"/>
          <p:cNvSpPr txBox="1"/>
          <p:nvPr>
            <p:custDataLst>
              <p:tags r:id="rId13"/>
            </p:custDataLst>
          </p:nvPr>
        </p:nvSpPr>
        <p:spPr>
          <a:xfrm>
            <a:off x="9305272" y="2683717"/>
            <a:ext cx="2407920" cy="581854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提取本轮对话关键信息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写入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Memory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模块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67" name="直接箭头连接符 166"/>
          <p:cNvCxnSpPr/>
          <p:nvPr/>
        </p:nvCxnSpPr>
        <p:spPr>
          <a:xfrm>
            <a:off x="10518764" y="1883074"/>
            <a:ext cx="0" cy="38779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72" name="直接箭头连接符 171"/>
          <p:cNvCxnSpPr/>
          <p:nvPr/>
        </p:nvCxnSpPr>
        <p:spPr>
          <a:xfrm>
            <a:off x="10518764" y="3366890"/>
            <a:ext cx="0" cy="38779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207C07A-6290-1755-8989-78F11ACC6C88}"/>
              </a:ext>
            </a:extLst>
          </p:cNvPr>
          <p:cNvGrpSpPr/>
          <p:nvPr/>
        </p:nvGrpSpPr>
        <p:grpSpPr>
          <a:xfrm rot="5400000">
            <a:off x="10137294" y="5817166"/>
            <a:ext cx="2650019" cy="913716"/>
            <a:chOff x="4244551" y="1792911"/>
            <a:chExt cx="2610240" cy="900000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11BA3DB-2761-D35C-BC3E-357902E938AC}"/>
                </a:ext>
              </a:extLst>
            </p:cNvPr>
            <p:cNvSpPr/>
            <p:nvPr/>
          </p:nvSpPr>
          <p:spPr>
            <a:xfrm>
              <a:off x="5066120" y="2054640"/>
              <a:ext cx="1788671" cy="376536"/>
            </a:xfrm>
            <a:prstGeom prst="rect">
              <a:avLst/>
            </a:prstGeom>
            <a:gradFill>
              <a:gsLst>
                <a:gs pos="68000">
                  <a:srgbClr val="975FA2"/>
                </a:gs>
                <a:gs pos="45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100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20BA0F75-B617-A649-CF8F-39126986336F}"/>
                </a:ext>
              </a:extLst>
            </p:cNvPr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A0947CE-6D47-9D85-9086-1EFD98FF91F0}"/>
              </a:ext>
            </a:extLst>
          </p:cNvPr>
          <p:cNvGrpSpPr/>
          <p:nvPr/>
        </p:nvGrpSpPr>
        <p:grpSpPr>
          <a:xfrm rot="5400000">
            <a:off x="1931152" y="5945353"/>
            <a:ext cx="919724" cy="271624"/>
            <a:chOff x="4244551" y="1792911"/>
            <a:chExt cx="3047413" cy="900000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0EB710D-5788-DA6F-F4E0-8FD2B7085C87}"/>
                </a:ext>
              </a:extLst>
            </p:cNvPr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7A8153E0-5BA3-23FC-16F3-F4F2889F2AA1}"/>
                </a:ext>
              </a:extLst>
            </p:cNvPr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6E26B674-CAE2-EA0C-E62D-069975B2DECD}"/>
              </a:ext>
            </a:extLst>
          </p:cNvPr>
          <p:cNvGrpSpPr/>
          <p:nvPr/>
        </p:nvGrpSpPr>
        <p:grpSpPr>
          <a:xfrm rot="5400000">
            <a:off x="6695656" y="5576749"/>
            <a:ext cx="984561" cy="290773"/>
            <a:chOff x="4244551" y="1792911"/>
            <a:chExt cx="3047413" cy="900000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88770B15-8A54-9ACE-3629-EB4078A87713}"/>
                </a:ext>
              </a:extLst>
            </p:cNvPr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C9904BAC-C0B7-016C-1B76-0B536B873E28}"/>
                </a:ext>
              </a:extLst>
            </p:cNvPr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7FACFB74-C815-46CD-9761-118BBCE77564}"/>
              </a:ext>
            </a:extLst>
          </p:cNvPr>
          <p:cNvGrpSpPr/>
          <p:nvPr/>
        </p:nvGrpSpPr>
        <p:grpSpPr>
          <a:xfrm>
            <a:off x="2258559" y="1109075"/>
            <a:ext cx="344590" cy="344590"/>
            <a:chOff x="3077029" y="2540000"/>
            <a:chExt cx="936000" cy="936000"/>
          </a:xfrm>
        </p:grpSpPr>
        <p:sp>
          <p:nvSpPr>
            <p:cNvPr id="74" name="泪滴形 73">
              <a:extLst>
                <a:ext uri="{FF2B5EF4-FFF2-40B4-BE49-F238E27FC236}">
                  <a16:creationId xmlns:a16="http://schemas.microsoft.com/office/drawing/2014/main" id="{A9C44696-D863-76B2-97F6-6FCC388C496C}"/>
                </a:ext>
              </a:extLst>
            </p:cNvPr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FDDBCE28-2CDB-859E-306C-CB47FFF2F80D}"/>
                </a:ext>
              </a:extLst>
            </p:cNvPr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4AD0EF5A-6E9A-D00C-DA18-E3C49B36F4A3}"/>
              </a:ext>
            </a:extLst>
          </p:cNvPr>
          <p:cNvGrpSpPr/>
          <p:nvPr/>
        </p:nvGrpSpPr>
        <p:grpSpPr>
          <a:xfrm>
            <a:off x="745018" y="5756149"/>
            <a:ext cx="304002" cy="304002"/>
            <a:chOff x="3077029" y="2540000"/>
            <a:chExt cx="936000" cy="936000"/>
          </a:xfrm>
        </p:grpSpPr>
        <p:sp>
          <p:nvSpPr>
            <p:cNvPr id="77" name="泪滴形 76">
              <a:extLst>
                <a:ext uri="{FF2B5EF4-FFF2-40B4-BE49-F238E27FC236}">
                  <a16:creationId xmlns:a16="http://schemas.microsoft.com/office/drawing/2014/main" id="{431A6E9C-57E1-50E0-93C9-CD68471B3F19}"/>
                </a:ext>
              </a:extLst>
            </p:cNvPr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EB3B17C4-480C-A929-968C-E8A90773295D}"/>
                </a:ext>
              </a:extLst>
            </p:cNvPr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7BA0D5A1-F088-3FBA-34DB-CCCEB7446CC9}"/>
              </a:ext>
            </a:extLst>
          </p:cNvPr>
          <p:cNvGrpSpPr/>
          <p:nvPr/>
        </p:nvGrpSpPr>
        <p:grpSpPr>
          <a:xfrm>
            <a:off x="3878767" y="6030375"/>
            <a:ext cx="355667" cy="355667"/>
            <a:chOff x="3077029" y="2540000"/>
            <a:chExt cx="936000" cy="936000"/>
          </a:xfrm>
        </p:grpSpPr>
        <p:sp>
          <p:nvSpPr>
            <p:cNvPr id="80" name="泪滴形 79">
              <a:extLst>
                <a:ext uri="{FF2B5EF4-FFF2-40B4-BE49-F238E27FC236}">
                  <a16:creationId xmlns:a16="http://schemas.microsoft.com/office/drawing/2014/main" id="{3F78A1F3-4398-8C61-B66E-559BF1259FA7}"/>
                </a:ext>
              </a:extLst>
            </p:cNvPr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F2A93EF0-9486-FFB7-3B8C-D4DE0965B54F}"/>
                </a:ext>
              </a:extLst>
            </p:cNvPr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4" name="矩形 83">
            <a:extLst>
              <a:ext uri="{FF2B5EF4-FFF2-40B4-BE49-F238E27FC236}">
                <a16:creationId xmlns:a16="http://schemas.microsoft.com/office/drawing/2014/main" id="{6B0EBF0C-3F90-FB41-BB18-A9CA813EC610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421118" y="1302235"/>
            <a:ext cx="2343785" cy="250190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STEP 4</a:t>
            </a:r>
            <a:r>
              <a:rPr kumimoji="0" lang="zh-CN" altLang="en-US" sz="1200" b="0" i="0" u="none" strike="noStrike" kern="0" cap="none" spc="0" normalizeH="0" baseline="0" noProof="0" dirty="0">
                <a:ln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primary </a:t>
            </a:r>
            <a:r>
              <a:rPr kumimoji="0" lang="zh-CN" altLang="en-US" sz="1200" b="1" i="0" u="none" strike="noStrike" kern="0" cap="none" spc="0" normalizeH="0" baseline="0" noProof="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综合三方意见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BD3C59C-F146-7E48-2D51-BC96836E5839}"/>
              </a:ext>
            </a:extLst>
          </p:cNvPr>
          <p:cNvSpPr txBox="1"/>
          <p:nvPr/>
        </p:nvSpPr>
        <p:spPr>
          <a:xfrm>
            <a:off x="117114" y="6158956"/>
            <a:ext cx="3427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①</a:t>
            </a:r>
            <a:r>
              <a:rPr lang="en-US" altLang="zh-CN" sz="1200" b="1" dirty="0">
                <a:solidFill>
                  <a:schemeClr val="bg1"/>
                </a:solidFill>
              </a:rPr>
              <a:t>primary</a:t>
            </a:r>
            <a:r>
              <a:rPr lang="zh-CN" altLang="en-US" sz="1200" b="1" dirty="0">
                <a:solidFill>
                  <a:schemeClr val="bg1"/>
                </a:solidFill>
              </a:rPr>
              <a:t>接收用户消息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4D4AAC1D-5E67-C94E-9D7F-B0EBF076CFAA}"/>
              </a:ext>
            </a:extLst>
          </p:cNvPr>
          <p:cNvCxnSpPr>
            <a:cxnSpLocks/>
          </p:cNvCxnSpPr>
          <p:nvPr/>
        </p:nvCxnSpPr>
        <p:spPr>
          <a:xfrm>
            <a:off x="7902304" y="1427330"/>
            <a:ext cx="742888" cy="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93" name="矩形 92">
            <a:extLst>
              <a:ext uri="{FF2B5EF4-FFF2-40B4-BE49-F238E27FC236}">
                <a16:creationId xmlns:a16="http://schemas.microsoft.com/office/drawing/2014/main" id="{065908C2-29DF-A80D-66F2-C8E82EF843D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9289714" y="777810"/>
            <a:ext cx="2423179" cy="293119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STEP 5</a:t>
            </a:r>
            <a:r>
              <a:rPr kumimoji="0" lang="zh-CN" altLang="en-US" sz="1200" b="0" i="0" u="none" strike="noStrike" kern="0" cap="none" spc="0" normalizeH="0" baseline="0" noProof="0" dirty="0">
                <a:ln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primary → </a:t>
            </a:r>
            <a:r>
              <a:rPr kumimoji="0" lang="zh-CN" altLang="en-US" sz="1200" b="1" i="0" u="none" strike="noStrike" kern="0" cap="none" spc="0" normalizeH="0" baseline="0" noProof="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用户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6AEB6C0-BB0C-BF97-E721-5837D21A54E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9289714" y="2289139"/>
            <a:ext cx="2423179" cy="293118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STEP 6</a:t>
            </a:r>
            <a:r>
              <a:rPr kumimoji="0" lang="zh-CN" altLang="en-US" sz="1200" b="0" i="0" u="none" strike="noStrike" kern="0" cap="none" spc="0" normalizeH="0" baseline="0" noProof="0" dirty="0">
                <a:ln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memory </a:t>
            </a:r>
            <a:r>
              <a:rPr kumimoji="0" lang="zh-CN" altLang="en-US" sz="1200" b="1" i="0" u="none" strike="noStrike" kern="0" cap="none" spc="0" normalizeH="0" baseline="0" noProof="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写回关键事实</a:t>
            </a:r>
          </a:p>
        </p:txBody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id="{95DC002F-E874-F8F5-725F-D289E8F167B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250" y="502936"/>
            <a:ext cx="651510" cy="651510"/>
          </a:xfrm>
          <a:prstGeom prst="rect">
            <a:avLst/>
          </a:prstGeom>
        </p:spPr>
      </p:pic>
      <p:sp>
        <p:nvSpPr>
          <p:cNvPr id="97" name="矩形 96">
            <a:extLst>
              <a:ext uri="{FF2B5EF4-FFF2-40B4-BE49-F238E27FC236}">
                <a16:creationId xmlns:a16="http://schemas.microsoft.com/office/drawing/2014/main" id="{7F0B441A-5D1D-5EA3-385C-8A6A002D6685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282736" y="3815717"/>
            <a:ext cx="2423179" cy="293118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STEP 7</a:t>
            </a:r>
            <a:r>
              <a:rPr kumimoji="0" lang="zh-CN" altLang="en-US" sz="1200" b="0" i="0" u="none" strike="noStrike" kern="0" cap="none" spc="0" normalizeH="0" baseline="0" noProof="0" dirty="0">
                <a:ln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：</a:t>
            </a:r>
            <a:r>
              <a:rPr kumimoji="0" lang="zh-CN" altLang="en-US" sz="1200" b="1" i="0" u="none" strike="noStrike" kern="0" cap="none" spc="0" normalizeH="0" baseline="0" noProof="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触发评测（满足条件时）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883EBC83-CEFF-E876-E9F4-0BD32159E2A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542" y="2643515"/>
            <a:ext cx="925183" cy="925183"/>
          </a:xfrm>
          <a:prstGeom prst="rect">
            <a:avLst/>
          </a:prstGeom>
        </p:spPr>
      </p:pic>
      <p:sp>
        <p:nvSpPr>
          <p:cNvPr id="100" name="文本框 99">
            <a:extLst>
              <a:ext uri="{FF2B5EF4-FFF2-40B4-BE49-F238E27FC236}">
                <a16:creationId xmlns:a16="http://schemas.microsoft.com/office/drawing/2014/main" id="{CDFB6D72-5699-61F0-537A-9C088C9B30BF}"/>
              </a:ext>
            </a:extLst>
          </p:cNvPr>
          <p:cNvSpPr txBox="1"/>
          <p:nvPr/>
        </p:nvSpPr>
        <p:spPr>
          <a:xfrm>
            <a:off x="3372679" y="6542661"/>
            <a:ext cx="77761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1" i="0" u="none" strike="noStrike" kern="0" cap="none" spc="0" normalizeH="0" baseline="0" noProof="0" dirty="0">
                <a:ln/>
                <a:solidFill>
                  <a:schemeClr val="bg1"/>
                </a:solidFill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Primary-</a:t>
            </a:r>
            <a:r>
              <a:rPr kumimoji="0" lang="zh-CN" altLang="en-US" sz="1400" b="1" i="0" u="none" strike="noStrike" kern="0" cap="none" spc="0" normalizeH="0" baseline="0" noProof="0" dirty="0">
                <a:ln/>
                <a:solidFill>
                  <a:schemeClr val="bg1"/>
                </a:solidFill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主治医生</a:t>
            </a:r>
            <a:r>
              <a:rPr lang="en-US" altLang="zh-CN" sz="1400" b="1" kern="0" dirty="0">
                <a:ln/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en-US" altLang="zh-CN" sz="1400" kern="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Pharmacist-</a:t>
            </a:r>
            <a:r>
              <a:rPr lang="zh-CN" altLang="en-US" sz="1400" kern="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药剂师</a:t>
            </a:r>
            <a:r>
              <a:rPr lang="en-US" altLang="zh-CN" sz="1400" kern="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    </a:t>
            </a:r>
            <a:r>
              <a:rPr lang="en-US" altLang="zh-CN" sz="1400" kern="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Nutritionist-</a:t>
            </a:r>
            <a:r>
              <a:rPr lang="zh-CN" altLang="en-US" sz="1400" kern="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营养师</a:t>
            </a:r>
            <a:r>
              <a:rPr lang="en-US" altLang="zh-CN" sz="1400" kern="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     Metabolic specialist-</a:t>
            </a:r>
            <a:r>
              <a:rPr lang="zh-CN" altLang="en-US" sz="1400" kern="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代谢病医生</a:t>
            </a:r>
            <a:endParaRPr lang="en-US" altLang="zh-CN" sz="1400" kern="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79559BCE-C15F-DB77-9D75-769E73F51823}"/>
              </a:ext>
            </a:extLst>
          </p:cNvPr>
          <p:cNvSpPr txBox="1"/>
          <p:nvPr/>
        </p:nvSpPr>
        <p:spPr>
          <a:xfrm>
            <a:off x="1551531" y="5285532"/>
            <a:ext cx="2792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②</a:t>
            </a:r>
            <a:r>
              <a:rPr lang="en-US" altLang="zh-CN" sz="1200" b="1" dirty="0">
                <a:solidFill>
                  <a:schemeClr val="bg1"/>
                </a:solidFill>
              </a:rPr>
              <a:t>primary → memory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BD682A3-BB15-EDFB-8567-6C23604F2E2B}"/>
              </a:ext>
            </a:extLst>
          </p:cNvPr>
          <p:cNvSpPr txBox="1"/>
          <p:nvPr/>
        </p:nvSpPr>
        <p:spPr>
          <a:xfrm>
            <a:off x="2944782" y="5754723"/>
            <a:ext cx="2432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③ </a:t>
            </a:r>
            <a:r>
              <a:rPr lang="en-US" altLang="zh-CN" sz="1200" b="1" dirty="0">
                <a:solidFill>
                  <a:schemeClr val="bg1"/>
                </a:solidFill>
              </a:rPr>
              <a:t>primary </a:t>
            </a:r>
            <a:r>
              <a:rPr lang="zh-CN" altLang="en-US" sz="1200" b="1" dirty="0">
                <a:solidFill>
                  <a:schemeClr val="bg1"/>
                </a:solidFill>
              </a:rPr>
              <a:t>并行咨询三位专家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74A42AEA-C9DB-AD1E-1B0A-9948B4265DE3}"/>
              </a:ext>
            </a:extLst>
          </p:cNvPr>
          <p:cNvSpPr txBox="1"/>
          <p:nvPr/>
        </p:nvSpPr>
        <p:spPr>
          <a:xfrm>
            <a:off x="4636312" y="5296696"/>
            <a:ext cx="2242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④  </a:t>
            </a:r>
            <a:r>
              <a:rPr lang="en-US" altLang="zh-CN" sz="1200" b="1" dirty="0">
                <a:solidFill>
                  <a:schemeClr val="bg1"/>
                </a:solidFill>
              </a:rPr>
              <a:t>primary </a:t>
            </a:r>
            <a:r>
              <a:rPr lang="zh-CN" altLang="en-US" sz="1200" b="1" dirty="0">
                <a:solidFill>
                  <a:schemeClr val="bg1"/>
                </a:solidFill>
              </a:rPr>
              <a:t>综合三方意见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CA67ADBA-C54F-E282-69D0-FCDC99D2A1A4}"/>
              </a:ext>
            </a:extLst>
          </p:cNvPr>
          <p:cNvGrpSpPr/>
          <p:nvPr/>
        </p:nvGrpSpPr>
        <p:grpSpPr>
          <a:xfrm>
            <a:off x="5385860" y="5675645"/>
            <a:ext cx="385243" cy="385243"/>
            <a:chOff x="3077029" y="2540000"/>
            <a:chExt cx="936000" cy="936000"/>
          </a:xfrm>
        </p:grpSpPr>
        <p:sp>
          <p:nvSpPr>
            <p:cNvPr id="105" name="泪滴形 104">
              <a:extLst>
                <a:ext uri="{FF2B5EF4-FFF2-40B4-BE49-F238E27FC236}">
                  <a16:creationId xmlns:a16="http://schemas.microsoft.com/office/drawing/2014/main" id="{293F855A-28B1-B6F7-EA6E-8AA7697FF8C8}"/>
                </a:ext>
              </a:extLst>
            </p:cNvPr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C0C2C8BE-86B8-1AE7-A470-1D61EB978D97}"/>
                </a:ext>
              </a:extLst>
            </p:cNvPr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B154642-B32D-4A99-6B10-DCEA5513A5B4}"/>
              </a:ext>
            </a:extLst>
          </p:cNvPr>
          <p:cNvSpPr txBox="1"/>
          <p:nvPr/>
        </p:nvSpPr>
        <p:spPr>
          <a:xfrm>
            <a:off x="6161974" y="6158956"/>
            <a:ext cx="2242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⑤ </a:t>
            </a:r>
            <a:r>
              <a:rPr lang="en-US" altLang="zh-CN" sz="1200" b="1" dirty="0">
                <a:solidFill>
                  <a:schemeClr val="bg1"/>
                </a:solidFill>
              </a:rPr>
              <a:t>primary → </a:t>
            </a:r>
            <a:r>
              <a:rPr lang="zh-CN" altLang="en-US" sz="1200" b="1" dirty="0">
                <a:solidFill>
                  <a:schemeClr val="bg1"/>
                </a:solidFill>
              </a:rPr>
              <a:t>用户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D25E6F81-E765-434A-0824-4E5C18AF0A0F}"/>
              </a:ext>
            </a:extLst>
          </p:cNvPr>
          <p:cNvSpPr txBox="1"/>
          <p:nvPr/>
        </p:nvSpPr>
        <p:spPr>
          <a:xfrm>
            <a:off x="7811460" y="5510503"/>
            <a:ext cx="2242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⑥ </a:t>
            </a:r>
            <a:r>
              <a:rPr lang="en-US" altLang="zh-CN" sz="1200" b="1" dirty="0">
                <a:solidFill>
                  <a:schemeClr val="bg1"/>
                </a:solidFill>
              </a:rPr>
              <a:t>memory </a:t>
            </a:r>
            <a:r>
              <a:rPr lang="zh-CN" altLang="en-US" sz="1200" b="1" dirty="0">
                <a:solidFill>
                  <a:schemeClr val="bg1"/>
                </a:solidFill>
              </a:rPr>
              <a:t>写回关键事实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376C2E47-0D9E-F87E-D44E-1EDB141ED7B3}"/>
              </a:ext>
            </a:extLst>
          </p:cNvPr>
          <p:cNvGrpSpPr/>
          <p:nvPr/>
        </p:nvGrpSpPr>
        <p:grpSpPr>
          <a:xfrm rot="5400000">
            <a:off x="8457830" y="5995921"/>
            <a:ext cx="650855" cy="290773"/>
            <a:chOff x="4244551" y="1792911"/>
            <a:chExt cx="2014525" cy="900000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61C799D4-D989-E95E-4B1B-766192D047CC}"/>
                </a:ext>
              </a:extLst>
            </p:cNvPr>
            <p:cNvSpPr/>
            <p:nvPr/>
          </p:nvSpPr>
          <p:spPr>
            <a:xfrm>
              <a:off x="5066121" y="2144750"/>
              <a:ext cx="1192955" cy="260393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1D233560-2207-0111-351C-E81E3A7F1567}"/>
                </a:ext>
              </a:extLst>
            </p:cNvPr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6C3D1DAC-DC01-8AD9-69F3-33E5775B5333}"/>
              </a:ext>
            </a:extLst>
          </p:cNvPr>
          <p:cNvGrpSpPr/>
          <p:nvPr/>
        </p:nvGrpSpPr>
        <p:grpSpPr>
          <a:xfrm>
            <a:off x="9992779" y="5490983"/>
            <a:ext cx="385243" cy="385243"/>
            <a:chOff x="3077029" y="2540000"/>
            <a:chExt cx="936000" cy="936000"/>
          </a:xfrm>
        </p:grpSpPr>
        <p:sp>
          <p:nvSpPr>
            <p:cNvPr id="113" name="泪滴形 112">
              <a:extLst>
                <a:ext uri="{FF2B5EF4-FFF2-40B4-BE49-F238E27FC236}">
                  <a16:creationId xmlns:a16="http://schemas.microsoft.com/office/drawing/2014/main" id="{9AF3062B-A86B-C5EC-49C3-A4E3B20C90E3}"/>
                </a:ext>
              </a:extLst>
            </p:cNvPr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2141C03D-46C3-74C6-CBB8-98B958F271FD}"/>
                </a:ext>
              </a:extLst>
            </p:cNvPr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6" name="文本框 115">
            <a:extLst>
              <a:ext uri="{FF2B5EF4-FFF2-40B4-BE49-F238E27FC236}">
                <a16:creationId xmlns:a16="http://schemas.microsoft.com/office/drawing/2014/main" id="{75C26258-723D-85E7-D884-257991715A35}"/>
              </a:ext>
            </a:extLst>
          </p:cNvPr>
          <p:cNvSpPr txBox="1"/>
          <p:nvPr/>
        </p:nvSpPr>
        <p:spPr>
          <a:xfrm>
            <a:off x="9101542" y="6092545"/>
            <a:ext cx="2242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⑦ </a:t>
            </a:r>
            <a:r>
              <a:rPr lang="zh-CN" altLang="en-US" sz="1200" b="1" dirty="0">
                <a:solidFill>
                  <a:schemeClr val="bg1"/>
                </a:solidFill>
              </a:rPr>
              <a:t>触发评测（满足条件时）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4AA13181-4F1B-8B7A-912F-65F3AED66411}"/>
              </a:ext>
            </a:extLst>
          </p:cNvPr>
          <p:cNvSpPr txBox="1"/>
          <p:nvPr/>
        </p:nvSpPr>
        <p:spPr>
          <a:xfrm>
            <a:off x="2731577" y="400539"/>
            <a:ext cx="896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面向智能客服的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 Agent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血糖管理自进化闭环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EE16C19B-3C14-FCFF-F844-79002166BCCD}"/>
              </a:ext>
            </a:extLst>
          </p:cNvPr>
          <p:cNvGrpSpPr/>
          <p:nvPr/>
        </p:nvGrpSpPr>
        <p:grpSpPr>
          <a:xfrm flipH="1">
            <a:off x="8532843" y="1866513"/>
            <a:ext cx="319766" cy="1223647"/>
            <a:chOff x="2474685" y="2249714"/>
            <a:chExt cx="720000" cy="2755220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56A21957-FA1B-A7CF-9925-F9F63E9D7C8A}"/>
                </a:ext>
              </a:extLst>
            </p:cNvPr>
            <p:cNvSpPr/>
            <p:nvPr/>
          </p:nvSpPr>
          <p:spPr>
            <a:xfrm>
              <a:off x="2474685" y="2501220"/>
              <a:ext cx="720000" cy="2503714"/>
            </a:xfrm>
            <a:prstGeom prst="rect">
              <a:avLst/>
            </a:prstGeom>
            <a:gradFill flip="none" rotWithShape="1">
              <a:gsLst>
                <a:gs pos="95455">
                  <a:srgbClr val="000000"/>
                </a:gs>
                <a:gs pos="74000">
                  <a:srgbClr val="6D2EA6"/>
                </a:gs>
                <a:gs pos="2000">
                  <a:srgbClr val="DE84A8"/>
                </a:gs>
                <a:gs pos="57000">
                  <a:srgbClr val="7A4D83"/>
                </a:gs>
                <a:gs pos="19000">
                  <a:srgbClr val="FF8FAC"/>
                </a:gs>
                <a:gs pos="38000">
                  <a:srgbClr val="A270AC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1F129F8E-FC2D-1ADC-FB82-8795D4DDD4F1}"/>
                </a:ext>
              </a:extLst>
            </p:cNvPr>
            <p:cNvSpPr/>
            <p:nvPr/>
          </p:nvSpPr>
          <p:spPr>
            <a:xfrm>
              <a:off x="2474685" y="2249714"/>
              <a:ext cx="720000" cy="478972"/>
            </a:xfrm>
            <a:prstGeom prst="ellipse">
              <a:avLst/>
            </a:prstGeom>
            <a:solidFill>
              <a:srgbClr val="09BB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64E07ED7-8F97-80D3-D0A4-4BD356BB9AAF}"/>
                </a:ext>
              </a:extLst>
            </p:cNvPr>
            <p:cNvSpPr/>
            <p:nvPr/>
          </p:nvSpPr>
          <p:spPr>
            <a:xfrm>
              <a:off x="2546685" y="2309200"/>
              <a:ext cx="576000" cy="360000"/>
            </a:xfrm>
            <a:prstGeom prst="ellipse">
              <a:avLst/>
            </a:prstGeom>
            <a:solidFill>
              <a:srgbClr val="6D2E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3369477A-2B39-BE6D-FDC7-4984F1C2042C}"/>
                </a:ext>
              </a:extLst>
            </p:cNvPr>
            <p:cNvSpPr/>
            <p:nvPr/>
          </p:nvSpPr>
          <p:spPr>
            <a:xfrm>
              <a:off x="2618685" y="2345200"/>
              <a:ext cx="432000" cy="288000"/>
            </a:xfrm>
            <a:prstGeom prst="ellipse">
              <a:avLst/>
            </a:prstGeom>
            <a:solidFill>
              <a:srgbClr val="FF8F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5FC789B6-5B39-BA93-4599-292F9C872B62}"/>
              </a:ext>
            </a:extLst>
          </p:cNvPr>
          <p:cNvSpPr/>
          <p:nvPr/>
        </p:nvSpPr>
        <p:spPr>
          <a:xfrm>
            <a:off x="7838884" y="2191804"/>
            <a:ext cx="2420578" cy="1075315"/>
          </a:xfrm>
          <a:prstGeom prst="roundRect">
            <a:avLst/>
          </a:prstGeom>
          <a:solidFill>
            <a:srgbClr val="FF8FAC"/>
          </a:solidFill>
          <a:ln w="317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CB4553EA-9ACF-C275-F0B0-A19DB8FAD41E}"/>
              </a:ext>
            </a:extLst>
          </p:cNvPr>
          <p:cNvSpPr/>
          <p:nvPr/>
        </p:nvSpPr>
        <p:spPr>
          <a:xfrm>
            <a:off x="7788456" y="909770"/>
            <a:ext cx="2398137" cy="876520"/>
          </a:xfrm>
          <a:prstGeom prst="roundRect">
            <a:avLst/>
          </a:prstGeom>
          <a:solidFill>
            <a:srgbClr val="29A29A"/>
          </a:solidFill>
          <a:ln w="317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902815B1-75AE-893F-2DCE-B0D4441F5391}"/>
              </a:ext>
            </a:extLst>
          </p:cNvPr>
          <p:cNvSpPr/>
          <p:nvPr/>
        </p:nvSpPr>
        <p:spPr>
          <a:xfrm>
            <a:off x="6416192" y="973677"/>
            <a:ext cx="1089580" cy="2309748"/>
          </a:xfrm>
          <a:prstGeom prst="roundRect">
            <a:avLst/>
          </a:prstGeom>
          <a:solidFill>
            <a:srgbClr val="A270AC"/>
          </a:solidFill>
          <a:ln w="317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3B3934B1-7A16-2F07-741E-1D6117007305}"/>
              </a:ext>
            </a:extLst>
          </p:cNvPr>
          <p:cNvSpPr/>
          <p:nvPr/>
        </p:nvSpPr>
        <p:spPr>
          <a:xfrm>
            <a:off x="6298536" y="4301041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BDC6D0-622D-0758-43E3-71ED027FCA74}"/>
              </a:ext>
            </a:extLst>
          </p:cNvPr>
          <p:cNvSpPr txBox="1"/>
          <p:nvPr/>
        </p:nvSpPr>
        <p:spPr>
          <a:xfrm>
            <a:off x="288963" y="5489056"/>
            <a:ext cx="6096000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Foreman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唯一：确保治疗决策有明确最终责任人。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辅助决策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可质疑组长：体现多学科协作中的制衡机制，提高决策质量。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辅助决策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只能管理自己：避免权限混乱，保障系统安全。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D6F1FE-8100-FBAC-B4B6-AFDC520D413A}"/>
              </a:ext>
            </a:extLst>
          </p:cNvPr>
          <p:cNvSpPr txBox="1"/>
          <p:nvPr/>
        </p:nvSpPr>
        <p:spPr>
          <a:xfrm>
            <a:off x="1229305" y="5033127"/>
            <a:ext cx="3027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权限与职权解释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5B9083B-F284-5EFC-5119-B6511EE2895F}"/>
              </a:ext>
            </a:extLst>
          </p:cNvPr>
          <p:cNvGraphicFramePr>
            <a:graphicFrameLocks noGrp="1"/>
          </p:cNvGraphicFramePr>
          <p:nvPr/>
        </p:nvGraphicFramePr>
        <p:xfrm>
          <a:off x="399979" y="1156043"/>
          <a:ext cx="5634870" cy="3678879"/>
        </p:xfrm>
        <a:graphic>
          <a:graphicData uri="http://schemas.openxmlformats.org/drawingml/2006/table">
            <a:tbl>
              <a:tblPr/>
              <a:tblGrid>
                <a:gridCol w="1067052">
                  <a:extLst>
                    <a:ext uri="{9D8B030D-6E8A-4147-A177-3AD203B41FA5}">
                      <a16:colId xmlns:a16="http://schemas.microsoft.com/office/drawing/2014/main" val="3506160742"/>
                    </a:ext>
                  </a:extLst>
                </a:gridCol>
                <a:gridCol w="840446">
                  <a:extLst>
                    <a:ext uri="{9D8B030D-6E8A-4147-A177-3AD203B41FA5}">
                      <a16:colId xmlns:a16="http://schemas.microsoft.com/office/drawing/2014/main" val="2205201762"/>
                    </a:ext>
                  </a:extLst>
                </a:gridCol>
                <a:gridCol w="3727372">
                  <a:extLst>
                    <a:ext uri="{9D8B030D-6E8A-4147-A177-3AD203B41FA5}">
                      <a16:colId xmlns:a16="http://schemas.microsoft.com/office/drawing/2014/main" val="3975172907"/>
                    </a:ext>
                  </a:extLst>
                </a:gridCol>
              </a:tblGrid>
              <a:tr h="321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Agent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角色</a:t>
                      </a: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A2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角色定位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A2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权限与职责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A2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597021"/>
                  </a:ext>
                </a:extLst>
              </a:tr>
              <a:tr h="502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主治医生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effectLst/>
                        </a:rPr>
                        <a:t>Foreman</a:t>
                      </a:r>
                      <a:endParaRPr 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全局负责人，可添加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启动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停止任何 </a:t>
                      </a:r>
                      <a:r>
                        <a:rPr lang="en-US" sz="1050" dirty="0">
                          <a:solidFill>
                            <a:schemeClr val="bg1"/>
                          </a:solidFill>
                          <a:effectLst/>
                        </a:rPr>
                        <a:t>Actor，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接收 </a:t>
                      </a:r>
                      <a:r>
                        <a:rPr lang="en-US" sz="1050" dirty="0">
                          <a:solidFill>
                            <a:schemeClr val="bg1"/>
                          </a:solidFill>
                          <a:effectLst/>
                        </a:rPr>
                        <a:t>idle 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和 </a:t>
                      </a:r>
                      <a:r>
                        <a:rPr lang="en-US" sz="1050" dirty="0">
                          <a:solidFill>
                            <a:schemeClr val="bg1"/>
                          </a:solidFill>
                          <a:effectLst/>
                        </a:rPr>
                        <a:t>quiet-review 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通知，可对任何任务做出最终决策。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4549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药剂师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辅助决策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负责用药方案，可质疑主治医生的处方，但只能管理与自己相关的任务（如药物审核）。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76072"/>
                  </a:ext>
                </a:extLst>
              </a:tr>
              <a:tr h="458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营养师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辅助决策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制定饮食计划，可对代谢相关问题提出建议，但无权修改其他领域的方案。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165439"/>
                  </a:ext>
                </a:extLst>
              </a:tr>
              <a:tr h="458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代谢病医生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辅助决策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专注于胰岛素抵抗、血糖波动等代谢异常，可挑战主治医生的代谢相关决策。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300285"/>
                  </a:ext>
                </a:extLst>
              </a:tr>
              <a:tr h="483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科普老师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拓展角色</a:t>
                      </a:r>
                      <a:endParaRPr 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生成患者教育内容，可被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要求制作科普材料，但不能干预临床治疗。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14175"/>
                  </a:ext>
                </a:extLst>
              </a:tr>
              <a:tr h="500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心理咨询师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拓展角色</a:t>
                      </a:r>
                      <a:endParaRPr lang="en-US" altLang="zh-CN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关注患者心理状态，可发起心理干预或转诊建议，但不能修改药物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饮食方案。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62952"/>
                  </a:ext>
                </a:extLst>
              </a:tr>
              <a:tr h="458553"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记忆管理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记忆模块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所有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Agent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记忆的储存及管理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892302"/>
                  </a:ext>
                </a:extLst>
              </a:tr>
            </a:tbl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118FD61E-01B6-3A6A-DECC-774754666066}"/>
              </a:ext>
            </a:extLst>
          </p:cNvPr>
          <p:cNvGrpSpPr/>
          <p:nvPr/>
        </p:nvGrpSpPr>
        <p:grpSpPr>
          <a:xfrm>
            <a:off x="485775" y="374650"/>
            <a:ext cx="2886075" cy="551815"/>
            <a:chOff x="449" y="450"/>
            <a:chExt cx="4545" cy="86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CDA878A-BD34-B6D5-93F7-EA74F500C660}"/>
                </a:ext>
              </a:extLst>
            </p:cNvPr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01EBFE56-D95C-2CA1-ECC5-6C76144BCAE7}"/>
                  </a:ext>
                </a:extLst>
              </p:cNvPr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E4063412-A82E-FAD4-ADC4-70EDF8063204}"/>
                  </a:ext>
                </a:extLst>
              </p:cNvPr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446749F8-7417-40E1-4FCB-583D1E278D25}"/>
                  </a:ext>
                </a:extLst>
              </p:cNvPr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EE1BC200-A832-53BF-38F3-62F6D30D3FCF}"/>
                  </a:ext>
                </a:extLst>
              </p:cNvPr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D905CF9-524D-029B-6BAD-BB6F9A45E0F5}"/>
                </a:ext>
              </a:extLst>
            </p:cNvPr>
            <p:cNvSpPr txBox="1"/>
            <p:nvPr/>
          </p:nvSpPr>
          <p:spPr>
            <a:xfrm>
              <a:off x="1477" y="576"/>
              <a:ext cx="3517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Agent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角色架构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8EA7A97-4E40-ADA8-DDEA-F0C700D7DDEA}"/>
              </a:ext>
            </a:extLst>
          </p:cNvPr>
          <p:cNvGrpSpPr/>
          <p:nvPr/>
        </p:nvGrpSpPr>
        <p:grpSpPr>
          <a:xfrm rot="5400000">
            <a:off x="601410" y="4863070"/>
            <a:ext cx="335714" cy="738576"/>
            <a:chOff x="334611" y="1353173"/>
            <a:chExt cx="653622" cy="1437977"/>
          </a:xfrm>
        </p:grpSpPr>
        <p:sp>
          <p:nvSpPr>
            <p:cNvPr id="17" name="Arrow: Chevron 30">
              <a:extLst>
                <a:ext uri="{FF2B5EF4-FFF2-40B4-BE49-F238E27FC236}">
                  <a16:creationId xmlns:a16="http://schemas.microsoft.com/office/drawing/2014/main" id="{44EA0564-9481-E8BE-F486-55D7D4C65215}"/>
                </a:ext>
              </a:extLst>
            </p:cNvPr>
            <p:cNvSpPr/>
            <p:nvPr/>
          </p:nvSpPr>
          <p:spPr>
            <a:xfrm rot="16200000">
              <a:off x="478706" y="120907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8" name="Arrow: Chevron 31">
              <a:extLst>
                <a:ext uri="{FF2B5EF4-FFF2-40B4-BE49-F238E27FC236}">
                  <a16:creationId xmlns:a16="http://schemas.microsoft.com/office/drawing/2014/main" id="{42225C9A-58DE-5FE9-0F0A-52ECD8FD2DCD}"/>
                </a:ext>
              </a:extLst>
            </p:cNvPr>
            <p:cNvSpPr/>
            <p:nvPr/>
          </p:nvSpPr>
          <p:spPr>
            <a:xfrm rot="16200000">
              <a:off x="478706" y="154898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Arrow: Chevron 32">
              <a:extLst>
                <a:ext uri="{FF2B5EF4-FFF2-40B4-BE49-F238E27FC236}">
                  <a16:creationId xmlns:a16="http://schemas.microsoft.com/office/drawing/2014/main" id="{1F8D3763-F8DE-4143-F6B3-E4B5270215A9}"/>
                </a:ext>
              </a:extLst>
            </p:cNvPr>
            <p:cNvSpPr/>
            <p:nvPr/>
          </p:nvSpPr>
          <p:spPr>
            <a:xfrm rot="16200000">
              <a:off x="478706" y="1914419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Arrow: Chevron 33">
              <a:extLst>
                <a:ext uri="{FF2B5EF4-FFF2-40B4-BE49-F238E27FC236}">
                  <a16:creationId xmlns:a16="http://schemas.microsoft.com/office/drawing/2014/main" id="{27563CD0-3711-83A0-7FAF-861054FC2166}"/>
                </a:ext>
              </a:extLst>
            </p:cNvPr>
            <p:cNvSpPr/>
            <p:nvPr/>
          </p:nvSpPr>
          <p:spPr>
            <a:xfrm rot="16200000">
              <a:off x="478706" y="2281624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DC64FF5F-AC83-CD55-3B2F-562437B382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138" y="1331731"/>
            <a:ext cx="671519" cy="671519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A4217D92-7126-6D91-6E95-A3E2875CFAA3}"/>
              </a:ext>
            </a:extLst>
          </p:cNvPr>
          <p:cNvSpPr/>
          <p:nvPr/>
        </p:nvSpPr>
        <p:spPr>
          <a:xfrm>
            <a:off x="10485247" y="1136174"/>
            <a:ext cx="1124347" cy="2143271"/>
          </a:xfrm>
          <a:prstGeom prst="rect">
            <a:avLst/>
          </a:prstGeom>
          <a:solidFill>
            <a:srgbClr val="D5E8D4">
              <a:alpha val="68000"/>
            </a:srgbClr>
          </a:solidFill>
          <a:ln w="34925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E64A6E6F-6B53-83AB-D478-FF95E82ED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644" y="1769398"/>
            <a:ext cx="925183" cy="925183"/>
          </a:xfrm>
          <a:prstGeom prst="rect">
            <a:avLst/>
          </a:prstGeom>
        </p:spPr>
      </p:pic>
      <p:grpSp>
        <p:nvGrpSpPr>
          <p:cNvPr id="42" name="组合 41">
            <a:extLst>
              <a:ext uri="{FF2B5EF4-FFF2-40B4-BE49-F238E27FC236}">
                <a16:creationId xmlns:a16="http://schemas.microsoft.com/office/drawing/2014/main" id="{DA7B4603-4B73-1DA3-4E18-477F4033D074}"/>
              </a:ext>
            </a:extLst>
          </p:cNvPr>
          <p:cNvGrpSpPr/>
          <p:nvPr/>
        </p:nvGrpSpPr>
        <p:grpSpPr>
          <a:xfrm>
            <a:off x="7248042" y="1133240"/>
            <a:ext cx="1241043" cy="1241043"/>
            <a:chOff x="5169988" y="2277563"/>
            <a:chExt cx="1800000" cy="1800000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68304FFB-BA37-9423-2FCC-8AF1B3D899D2}"/>
                </a:ext>
              </a:extLst>
            </p:cNvPr>
            <p:cNvSpPr/>
            <p:nvPr/>
          </p:nvSpPr>
          <p:spPr>
            <a:xfrm>
              <a:off x="5169988" y="2277563"/>
              <a:ext cx="1800000" cy="1800000"/>
            </a:xfrm>
            <a:prstGeom prst="ellipse">
              <a:avLst/>
            </a:prstGeom>
            <a:noFill/>
            <a:ln w="31750" cap="flat" cmpd="sng" algn="ctr">
              <a:solidFill>
                <a:srgbClr val="80508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等腰三角形 43">
              <a:extLst>
                <a:ext uri="{FF2B5EF4-FFF2-40B4-BE49-F238E27FC236}">
                  <a16:creationId xmlns:a16="http://schemas.microsoft.com/office/drawing/2014/main" id="{DD3A788C-887A-BB35-D6D0-A3F4E3B11B6D}"/>
                </a:ext>
              </a:extLst>
            </p:cNvPr>
            <p:cNvSpPr/>
            <p:nvPr/>
          </p:nvSpPr>
          <p:spPr>
            <a:xfrm flipV="1">
              <a:off x="5449888" y="3100388"/>
              <a:ext cx="1219200" cy="514350"/>
            </a:xfrm>
            <a:prstGeom prst="triangle">
              <a:avLst>
                <a:gd name="adj" fmla="val 64063"/>
              </a:avLst>
            </a:prstGeom>
            <a:noFill/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EDBF8B9B-2440-9951-578A-BA6AE15294AC}"/>
                </a:ext>
              </a:extLst>
            </p:cNvPr>
            <p:cNvSpPr/>
            <p:nvPr/>
          </p:nvSpPr>
          <p:spPr>
            <a:xfrm>
              <a:off x="6629400" y="3067050"/>
              <a:ext cx="108000" cy="108000"/>
            </a:xfrm>
            <a:prstGeom prst="ellipse">
              <a:avLst/>
            </a:prstGeom>
            <a:solidFill>
              <a:srgbClr val="FF84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E46205C2-5499-3FAF-9C77-AF922148D327}"/>
                </a:ext>
              </a:extLst>
            </p:cNvPr>
            <p:cNvSpPr/>
            <p:nvPr/>
          </p:nvSpPr>
          <p:spPr>
            <a:xfrm>
              <a:off x="6172200" y="35623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42FDFAFB-0E27-90E6-4C8B-DD45B36AEBAD}"/>
                </a:ext>
              </a:extLst>
            </p:cNvPr>
            <p:cNvSpPr/>
            <p:nvPr/>
          </p:nvSpPr>
          <p:spPr>
            <a:xfrm>
              <a:off x="5410200" y="30670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EDAF06D6-FEE5-0636-E60B-637186F9635E}"/>
              </a:ext>
            </a:extLst>
          </p:cNvPr>
          <p:cNvSpPr/>
          <p:nvPr/>
        </p:nvSpPr>
        <p:spPr>
          <a:xfrm>
            <a:off x="10097306" y="2771413"/>
            <a:ext cx="895927" cy="0"/>
          </a:xfrm>
          <a:custGeom>
            <a:avLst/>
            <a:gdLst>
              <a:gd name="connsiteX0" fmla="*/ 0 w 895927"/>
              <a:gd name="connsiteY0" fmla="*/ 0 h 0"/>
              <a:gd name="connsiteX1" fmla="*/ 895927 w 89592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95927">
                <a:moveTo>
                  <a:pt x="0" y="0"/>
                </a:moveTo>
                <a:lnTo>
                  <a:pt x="895927" y="0"/>
                </a:lnTo>
              </a:path>
            </a:pathLst>
          </a:custGeom>
          <a:noFill/>
          <a:ln w="22225">
            <a:solidFill>
              <a:srgbClr val="975FA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1D644D2D-EC5D-21BC-AC1F-307BA69D3D74}"/>
              </a:ext>
            </a:extLst>
          </p:cNvPr>
          <p:cNvSpPr/>
          <p:nvPr/>
        </p:nvSpPr>
        <p:spPr>
          <a:xfrm>
            <a:off x="9890463" y="1666840"/>
            <a:ext cx="895927" cy="0"/>
          </a:xfrm>
          <a:custGeom>
            <a:avLst/>
            <a:gdLst>
              <a:gd name="connsiteX0" fmla="*/ 0 w 895927"/>
              <a:gd name="connsiteY0" fmla="*/ 0 h 0"/>
              <a:gd name="connsiteX1" fmla="*/ 895927 w 89592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95927">
                <a:moveTo>
                  <a:pt x="0" y="0"/>
                </a:moveTo>
                <a:lnTo>
                  <a:pt x="895927" y="0"/>
                </a:lnTo>
              </a:path>
            </a:pathLst>
          </a:custGeom>
          <a:noFill/>
          <a:ln w="22225">
            <a:solidFill>
              <a:srgbClr val="975FA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E511D17-0091-26DC-FC96-1922C94FF7DA}"/>
              </a:ext>
            </a:extLst>
          </p:cNvPr>
          <p:cNvGrpSpPr/>
          <p:nvPr/>
        </p:nvGrpSpPr>
        <p:grpSpPr>
          <a:xfrm flipH="1">
            <a:off x="6320651" y="2553285"/>
            <a:ext cx="319766" cy="1223647"/>
            <a:chOff x="2474685" y="2249714"/>
            <a:chExt cx="720000" cy="2755220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4FD6ED44-E431-B89E-F500-1173B523F677}"/>
                </a:ext>
              </a:extLst>
            </p:cNvPr>
            <p:cNvSpPr/>
            <p:nvPr/>
          </p:nvSpPr>
          <p:spPr>
            <a:xfrm>
              <a:off x="2474685" y="2501220"/>
              <a:ext cx="720000" cy="2503714"/>
            </a:xfrm>
            <a:prstGeom prst="rect">
              <a:avLst/>
            </a:prstGeom>
            <a:gradFill flip="none" rotWithShape="1">
              <a:gsLst>
                <a:gs pos="95455">
                  <a:srgbClr val="000000"/>
                </a:gs>
                <a:gs pos="74000">
                  <a:srgbClr val="6D2EA6"/>
                </a:gs>
                <a:gs pos="2000">
                  <a:srgbClr val="DE84A8"/>
                </a:gs>
                <a:gs pos="57000">
                  <a:srgbClr val="7A4D83"/>
                </a:gs>
                <a:gs pos="19000">
                  <a:srgbClr val="FF8FAC"/>
                </a:gs>
                <a:gs pos="38000">
                  <a:srgbClr val="A270AC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CD277B4C-6169-B6F4-B873-08D6F215846D}"/>
                </a:ext>
              </a:extLst>
            </p:cNvPr>
            <p:cNvSpPr/>
            <p:nvPr/>
          </p:nvSpPr>
          <p:spPr>
            <a:xfrm>
              <a:off x="2474685" y="2249714"/>
              <a:ext cx="720000" cy="478972"/>
            </a:xfrm>
            <a:prstGeom prst="ellipse">
              <a:avLst/>
            </a:prstGeom>
            <a:solidFill>
              <a:srgbClr val="09BB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FEB2AF9C-3DD2-7B29-444F-325C8E2E9A0F}"/>
                </a:ext>
              </a:extLst>
            </p:cNvPr>
            <p:cNvSpPr/>
            <p:nvPr/>
          </p:nvSpPr>
          <p:spPr>
            <a:xfrm>
              <a:off x="2546685" y="2309200"/>
              <a:ext cx="576000" cy="360000"/>
            </a:xfrm>
            <a:prstGeom prst="ellipse">
              <a:avLst/>
            </a:prstGeom>
            <a:solidFill>
              <a:srgbClr val="6D2E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19019AB6-4E79-5F7D-25F5-457FB98FA15D}"/>
                </a:ext>
              </a:extLst>
            </p:cNvPr>
            <p:cNvSpPr/>
            <p:nvPr/>
          </p:nvSpPr>
          <p:spPr>
            <a:xfrm>
              <a:off x="2618685" y="2345200"/>
              <a:ext cx="432000" cy="288000"/>
            </a:xfrm>
            <a:prstGeom prst="ellipse">
              <a:avLst/>
            </a:prstGeom>
            <a:solidFill>
              <a:srgbClr val="FF8F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B57E800D-E532-129F-1DFA-3D4699F6B4C1}"/>
              </a:ext>
            </a:extLst>
          </p:cNvPr>
          <p:cNvGrpSpPr/>
          <p:nvPr/>
        </p:nvGrpSpPr>
        <p:grpSpPr>
          <a:xfrm flipH="1">
            <a:off x="7456091" y="2935622"/>
            <a:ext cx="290401" cy="1009601"/>
            <a:chOff x="2474685" y="2249714"/>
            <a:chExt cx="720000" cy="2755220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3612FCDD-79D0-F9DD-2F0D-978A6479C47C}"/>
                </a:ext>
              </a:extLst>
            </p:cNvPr>
            <p:cNvSpPr/>
            <p:nvPr/>
          </p:nvSpPr>
          <p:spPr>
            <a:xfrm>
              <a:off x="2474685" y="2501220"/>
              <a:ext cx="720000" cy="2503714"/>
            </a:xfrm>
            <a:prstGeom prst="rect">
              <a:avLst/>
            </a:prstGeom>
            <a:gradFill flip="none" rotWithShape="1">
              <a:gsLst>
                <a:gs pos="95455">
                  <a:srgbClr val="000000"/>
                </a:gs>
                <a:gs pos="74000">
                  <a:srgbClr val="6D2EA6"/>
                </a:gs>
                <a:gs pos="2000">
                  <a:srgbClr val="DE84A8"/>
                </a:gs>
                <a:gs pos="57000">
                  <a:srgbClr val="7A4D83"/>
                </a:gs>
                <a:gs pos="19000">
                  <a:srgbClr val="FF8FAC"/>
                </a:gs>
                <a:gs pos="38000">
                  <a:srgbClr val="A270AC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C4DB8992-8B4D-CC9C-9B74-273C7D20F1C5}"/>
                </a:ext>
              </a:extLst>
            </p:cNvPr>
            <p:cNvSpPr/>
            <p:nvPr/>
          </p:nvSpPr>
          <p:spPr>
            <a:xfrm>
              <a:off x="2474685" y="2249714"/>
              <a:ext cx="720000" cy="478972"/>
            </a:xfrm>
            <a:prstGeom prst="ellipse">
              <a:avLst/>
            </a:prstGeom>
            <a:solidFill>
              <a:srgbClr val="09BB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82FF8C00-88F0-D17F-44EB-8D28DCC9E9A3}"/>
                </a:ext>
              </a:extLst>
            </p:cNvPr>
            <p:cNvSpPr/>
            <p:nvPr/>
          </p:nvSpPr>
          <p:spPr>
            <a:xfrm>
              <a:off x="2546685" y="2309200"/>
              <a:ext cx="576000" cy="360000"/>
            </a:xfrm>
            <a:prstGeom prst="ellipse">
              <a:avLst/>
            </a:prstGeom>
            <a:solidFill>
              <a:srgbClr val="6D2E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A37F7BA3-1668-B3E5-F9A9-89B48A0B611A}"/>
                </a:ext>
              </a:extLst>
            </p:cNvPr>
            <p:cNvSpPr/>
            <p:nvPr/>
          </p:nvSpPr>
          <p:spPr>
            <a:xfrm>
              <a:off x="2618685" y="2345200"/>
              <a:ext cx="432000" cy="288000"/>
            </a:xfrm>
            <a:prstGeom prst="ellipse">
              <a:avLst/>
            </a:prstGeom>
            <a:solidFill>
              <a:srgbClr val="FF8F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6950796B-F2B9-DC45-35BC-DF42A5AC791B}"/>
              </a:ext>
            </a:extLst>
          </p:cNvPr>
          <p:cNvSpPr/>
          <p:nvPr/>
        </p:nvSpPr>
        <p:spPr>
          <a:xfrm>
            <a:off x="7431042" y="4291805"/>
            <a:ext cx="863213" cy="219995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05A6ED1F-6437-4ACB-933A-CA2B61180756}"/>
              </a:ext>
            </a:extLst>
          </p:cNvPr>
          <p:cNvSpPr/>
          <p:nvPr/>
        </p:nvSpPr>
        <p:spPr>
          <a:xfrm>
            <a:off x="9429886" y="4229770"/>
            <a:ext cx="2398735" cy="359341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B85738CF-9AB5-278D-AB68-6466384E6B5C}"/>
              </a:ext>
            </a:extLst>
          </p:cNvPr>
          <p:cNvSpPr/>
          <p:nvPr/>
        </p:nvSpPr>
        <p:spPr>
          <a:xfrm>
            <a:off x="9435042" y="4666682"/>
            <a:ext cx="2498043" cy="241333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259C4B7E-2DFA-CB4A-9FA5-18A4AF1110AC}"/>
              </a:ext>
            </a:extLst>
          </p:cNvPr>
          <p:cNvSpPr/>
          <p:nvPr/>
        </p:nvSpPr>
        <p:spPr>
          <a:xfrm>
            <a:off x="9437179" y="5019559"/>
            <a:ext cx="2471020" cy="224277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5BD93D99-EA6C-A07A-4088-ED9D8433E153}"/>
              </a:ext>
            </a:extLst>
          </p:cNvPr>
          <p:cNvSpPr/>
          <p:nvPr/>
        </p:nvSpPr>
        <p:spPr>
          <a:xfrm>
            <a:off x="7424327" y="4642139"/>
            <a:ext cx="1839209" cy="236224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842CCD75-4804-4A60-AFD1-4BA6ECA4EC7F}"/>
              </a:ext>
            </a:extLst>
          </p:cNvPr>
          <p:cNvSpPr/>
          <p:nvPr/>
        </p:nvSpPr>
        <p:spPr>
          <a:xfrm>
            <a:off x="7431043" y="4943543"/>
            <a:ext cx="1939094" cy="390883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9282458E-F7BA-BFFA-11E6-DC38B80C35ED}"/>
              </a:ext>
            </a:extLst>
          </p:cNvPr>
          <p:cNvSpPr/>
          <p:nvPr/>
        </p:nvSpPr>
        <p:spPr>
          <a:xfrm>
            <a:off x="7442768" y="5442830"/>
            <a:ext cx="933248" cy="237689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AA0FEC67-C2FE-9EAC-A954-4A6E5231ADE1}"/>
              </a:ext>
            </a:extLst>
          </p:cNvPr>
          <p:cNvSpPr/>
          <p:nvPr/>
        </p:nvSpPr>
        <p:spPr>
          <a:xfrm>
            <a:off x="7442767" y="5911917"/>
            <a:ext cx="1736067" cy="228098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42811C93-0E82-672D-B0E2-42BB080A56B2}"/>
              </a:ext>
            </a:extLst>
          </p:cNvPr>
          <p:cNvSpPr/>
          <p:nvPr/>
        </p:nvSpPr>
        <p:spPr>
          <a:xfrm>
            <a:off x="7433563" y="6324408"/>
            <a:ext cx="1392845" cy="264024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098C21A5-D5BB-BB74-A501-7DA9E8E98F92}"/>
              </a:ext>
            </a:extLst>
          </p:cNvPr>
          <p:cNvSpPr/>
          <p:nvPr/>
        </p:nvSpPr>
        <p:spPr>
          <a:xfrm>
            <a:off x="6293542" y="4657446"/>
            <a:ext cx="1024434" cy="220917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A3D14019-A009-226A-11B5-D8764E04D12A}"/>
              </a:ext>
            </a:extLst>
          </p:cNvPr>
          <p:cNvSpPr/>
          <p:nvPr/>
        </p:nvSpPr>
        <p:spPr>
          <a:xfrm>
            <a:off x="6302355" y="5021158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E46E8A31-F5B5-3040-3A0B-FD743C8B66F8}"/>
              </a:ext>
            </a:extLst>
          </p:cNvPr>
          <p:cNvSpPr/>
          <p:nvPr/>
        </p:nvSpPr>
        <p:spPr>
          <a:xfrm>
            <a:off x="6294062" y="5450412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D48E60E8-28C3-F1A0-5747-7403018F5FEF}"/>
              </a:ext>
            </a:extLst>
          </p:cNvPr>
          <p:cNvSpPr/>
          <p:nvPr/>
        </p:nvSpPr>
        <p:spPr>
          <a:xfrm>
            <a:off x="6294275" y="5884323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760061F0-F76C-2559-625B-E79DC84BF15F}"/>
              </a:ext>
            </a:extLst>
          </p:cNvPr>
          <p:cNvSpPr/>
          <p:nvPr/>
        </p:nvSpPr>
        <p:spPr>
          <a:xfrm>
            <a:off x="6293800" y="6349411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DBBA9DFF-620E-9FC3-F1D8-FDB60F477293}"/>
              </a:ext>
            </a:extLst>
          </p:cNvPr>
          <p:cNvSpPr/>
          <p:nvPr/>
        </p:nvSpPr>
        <p:spPr>
          <a:xfrm>
            <a:off x="9437047" y="5366089"/>
            <a:ext cx="2287071" cy="402389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30D576A5-BFE9-CB8C-8724-1826B9D93AED}"/>
              </a:ext>
            </a:extLst>
          </p:cNvPr>
          <p:cNvSpPr/>
          <p:nvPr/>
        </p:nvSpPr>
        <p:spPr>
          <a:xfrm>
            <a:off x="9437046" y="5814424"/>
            <a:ext cx="2287071" cy="382132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D1AD2D91-8A7B-1C6D-A77E-409C6E9E6168}"/>
              </a:ext>
            </a:extLst>
          </p:cNvPr>
          <p:cNvSpPr/>
          <p:nvPr/>
        </p:nvSpPr>
        <p:spPr>
          <a:xfrm>
            <a:off x="9435962" y="6261811"/>
            <a:ext cx="2458532" cy="382132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07" name="Straight Connector 36">
            <a:extLst>
              <a:ext uri="{FF2B5EF4-FFF2-40B4-BE49-F238E27FC236}">
                <a16:creationId xmlns:a16="http://schemas.microsoft.com/office/drawing/2014/main" id="{A2819A41-38CF-E604-AEAD-0C326E31A846}"/>
              </a:ext>
            </a:extLst>
          </p:cNvPr>
          <p:cNvCxnSpPr>
            <a:cxnSpLocks/>
          </p:cNvCxnSpPr>
          <p:nvPr/>
        </p:nvCxnSpPr>
        <p:spPr>
          <a:xfrm>
            <a:off x="6317533" y="3642187"/>
            <a:ext cx="4616970" cy="0"/>
          </a:xfrm>
          <a:prstGeom prst="line">
            <a:avLst/>
          </a:prstGeom>
          <a:ln w="63500">
            <a:solidFill>
              <a:srgbClr val="29A2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">
            <a:extLst>
              <a:ext uri="{FF2B5EF4-FFF2-40B4-BE49-F238E27FC236}">
                <a16:creationId xmlns:a16="http://schemas.microsoft.com/office/drawing/2014/main" id="{26B92188-D8DB-2425-77A6-459EA41BD360}"/>
              </a:ext>
            </a:extLst>
          </p:cNvPr>
          <p:cNvSpPr/>
          <p:nvPr/>
        </p:nvSpPr>
        <p:spPr>
          <a:xfrm>
            <a:off x="6302355" y="3820425"/>
            <a:ext cx="1051589" cy="321843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13" name="Rounded Rectangle 1">
            <a:extLst>
              <a:ext uri="{FF2B5EF4-FFF2-40B4-BE49-F238E27FC236}">
                <a16:creationId xmlns:a16="http://schemas.microsoft.com/office/drawing/2014/main" id="{62FB1182-BAD3-ADB6-D09B-63B9AD28AF88}"/>
              </a:ext>
            </a:extLst>
          </p:cNvPr>
          <p:cNvSpPr/>
          <p:nvPr/>
        </p:nvSpPr>
        <p:spPr>
          <a:xfrm>
            <a:off x="7431042" y="3816112"/>
            <a:ext cx="1848054" cy="321842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E2EF4768-DF81-EFF6-3681-FBBAEAA1E3BE}"/>
              </a:ext>
            </a:extLst>
          </p:cNvPr>
          <p:cNvGrpSpPr/>
          <p:nvPr/>
        </p:nvGrpSpPr>
        <p:grpSpPr>
          <a:xfrm rot="5400000">
            <a:off x="10166880" y="1936208"/>
            <a:ext cx="3047413" cy="900000"/>
            <a:chOff x="4244551" y="1792911"/>
            <a:chExt cx="3047413" cy="900000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67E9618D-AF21-1DC5-D2EB-FC11D1EFB37E}"/>
                </a:ext>
              </a:extLst>
            </p:cNvPr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6BDED4F0-64AC-E3EA-5B72-0A6D3BE0EA8F}"/>
                </a:ext>
              </a:extLst>
            </p:cNvPr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4" name="Rounded Rectangle 1">
            <a:extLst>
              <a:ext uri="{FF2B5EF4-FFF2-40B4-BE49-F238E27FC236}">
                <a16:creationId xmlns:a16="http://schemas.microsoft.com/office/drawing/2014/main" id="{8529AABD-CD9C-5947-3586-7BF4166908C4}"/>
              </a:ext>
            </a:extLst>
          </p:cNvPr>
          <p:cNvSpPr/>
          <p:nvPr/>
        </p:nvSpPr>
        <p:spPr>
          <a:xfrm>
            <a:off x="9422553" y="3807355"/>
            <a:ext cx="2498043" cy="302341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68A83469-5230-43DF-0C5B-50C6AB9B1415}"/>
              </a:ext>
            </a:extLst>
          </p:cNvPr>
          <p:cNvGrpSpPr/>
          <p:nvPr/>
        </p:nvGrpSpPr>
        <p:grpSpPr>
          <a:xfrm rot="5400000">
            <a:off x="9247657" y="725795"/>
            <a:ext cx="1227464" cy="362510"/>
            <a:chOff x="4244551" y="1792911"/>
            <a:chExt cx="3047413" cy="900000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22B5406C-0387-3CAA-032A-294B1DF881C6}"/>
                </a:ext>
              </a:extLst>
            </p:cNvPr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D702C119-2DE3-4796-FD1B-7E6BF5DA341E}"/>
                </a:ext>
              </a:extLst>
            </p:cNvPr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A6F66E9E-2F21-E971-2A7F-1D9A8BEC7BC1}"/>
              </a:ext>
            </a:extLst>
          </p:cNvPr>
          <p:cNvSpPr/>
          <p:nvPr/>
        </p:nvSpPr>
        <p:spPr>
          <a:xfrm>
            <a:off x="6907118" y="746749"/>
            <a:ext cx="4036291" cy="564912"/>
          </a:xfrm>
          <a:custGeom>
            <a:avLst/>
            <a:gdLst>
              <a:gd name="connsiteX0" fmla="*/ 0 w 4036291"/>
              <a:gd name="connsiteY0" fmla="*/ 609600 h 803564"/>
              <a:gd name="connsiteX1" fmla="*/ 0 w 4036291"/>
              <a:gd name="connsiteY1" fmla="*/ 0 h 803564"/>
              <a:gd name="connsiteX2" fmla="*/ 4036291 w 4036291"/>
              <a:gd name="connsiteY2" fmla="*/ 0 h 803564"/>
              <a:gd name="connsiteX3" fmla="*/ 4036291 w 4036291"/>
              <a:gd name="connsiteY3" fmla="*/ 803564 h 803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6291" h="803564">
                <a:moveTo>
                  <a:pt x="0" y="609600"/>
                </a:moveTo>
                <a:lnTo>
                  <a:pt x="0" y="0"/>
                </a:lnTo>
                <a:lnTo>
                  <a:pt x="4036291" y="0"/>
                </a:lnTo>
                <a:lnTo>
                  <a:pt x="4036291" y="803564"/>
                </a:lnTo>
              </a:path>
            </a:pathLst>
          </a:custGeom>
          <a:noFill/>
          <a:ln w="22225">
            <a:solidFill>
              <a:srgbClr val="975FA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108B92EC-293E-F66D-42E2-7365ECCFC3F5}"/>
              </a:ext>
            </a:extLst>
          </p:cNvPr>
          <p:cNvGrpSpPr/>
          <p:nvPr/>
        </p:nvGrpSpPr>
        <p:grpSpPr>
          <a:xfrm rot="5400000">
            <a:off x="10222743" y="3191184"/>
            <a:ext cx="978412" cy="288957"/>
            <a:chOff x="4244551" y="1792911"/>
            <a:chExt cx="3047413" cy="900000"/>
          </a:xfrm>
        </p:grpSpPr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F3367BF9-C615-39AC-8E9B-CBA7DC9FA2B4}"/>
                </a:ext>
              </a:extLst>
            </p:cNvPr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1AE72B8C-88BF-CD57-F22B-21DFE81873F5}"/>
                </a:ext>
              </a:extLst>
            </p:cNvPr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26" name="椭圆 125">
            <a:extLst>
              <a:ext uri="{FF2B5EF4-FFF2-40B4-BE49-F238E27FC236}">
                <a16:creationId xmlns:a16="http://schemas.microsoft.com/office/drawing/2014/main" id="{82B6FABB-781F-91D5-F017-39E276E672F9}"/>
              </a:ext>
            </a:extLst>
          </p:cNvPr>
          <p:cNvSpPr/>
          <p:nvPr/>
        </p:nvSpPr>
        <p:spPr>
          <a:xfrm>
            <a:off x="1185454" y="1660386"/>
            <a:ext cx="175974" cy="175974"/>
          </a:xfrm>
          <a:prstGeom prst="ellipse">
            <a:avLst/>
          </a:prstGeom>
          <a:solidFill>
            <a:srgbClr val="29A29A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C6127944-791F-32D2-68BE-B959B1E46150}"/>
              </a:ext>
            </a:extLst>
          </p:cNvPr>
          <p:cNvSpPr/>
          <p:nvPr/>
        </p:nvSpPr>
        <p:spPr>
          <a:xfrm>
            <a:off x="1185454" y="4561403"/>
            <a:ext cx="175974" cy="175974"/>
          </a:xfrm>
          <a:prstGeom prst="ellipse">
            <a:avLst/>
          </a:prstGeom>
          <a:solidFill>
            <a:srgbClr val="B1BBBA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1D4462AC-9F38-E5F0-D1A2-8E6D3D72A5D8}"/>
              </a:ext>
            </a:extLst>
          </p:cNvPr>
          <p:cNvSpPr/>
          <p:nvPr/>
        </p:nvSpPr>
        <p:spPr>
          <a:xfrm>
            <a:off x="1185454" y="2147689"/>
            <a:ext cx="175974" cy="175974"/>
          </a:xfrm>
          <a:prstGeom prst="ellipse">
            <a:avLst/>
          </a:prstGeom>
          <a:solidFill>
            <a:srgbClr val="FF8F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7546379-E574-A9F7-E739-ACFAB32457DA}"/>
              </a:ext>
            </a:extLst>
          </p:cNvPr>
          <p:cNvSpPr txBox="1"/>
          <p:nvPr/>
        </p:nvSpPr>
        <p:spPr>
          <a:xfrm>
            <a:off x="8412573" y="2224185"/>
            <a:ext cx="8733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辅助</a:t>
            </a:r>
            <a:r>
              <a:rPr kumimoji="0" lang="zh-CN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决策</a:t>
            </a:r>
            <a:endParaRPr kumimoji="0" lang="zh-CN" altLang="en-US" sz="16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8BC229-E646-0C41-8B05-4217EFA7A38B}"/>
              </a:ext>
            </a:extLst>
          </p:cNvPr>
          <p:cNvSpPr txBox="1"/>
          <p:nvPr/>
        </p:nvSpPr>
        <p:spPr>
          <a:xfrm>
            <a:off x="8405764" y="968690"/>
            <a:ext cx="873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主要</a:t>
            </a: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决策</a:t>
            </a:r>
            <a:endParaRPr kumimoji="0" lang="zh-CN" altLang="en-US" sz="16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8F4EDCF6-8BDD-A955-FA77-CA1BC0C7FFA6}"/>
              </a:ext>
            </a:extLst>
          </p:cNvPr>
          <p:cNvSpPr txBox="1"/>
          <p:nvPr/>
        </p:nvSpPr>
        <p:spPr>
          <a:xfrm>
            <a:off x="11262083" y="1164355"/>
            <a:ext cx="873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记忆</a:t>
            </a: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管理</a:t>
            </a:r>
            <a:endParaRPr kumimoji="0" lang="zh-CN" altLang="en-US" sz="16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D8F2E4A0-84C2-AFD7-8C3C-354258DC6826}"/>
              </a:ext>
            </a:extLst>
          </p:cNvPr>
          <p:cNvSpPr txBox="1"/>
          <p:nvPr/>
        </p:nvSpPr>
        <p:spPr>
          <a:xfrm>
            <a:off x="6528867" y="1216180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拓展⻆⾊</a:t>
            </a:r>
          </a:p>
        </p:txBody>
      </p:sp>
      <p:pic>
        <p:nvPicPr>
          <p:cNvPr id="136" name="图片 135">
            <a:extLst>
              <a:ext uri="{FF2B5EF4-FFF2-40B4-BE49-F238E27FC236}">
                <a16:creationId xmlns:a16="http://schemas.microsoft.com/office/drawing/2014/main" id="{6C1EE82E-E54D-3E76-C971-5CF7E0EDE0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731" y="1574942"/>
            <a:ext cx="642095" cy="642095"/>
          </a:xfrm>
          <a:prstGeom prst="rect">
            <a:avLst/>
          </a:prstGeom>
        </p:spPr>
      </p:pic>
      <p:pic>
        <p:nvPicPr>
          <p:cNvPr id="138" name="图片 137">
            <a:extLst>
              <a:ext uri="{FF2B5EF4-FFF2-40B4-BE49-F238E27FC236}">
                <a16:creationId xmlns:a16="http://schemas.microsoft.com/office/drawing/2014/main" id="{61C2FF9D-6F82-E245-8E47-0E61F37BB2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513" y="2384195"/>
            <a:ext cx="663999" cy="663999"/>
          </a:xfrm>
          <a:prstGeom prst="rect">
            <a:avLst/>
          </a:prstGeom>
        </p:spPr>
      </p:pic>
      <p:sp>
        <p:nvSpPr>
          <p:cNvPr id="139" name="椭圆 138">
            <a:extLst>
              <a:ext uri="{FF2B5EF4-FFF2-40B4-BE49-F238E27FC236}">
                <a16:creationId xmlns:a16="http://schemas.microsoft.com/office/drawing/2014/main" id="{595013B3-3224-810B-46D3-DF0FC05F18B7}"/>
              </a:ext>
            </a:extLst>
          </p:cNvPr>
          <p:cNvSpPr/>
          <p:nvPr/>
        </p:nvSpPr>
        <p:spPr>
          <a:xfrm>
            <a:off x="1185454" y="2639319"/>
            <a:ext cx="175974" cy="175974"/>
          </a:xfrm>
          <a:prstGeom prst="ellipse">
            <a:avLst/>
          </a:prstGeom>
          <a:solidFill>
            <a:srgbClr val="FF8F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2666A7A4-C273-DDF5-95F7-B054560F3795}"/>
              </a:ext>
            </a:extLst>
          </p:cNvPr>
          <p:cNvSpPr/>
          <p:nvPr/>
        </p:nvSpPr>
        <p:spPr>
          <a:xfrm>
            <a:off x="1185454" y="3096533"/>
            <a:ext cx="175974" cy="175974"/>
          </a:xfrm>
          <a:prstGeom prst="ellipse">
            <a:avLst/>
          </a:prstGeom>
          <a:solidFill>
            <a:srgbClr val="FF8F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4FF72BC3-F2ED-280D-32E4-0F3B86CF1729}"/>
              </a:ext>
            </a:extLst>
          </p:cNvPr>
          <p:cNvSpPr/>
          <p:nvPr/>
        </p:nvSpPr>
        <p:spPr>
          <a:xfrm>
            <a:off x="1185454" y="3573840"/>
            <a:ext cx="175974" cy="175974"/>
          </a:xfrm>
          <a:prstGeom prst="ellipse">
            <a:avLst/>
          </a:prstGeom>
          <a:solidFill>
            <a:srgbClr val="A270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6AAFC584-558B-8844-DE2E-6BBE6D41AD5A}"/>
              </a:ext>
            </a:extLst>
          </p:cNvPr>
          <p:cNvSpPr/>
          <p:nvPr/>
        </p:nvSpPr>
        <p:spPr>
          <a:xfrm>
            <a:off x="1185454" y="4048660"/>
            <a:ext cx="175974" cy="175974"/>
          </a:xfrm>
          <a:prstGeom prst="ellipse">
            <a:avLst/>
          </a:prstGeom>
          <a:solidFill>
            <a:srgbClr val="A270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46" name="图片 145">
            <a:extLst>
              <a:ext uri="{FF2B5EF4-FFF2-40B4-BE49-F238E27FC236}">
                <a16:creationId xmlns:a16="http://schemas.microsoft.com/office/drawing/2014/main" id="{D8FD48D2-D813-0035-6C04-FC4190E62DE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469" y="2473731"/>
            <a:ext cx="564668" cy="535231"/>
          </a:xfrm>
          <a:prstGeom prst="rect">
            <a:avLst/>
          </a:prstGeom>
        </p:spPr>
      </p:pic>
      <p:pic>
        <p:nvPicPr>
          <p:cNvPr id="147" name="图片 146">
            <a:extLst>
              <a:ext uri="{FF2B5EF4-FFF2-40B4-BE49-F238E27FC236}">
                <a16:creationId xmlns:a16="http://schemas.microsoft.com/office/drawing/2014/main" id="{291DED67-1FB2-EB47-53EC-2055D016911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480" y="2487235"/>
            <a:ext cx="564668" cy="535231"/>
          </a:xfrm>
          <a:prstGeom prst="rect">
            <a:avLst/>
          </a:prstGeom>
        </p:spPr>
      </p:pic>
      <p:pic>
        <p:nvPicPr>
          <p:cNvPr id="148" name="图片 147">
            <a:extLst>
              <a:ext uri="{FF2B5EF4-FFF2-40B4-BE49-F238E27FC236}">
                <a16:creationId xmlns:a16="http://schemas.microsoft.com/office/drawing/2014/main" id="{AA0CA17C-F563-5633-E8AC-9669B7D5CE2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491" y="2503798"/>
            <a:ext cx="564668" cy="535231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455EFAB4-844B-5FE2-CD0A-01249D360586}"/>
              </a:ext>
            </a:extLst>
          </p:cNvPr>
          <p:cNvSpPr txBox="1"/>
          <p:nvPr/>
        </p:nvSpPr>
        <p:spPr>
          <a:xfrm>
            <a:off x="6369397" y="3849553"/>
            <a:ext cx="8764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规则类型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01DCAEED-90B9-6F24-54BF-3DC5EDF07CE8}"/>
              </a:ext>
            </a:extLst>
          </p:cNvPr>
          <p:cNvSpPr txBox="1"/>
          <p:nvPr/>
        </p:nvSpPr>
        <p:spPr>
          <a:xfrm>
            <a:off x="7420986" y="3854648"/>
            <a:ext cx="13431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触发条件</a:t>
            </a: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4CE1A94E-980A-8976-3E21-96820C046D1A}"/>
              </a:ext>
            </a:extLst>
          </p:cNvPr>
          <p:cNvSpPr txBox="1"/>
          <p:nvPr/>
        </p:nvSpPr>
        <p:spPr>
          <a:xfrm>
            <a:off x="9447137" y="3850305"/>
            <a:ext cx="13003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执行动作</a:t>
            </a: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E2787E56-6396-295F-DACA-FCE080730EEB}"/>
              </a:ext>
            </a:extLst>
          </p:cNvPr>
          <p:cNvGraphicFramePr>
            <a:graphicFrameLocks noGrp="1"/>
          </p:cNvGraphicFramePr>
          <p:nvPr/>
        </p:nvGraphicFramePr>
        <p:xfrm>
          <a:off x="6369397" y="3909912"/>
          <a:ext cx="5392182" cy="2773092"/>
        </p:xfrm>
        <a:graphic>
          <a:graphicData uri="http://schemas.openxmlformats.org/drawingml/2006/table">
            <a:tbl>
              <a:tblPr/>
              <a:tblGrid>
                <a:gridCol w="1014148">
                  <a:extLst>
                    <a:ext uri="{9D8B030D-6E8A-4147-A177-3AD203B41FA5}">
                      <a16:colId xmlns:a16="http://schemas.microsoft.com/office/drawing/2014/main" val="1982104941"/>
                    </a:ext>
                  </a:extLst>
                </a:gridCol>
                <a:gridCol w="2050473">
                  <a:extLst>
                    <a:ext uri="{9D8B030D-6E8A-4147-A177-3AD203B41FA5}">
                      <a16:colId xmlns:a16="http://schemas.microsoft.com/office/drawing/2014/main" val="211402304"/>
                    </a:ext>
                  </a:extLst>
                </a:gridCol>
                <a:gridCol w="2327561">
                  <a:extLst>
                    <a:ext uri="{9D8B030D-6E8A-4147-A177-3AD203B41FA5}">
                      <a16:colId xmlns:a16="http://schemas.microsoft.com/office/drawing/2014/main" val="458023603"/>
                    </a:ext>
                  </a:extLst>
                </a:gridCol>
              </a:tblGrid>
              <a:tr h="2149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501166"/>
                  </a:ext>
                </a:extLst>
              </a:tr>
              <a:tr h="337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每日摘要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每天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8:00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发送 </a:t>
                      </a:r>
                      <a:r>
                        <a:rPr lang="en-US" altLang="zh-CN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@</a:t>
                      </a:r>
                      <a:r>
                        <a:rPr lang="zh-CN" altLang="en-US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主治医生 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昨日血糖数据汇总，请查收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441853"/>
                  </a:ext>
                </a:extLst>
              </a:tr>
              <a:tr h="24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药物审核催办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药剂师被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后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4 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小时未回复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向主治医生发送升级提醒</a:t>
                      </a: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585040"/>
                  </a:ext>
                </a:extLst>
              </a:tr>
              <a:tr h="235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饮食方案确认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营养师提交方案后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24 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小时未获主治医生确认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自动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主治医生 “待确认饮食方案”</a:t>
                      </a: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615673"/>
                  </a:ext>
                </a:extLst>
              </a:tr>
              <a:tr h="218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>
                          <a:solidFill>
                            <a:schemeClr val="bg1"/>
                          </a:solidFill>
                          <a:effectLst/>
                        </a:rPr>
                        <a:t>定期科普推送</a:t>
                      </a:r>
                      <a:endParaRPr lang="zh-CN" altLang="en-US" sz="105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每周三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10:00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发送 </a:t>
                      </a:r>
                      <a:r>
                        <a:rPr lang="en-US" altLang="zh-CN" sz="105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</a:rPr>
                        <a:t>科普老师 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本周主题：低血糖识别与应对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762157"/>
                  </a:ext>
                </a:extLst>
              </a:tr>
              <a:tr h="33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>
                          <a:solidFill>
                            <a:schemeClr val="bg1"/>
                          </a:solidFill>
                          <a:effectLst/>
                        </a:rPr>
                        <a:t>心理干预触发</a:t>
                      </a:r>
                      <a:endParaRPr lang="zh-CN" altLang="en-US" sz="105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患者连续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3 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天情绪记录异常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自动</a:t>
                      </a:r>
                      <a:r>
                        <a:rPr lang="en-US" altLang="zh-CN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@</a:t>
                      </a:r>
                      <a:r>
                        <a:rPr lang="zh-CN" altLang="en-US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心理咨询师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 “请评估患者心理状态”</a:t>
                      </a: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848593"/>
                  </a:ext>
                </a:extLst>
              </a:tr>
              <a:tr h="432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代谢异常告警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连续血糖值超过阈值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发送 </a:t>
                      </a:r>
                      <a:r>
                        <a:rPr lang="en-US" altLang="zh-CN" sz="1050" dirty="0">
                          <a:solidFill>
                            <a:srgbClr val="FF8FAC"/>
                          </a:solidFill>
                          <a:effectLst/>
                          <a:latin typeface="var(--ds-font-family-code)"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rgbClr val="FF8FAC"/>
                          </a:solidFill>
                          <a:effectLst/>
                          <a:latin typeface="var(--ds-font-family-code)"/>
                        </a:rPr>
                        <a:t>代谢病医生 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需调整胰岛素剂量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 并同时抄送主治医生</a:t>
                      </a: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537781"/>
                  </a:ext>
                </a:extLst>
              </a:tr>
            </a:tbl>
          </a:graphicData>
        </a:graphic>
      </p:graphicFrame>
      <p:sp>
        <p:nvSpPr>
          <p:cNvPr id="156" name="文本框 155">
            <a:extLst>
              <a:ext uri="{FF2B5EF4-FFF2-40B4-BE49-F238E27FC236}">
                <a16:creationId xmlns:a16="http://schemas.microsoft.com/office/drawing/2014/main" id="{E489BA1B-67C4-0040-6D22-C692767720DF}"/>
              </a:ext>
            </a:extLst>
          </p:cNvPr>
          <p:cNvSpPr txBox="1"/>
          <p:nvPr/>
        </p:nvSpPr>
        <p:spPr>
          <a:xfrm>
            <a:off x="9465094" y="3019460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营养师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2CD4332E-815C-2BFA-1A71-1C9CA1F9B53C}"/>
              </a:ext>
            </a:extLst>
          </p:cNvPr>
          <p:cNvSpPr txBox="1"/>
          <p:nvPr/>
        </p:nvSpPr>
        <p:spPr>
          <a:xfrm>
            <a:off x="8588686" y="3006542"/>
            <a:ext cx="962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代谢病医生</a:t>
            </a: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60FA39AE-7ABB-2970-FF60-5AC6C79D0EB8}"/>
              </a:ext>
            </a:extLst>
          </p:cNvPr>
          <p:cNvSpPr txBox="1"/>
          <p:nvPr/>
        </p:nvSpPr>
        <p:spPr>
          <a:xfrm>
            <a:off x="7939221" y="3012485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药剂师</a:t>
            </a: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25F2FA04-4F22-AA2D-CF8D-A41D065E69DD}"/>
              </a:ext>
            </a:extLst>
          </p:cNvPr>
          <p:cNvSpPr txBox="1"/>
          <p:nvPr/>
        </p:nvSpPr>
        <p:spPr>
          <a:xfrm>
            <a:off x="6449639" y="2185680"/>
            <a:ext cx="1028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心理咨询师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128DE6F4-10DA-A964-81F2-50E1DD2D13FA}"/>
              </a:ext>
            </a:extLst>
          </p:cNvPr>
          <p:cNvSpPr txBox="1"/>
          <p:nvPr/>
        </p:nvSpPr>
        <p:spPr>
          <a:xfrm>
            <a:off x="6645450" y="2973594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科普老师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0C00173E-7A57-2CC7-6544-87C69F71F6E7}"/>
              </a:ext>
            </a:extLst>
          </p:cNvPr>
          <p:cNvSpPr txBox="1"/>
          <p:nvPr/>
        </p:nvSpPr>
        <p:spPr>
          <a:xfrm>
            <a:off x="9447137" y="1357268"/>
            <a:ext cx="60941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主治医生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154D682A-303B-9FEE-3A90-80E049C9F04A}"/>
              </a:ext>
            </a:extLst>
          </p:cNvPr>
          <p:cNvSpPr txBox="1"/>
          <p:nvPr/>
        </p:nvSpPr>
        <p:spPr>
          <a:xfrm>
            <a:off x="10818804" y="2992772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记忆模块</a:t>
            </a:r>
          </a:p>
        </p:txBody>
      </p:sp>
    </p:spTree>
    <p:extLst>
      <p:ext uri="{BB962C8B-B14F-4D97-AF65-F5344CB8AC3E}">
        <p14:creationId xmlns:p14="http://schemas.microsoft.com/office/powerpoint/2010/main" val="335706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530946" y="-1171015"/>
            <a:ext cx="15313748" cy="7725192"/>
            <a:chOff x="-471952" y="-433596"/>
            <a:chExt cx="15313748" cy="7725192"/>
          </a:xfrm>
        </p:grpSpPr>
        <p:sp>
          <p:nvSpPr>
            <p:cNvPr id="5" name="矩形 4"/>
            <p:cNvSpPr/>
            <p:nvPr/>
          </p:nvSpPr>
          <p:spPr>
            <a:xfrm>
              <a:off x="-471952" y="5196348"/>
              <a:ext cx="12960000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-324466" y="1710813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09309" y="-433596"/>
              <a:ext cx="4500357" cy="772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9600" b="1" i="0" u="none" strike="noStrike" kern="1200" cap="none" spc="0" normalizeH="0" baseline="0" noProof="0" dirty="0">
                  <a:ln>
                    <a:solidFill>
                      <a:srgbClr val="44C9F5"/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6" name="饼形 5"/>
            <p:cNvSpPr/>
            <p:nvPr/>
          </p:nvSpPr>
          <p:spPr>
            <a:xfrm>
              <a:off x="4660490" y="1739613"/>
              <a:ext cx="630000" cy="630000"/>
            </a:xfrm>
            <a:prstGeom prst="pie">
              <a:avLst>
                <a:gd name="adj1" fmla="val 5351128"/>
                <a:gd name="adj2" fmla="val 16200000"/>
              </a:avLst>
            </a:prstGeom>
            <a:gradFill>
              <a:gsLst>
                <a:gs pos="0">
                  <a:srgbClr val="F682B0"/>
                </a:gs>
                <a:gs pos="33000">
                  <a:srgbClr val="FE93AA"/>
                </a:gs>
                <a:gs pos="77000">
                  <a:srgbClr val="F8BCCC"/>
                </a:gs>
                <a:gs pos="53000">
                  <a:srgbClr val="FD8EAC"/>
                </a:gs>
                <a:gs pos="97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591370" y="1745226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6843250" y="1740310"/>
              <a:ext cx="3244645" cy="3834580"/>
            </a:xfrm>
            <a:prstGeom prst="parallelogram">
              <a:avLst>
                <a:gd name="adj" fmla="val 81140"/>
              </a:avLst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9207908" y="1568245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403689" y="5397910"/>
              <a:ext cx="2477730" cy="265471"/>
            </a:xfrm>
            <a:prstGeom prst="rect">
              <a:avLst/>
            </a:prstGeom>
            <a:gradFill>
              <a:gsLst>
                <a:gs pos="74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38CEE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784257" y="5132438"/>
              <a:ext cx="720000" cy="72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2598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538624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61577" y="5181599"/>
              <a:ext cx="442451" cy="630000"/>
              <a:chOff x="7593320" y="7069392"/>
              <a:chExt cx="442451" cy="6300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2554287" y="5186515"/>
              <a:ext cx="442451" cy="630000"/>
              <a:chOff x="7593320" y="7069392"/>
              <a:chExt cx="442451" cy="630000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0729810" y="5220928"/>
              <a:ext cx="442451" cy="630000"/>
              <a:chOff x="7593320" y="7069392"/>
              <a:chExt cx="442451" cy="6300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 flipH="1" flipV="1">
              <a:off x="5145088" y="2035277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10800000">
              <a:off x="6312311" y="2005781"/>
              <a:ext cx="825909" cy="530944"/>
            </a:xfrm>
            <a:prstGeom prst="curvedConnector3">
              <a:avLst>
                <a:gd name="adj1" fmla="val 10714"/>
              </a:avLst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7108723" y="2929783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5454804" y="3751006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5107859" y="4704505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454804" y="5550309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C7E6FC30-B6BD-F262-56B4-5561B6E78E43}"/>
              </a:ext>
            </a:extLst>
          </p:cNvPr>
          <p:cNvSpPr/>
          <p:nvPr/>
        </p:nvSpPr>
        <p:spPr>
          <a:xfrm>
            <a:off x="2440361" y="3362045"/>
            <a:ext cx="18261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项目进展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FB54F3-DFCD-8FC8-732D-A9FB9457D7FE}"/>
              </a:ext>
            </a:extLst>
          </p:cNvPr>
          <p:cNvSpPr/>
          <p:nvPr/>
        </p:nvSpPr>
        <p:spPr>
          <a:xfrm>
            <a:off x="2055732" y="3986394"/>
            <a:ext cx="259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Project progress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椭圆 42"/>
          <p:cNvSpPr/>
          <p:nvPr/>
        </p:nvSpPr>
        <p:spPr>
          <a:xfrm>
            <a:off x="11278507" y="2186214"/>
            <a:ext cx="144000" cy="144000"/>
          </a:xfrm>
          <a:prstGeom prst="ellipse">
            <a:avLst/>
          </a:prstGeom>
          <a:solidFill>
            <a:srgbClr val="A270A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7611836" y="5510893"/>
            <a:ext cx="144000" cy="144000"/>
          </a:xfrm>
          <a:prstGeom prst="ellipse">
            <a:avLst/>
          </a:prstGeom>
          <a:solidFill>
            <a:srgbClr val="42A9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210628" y="2271486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703615" y="6437993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3200400" y="6172200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861457" y="2530929"/>
            <a:ext cx="144000" cy="144000"/>
          </a:xfrm>
          <a:prstGeom prst="ellipse">
            <a:avLst/>
          </a:prstGeom>
          <a:solidFill>
            <a:srgbClr val="975F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8210550" y="3962400"/>
            <a:ext cx="72000" cy="72000"/>
          </a:xfrm>
          <a:prstGeom prst="ellipse">
            <a:avLst/>
          </a:prstGeom>
          <a:solidFill>
            <a:srgbClr val="975F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76200" y="4800600"/>
            <a:ext cx="108000" cy="108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10058400" y="2305050"/>
            <a:ext cx="108000" cy="108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595085" y="1857830"/>
            <a:ext cx="10608224" cy="6820352"/>
            <a:chOff x="595085" y="1857830"/>
            <a:chExt cx="10608224" cy="6820352"/>
          </a:xfrm>
        </p:grpSpPr>
        <p:grpSp>
          <p:nvGrpSpPr>
            <p:cNvPr id="6" name="组合 5"/>
            <p:cNvGrpSpPr/>
            <p:nvPr/>
          </p:nvGrpSpPr>
          <p:grpSpPr>
            <a:xfrm>
              <a:off x="2359479" y="3216049"/>
              <a:ext cx="2160000" cy="5322887"/>
              <a:chOff x="2228850" y="2214563"/>
              <a:chExt cx="2160000" cy="5322887"/>
            </a:xfrm>
          </p:grpSpPr>
          <p:sp>
            <p:nvSpPr>
              <p:cNvPr id="3" name="菱形 2"/>
              <p:cNvSpPr/>
              <p:nvPr/>
            </p:nvSpPr>
            <p:spPr>
              <a:xfrm>
                <a:off x="2228850" y="2214563"/>
                <a:ext cx="2160000" cy="1143000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平行四边形 3"/>
              <p:cNvSpPr/>
              <p:nvPr/>
            </p:nvSpPr>
            <p:spPr>
              <a:xfrm rot="16200000">
                <a:off x="394744" y="461064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平行四边形 4"/>
              <p:cNvSpPr/>
              <p:nvPr/>
            </p:nvSpPr>
            <p:spPr>
              <a:xfrm rot="5400000" flipH="1">
                <a:off x="1473744" y="4623344"/>
                <a:ext cx="4748212" cy="1080000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5712006" y="4833257"/>
              <a:ext cx="1240337" cy="2879492"/>
              <a:chOff x="2228850" y="2214564"/>
              <a:chExt cx="2160000" cy="4132312"/>
            </a:xfrm>
          </p:grpSpPr>
          <p:sp>
            <p:nvSpPr>
              <p:cNvPr id="8" name="菱形 7"/>
              <p:cNvSpPr/>
              <p:nvPr/>
            </p:nvSpPr>
            <p:spPr>
              <a:xfrm>
                <a:off x="2228850" y="2214564"/>
                <a:ext cx="2160000" cy="1041460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 rot="16200000">
                <a:off x="962853" y="4000878"/>
                <a:ext cx="3611995" cy="1080001"/>
              </a:xfrm>
              <a:prstGeom prst="parallelogram">
                <a:avLst>
                  <a:gd name="adj" fmla="val 60114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平行四边形 9"/>
              <p:cNvSpPr/>
              <p:nvPr/>
            </p:nvSpPr>
            <p:spPr>
              <a:xfrm rot="5400000" flipH="1">
                <a:off x="2041851" y="3992748"/>
                <a:ext cx="3611995" cy="1080001"/>
              </a:xfrm>
              <a:prstGeom prst="parallelogram">
                <a:avLst>
                  <a:gd name="adj" fmla="val 58938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7982854" y="1857830"/>
              <a:ext cx="892629" cy="5530086"/>
              <a:chOff x="2228850" y="2579171"/>
              <a:chExt cx="2160000" cy="4790279"/>
            </a:xfrm>
          </p:grpSpPr>
          <p:sp>
            <p:nvSpPr>
              <p:cNvPr id="12" name="菱形 11"/>
              <p:cNvSpPr/>
              <p:nvPr/>
            </p:nvSpPr>
            <p:spPr>
              <a:xfrm>
                <a:off x="2228850" y="2579171"/>
                <a:ext cx="2160000" cy="402321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平行四边形 12"/>
              <p:cNvSpPr/>
              <p:nvPr/>
            </p:nvSpPr>
            <p:spPr>
              <a:xfrm rot="16200000">
                <a:off x="472458" y="4532929"/>
                <a:ext cx="4592786" cy="1080001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5400000" flipH="1">
                <a:off x="1551452" y="4533056"/>
                <a:ext cx="4592786" cy="1080001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9043309" y="2134960"/>
              <a:ext cx="2160000" cy="6543222"/>
              <a:chOff x="2228850" y="2214563"/>
              <a:chExt cx="2160000" cy="5162564"/>
            </a:xfrm>
          </p:grpSpPr>
          <p:sp>
            <p:nvSpPr>
              <p:cNvPr id="16" name="菱形 15"/>
              <p:cNvSpPr/>
              <p:nvPr/>
            </p:nvSpPr>
            <p:spPr>
              <a:xfrm>
                <a:off x="2228850" y="2214563"/>
                <a:ext cx="2160000" cy="847424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平行四边形 16"/>
              <p:cNvSpPr/>
              <p:nvPr/>
            </p:nvSpPr>
            <p:spPr>
              <a:xfrm rot="16200000">
                <a:off x="394744" y="445032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 rot="5400000" flipH="1">
                <a:off x="1473744" y="4463021"/>
                <a:ext cx="4748212" cy="1080000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595085" y="2394858"/>
              <a:ext cx="1485995" cy="5316764"/>
              <a:chOff x="2228850" y="2242598"/>
              <a:chExt cx="2160000" cy="5134529"/>
            </a:xfrm>
          </p:grpSpPr>
          <p:sp>
            <p:nvSpPr>
              <p:cNvPr id="20" name="菱形 19"/>
              <p:cNvSpPr/>
              <p:nvPr/>
            </p:nvSpPr>
            <p:spPr>
              <a:xfrm>
                <a:off x="2228850" y="2242598"/>
                <a:ext cx="2160000" cy="770924"/>
              </a:xfrm>
              <a:prstGeom prst="diamond">
                <a:avLst/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平行四边形 20"/>
              <p:cNvSpPr/>
              <p:nvPr/>
            </p:nvSpPr>
            <p:spPr>
              <a:xfrm rot="16200000">
                <a:off x="394744" y="445032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平行四边形 21"/>
              <p:cNvSpPr/>
              <p:nvPr/>
            </p:nvSpPr>
            <p:spPr>
              <a:xfrm rot="5400000" flipH="1">
                <a:off x="1473744" y="4463021"/>
                <a:ext cx="4748212" cy="1080000"/>
              </a:xfrm>
              <a:prstGeom prst="parallelogram">
                <a:avLst>
                  <a:gd name="adj" fmla="val 51917"/>
                </a:avLst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2136430" y="1171633"/>
            <a:ext cx="2881243" cy="914043"/>
            <a:chOff x="2136430" y="1171633"/>
            <a:chExt cx="2881243" cy="914043"/>
          </a:xfrm>
        </p:grpSpPr>
        <p:sp>
          <p:nvSpPr>
            <p:cNvPr id="23" name="文本框 22"/>
            <p:cNvSpPr txBox="1"/>
            <p:nvPr/>
          </p:nvSpPr>
          <p:spPr>
            <a:xfrm>
              <a:off x="2136430" y="1777899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自进化系统整体框架的初步搭建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326399" y="1171633"/>
              <a:ext cx="2501307" cy="458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自进化系统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048001" y="2540000"/>
            <a:ext cx="936000" cy="936000"/>
            <a:chOff x="3077029" y="2540000"/>
            <a:chExt cx="936000" cy="936000"/>
          </a:xfrm>
        </p:grpSpPr>
        <p:sp>
          <p:nvSpPr>
            <p:cNvPr id="25" name="泪滴形 24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74003" y="4455885"/>
            <a:ext cx="540000" cy="540000"/>
            <a:chOff x="3077029" y="2540000"/>
            <a:chExt cx="936000" cy="936000"/>
          </a:xfrm>
        </p:grpSpPr>
        <p:sp>
          <p:nvSpPr>
            <p:cNvPr id="29" name="泪滴形 28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915917" y="2852082"/>
            <a:ext cx="2881243" cy="783271"/>
            <a:chOff x="2136431" y="1171633"/>
            <a:chExt cx="2881243" cy="783271"/>
          </a:xfrm>
        </p:grpSpPr>
        <p:sp>
          <p:nvSpPr>
            <p:cNvPr id="33" name="文本框 32"/>
            <p:cNvSpPr txBox="1"/>
            <p:nvPr/>
          </p:nvSpPr>
          <p:spPr>
            <a:xfrm>
              <a:off x="2136431" y="1647127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多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Agent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架构及代码实现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326399" y="1171633"/>
              <a:ext cx="2501307" cy="458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Multi Agent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789888" y="1705789"/>
            <a:ext cx="720000" cy="720000"/>
            <a:chOff x="3077029" y="2540000"/>
            <a:chExt cx="936000" cy="936000"/>
          </a:xfrm>
        </p:grpSpPr>
        <p:sp>
          <p:nvSpPr>
            <p:cNvPr id="36" name="泪滴形 35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725919" y="464480"/>
            <a:ext cx="2881243" cy="783271"/>
            <a:chOff x="2136431" y="1171633"/>
            <a:chExt cx="2881243" cy="783271"/>
          </a:xfrm>
        </p:grpSpPr>
        <p:sp>
          <p:nvSpPr>
            <p:cNvPr id="39" name="文本框 38"/>
            <p:cNvSpPr txBox="1"/>
            <p:nvPr/>
          </p:nvSpPr>
          <p:spPr>
            <a:xfrm>
              <a:off x="2136431" y="1647127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三层记忆架构设计及初步配置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326399" y="1171633"/>
              <a:ext cx="2501307" cy="458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记忆管理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8A85E8A-D768-004A-877F-F08E2AAC3FA6}"/>
              </a:ext>
            </a:extLst>
          </p:cNvPr>
          <p:cNvGrpSpPr/>
          <p:nvPr/>
        </p:nvGrpSpPr>
        <p:grpSpPr>
          <a:xfrm>
            <a:off x="485775" y="374650"/>
            <a:ext cx="2885440" cy="551180"/>
            <a:chOff x="449" y="450"/>
            <a:chExt cx="4544" cy="86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64DC5CCB-E0B8-CB23-9F92-AAC203690F92}"/>
                </a:ext>
              </a:extLst>
            </p:cNvPr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EFD90FFA-60F6-B606-CDB5-302152DD7B06}"/>
                  </a:ext>
                </a:extLst>
              </p:cNvPr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24C272C0-546F-4B02-FF10-E0E55A1579E3}"/>
                  </a:ext>
                </a:extLst>
              </p:cNvPr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36A3F18F-7F74-B4EC-36D3-F573E591342D}"/>
                  </a:ext>
                </a:extLst>
              </p:cNvPr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717B7F0B-95EC-42F1-86E2-86BB9815EAE9}"/>
                  </a:ext>
                </a:extLst>
              </p:cNvPr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D7E0C401-C68D-A2CF-617F-01BC5638420F}"/>
                </a:ext>
              </a:extLst>
            </p:cNvPr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sym typeface="+mn-lt"/>
                </a:rPr>
                <a:t>项目进展</a:t>
              </a:r>
            </a:p>
          </p:txBody>
        </p:sp>
      </p:grpSp>
      <p:sp>
        <p:nvSpPr>
          <p:cNvPr id="59" name="Rectangle 10">
            <a:extLst>
              <a:ext uri="{FF2B5EF4-FFF2-40B4-BE49-F238E27FC236}">
                <a16:creationId xmlns:a16="http://schemas.microsoft.com/office/drawing/2014/main" id="{B4949FCA-125A-DB34-B720-0C3101CF0402}"/>
              </a:ext>
            </a:extLst>
          </p:cNvPr>
          <p:cNvSpPr/>
          <p:nvPr/>
        </p:nvSpPr>
        <p:spPr>
          <a:xfrm>
            <a:off x="0" y="6141575"/>
            <a:ext cx="12191999" cy="716424"/>
          </a:xfrm>
          <a:prstGeom prst="rect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60" name="Freeform 15">
            <a:extLst>
              <a:ext uri="{FF2B5EF4-FFF2-40B4-BE49-F238E27FC236}">
                <a16:creationId xmlns:a16="http://schemas.microsoft.com/office/drawing/2014/main" id="{81CF381A-6ACB-815B-770C-A9C98DFB6045}"/>
              </a:ext>
            </a:extLst>
          </p:cNvPr>
          <p:cNvSpPr/>
          <p:nvPr/>
        </p:nvSpPr>
        <p:spPr bwMode="auto">
          <a:xfrm rot="5400000">
            <a:off x="11658276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61" name="Freeform 15">
            <a:extLst>
              <a:ext uri="{FF2B5EF4-FFF2-40B4-BE49-F238E27FC236}">
                <a16:creationId xmlns:a16="http://schemas.microsoft.com/office/drawing/2014/main" id="{0F0CD724-81AA-3114-995B-B12AC952F336}"/>
              </a:ext>
            </a:extLst>
          </p:cNvPr>
          <p:cNvSpPr/>
          <p:nvPr/>
        </p:nvSpPr>
        <p:spPr bwMode="auto">
          <a:xfrm rot="16200000">
            <a:off x="183412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62" name="Rectangle 8">
            <a:extLst>
              <a:ext uri="{FF2B5EF4-FFF2-40B4-BE49-F238E27FC236}">
                <a16:creationId xmlns:a16="http://schemas.microsoft.com/office/drawing/2014/main" id="{1633D3AC-3F81-3142-7D82-5F0146248CA9}"/>
              </a:ext>
            </a:extLst>
          </p:cNvPr>
          <p:cNvSpPr/>
          <p:nvPr/>
        </p:nvSpPr>
        <p:spPr>
          <a:xfrm>
            <a:off x="0" y="5915874"/>
            <a:ext cx="12191999" cy="225701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0646FD6-6CB5-0943-1A6D-13745C65E0E6}"/>
              </a:ext>
            </a:extLst>
          </p:cNvPr>
          <p:cNvSpPr txBox="1"/>
          <p:nvPr/>
        </p:nvSpPr>
        <p:spPr>
          <a:xfrm>
            <a:off x="3718567" y="6307823"/>
            <a:ext cx="896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面向智能客服的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AI Agent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血糖管理自进化系统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49520722-C506-3829-A1C3-60DEBDA78C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3027355" y="6411765"/>
            <a:ext cx="329019" cy="340455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34CEA293-4FF3-59CC-2888-F4DA02FD04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2606185" y="6211574"/>
            <a:ext cx="532232" cy="550732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E9B5FE27-BE62-8414-F733-AA80B29B52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1673392" y="6398159"/>
            <a:ext cx="329019" cy="340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片 110">
            <a:extLst>
              <a:ext uri="{FF2B5EF4-FFF2-40B4-BE49-F238E27FC236}">
                <a16:creationId xmlns:a16="http://schemas.microsoft.com/office/drawing/2014/main" id="{DA96A34C-622D-8684-CB9D-56F2B52BF7C6}"/>
              </a:ext>
            </a:extLst>
          </p:cNvPr>
          <p:cNvPicPr>
            <a:picLocks noChangeAspect="1"/>
          </p:cNvPicPr>
          <p:nvPr/>
        </p:nvPicPr>
        <p:blipFill>
          <a:blip r:embed="rId3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7276" y="3303741"/>
            <a:ext cx="1354895" cy="1354895"/>
          </a:xfrm>
          <a:prstGeom prst="rect">
            <a:avLst/>
          </a:prstGeom>
        </p:spPr>
      </p:pic>
      <p:pic>
        <p:nvPicPr>
          <p:cNvPr id="110" name="图片 109">
            <a:extLst>
              <a:ext uri="{FF2B5EF4-FFF2-40B4-BE49-F238E27FC236}">
                <a16:creationId xmlns:a16="http://schemas.microsoft.com/office/drawing/2014/main" id="{11B1A806-A4B7-5E5B-03F7-86E2649C933F}"/>
              </a:ext>
            </a:extLst>
          </p:cNvPr>
          <p:cNvPicPr>
            <a:picLocks noChangeAspect="1"/>
          </p:cNvPicPr>
          <p:nvPr/>
        </p:nvPicPr>
        <p:blipFill>
          <a:blip r:embed="rId3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463" y="3387923"/>
            <a:ext cx="1985957" cy="1985957"/>
          </a:xfrm>
          <a:prstGeom prst="rect">
            <a:avLst/>
          </a:prstGeom>
        </p:spPr>
      </p:pic>
      <p:sp>
        <p:nvSpPr>
          <p:cNvPr id="106" name="Rectangle 8">
            <a:extLst>
              <a:ext uri="{FF2B5EF4-FFF2-40B4-BE49-F238E27FC236}">
                <a16:creationId xmlns:a16="http://schemas.microsoft.com/office/drawing/2014/main" id="{76AB1F09-9E85-F9BF-13F2-3127D476566D}"/>
              </a:ext>
            </a:extLst>
          </p:cNvPr>
          <p:cNvSpPr/>
          <p:nvPr/>
        </p:nvSpPr>
        <p:spPr>
          <a:xfrm>
            <a:off x="95739" y="3804612"/>
            <a:ext cx="4077482" cy="116724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8795F75B-E9E4-DF33-1DE7-EE7F385098EE}"/>
              </a:ext>
            </a:extLst>
          </p:cNvPr>
          <p:cNvPicPr>
            <a:picLocks noChangeAspect="1"/>
          </p:cNvPicPr>
          <p:nvPr/>
        </p:nvPicPr>
        <p:blipFill>
          <a:blip r:embed="rId3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4249" y="2122071"/>
            <a:ext cx="4390696" cy="4390696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485775" y="374650"/>
            <a:ext cx="3923030" cy="551815"/>
            <a:chOff x="449" y="450"/>
            <a:chExt cx="6178" cy="869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576"/>
              <a:ext cx="515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评测驱动的自进化闭环流程</a:t>
              </a:r>
            </a:p>
          </p:txBody>
        </p:sp>
      </p:grpSp>
      <p:sp>
        <p:nvSpPr>
          <p:cNvPr id="44" name="矩形 43"/>
          <p:cNvSpPr/>
          <p:nvPr/>
        </p:nvSpPr>
        <p:spPr>
          <a:xfrm>
            <a:off x="5120322" y="366325"/>
            <a:ext cx="1951355" cy="469742"/>
          </a:xfrm>
          <a:prstGeom prst="rect">
            <a:avLst/>
          </a:prstGeom>
          <a:solidFill>
            <a:srgbClr val="ED7EA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zh-CN" altLang="en-US" sz="1200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rPr>
              <a:t>触发优化</a:t>
            </a:r>
          </a:p>
          <a:p>
            <a:pPr algn="ctr" defTabSz="457200"/>
            <a:r>
              <a:rPr lang="zh-CN" altLang="en-US" sz="1200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rPr>
              <a:t>（周期触发</a:t>
            </a:r>
            <a:r>
              <a:rPr lang="en-US" altLang="zh-CN" sz="1200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rPr>
              <a:t>/</a:t>
            </a:r>
            <a:r>
              <a:rPr lang="zh-CN" altLang="en-US" sz="1200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rPr>
              <a:t>低分即时触发）</a:t>
            </a:r>
          </a:p>
        </p:txBody>
      </p:sp>
      <p:grpSp>
        <p:nvGrpSpPr>
          <p:cNvPr id="76" name="组合 75"/>
          <p:cNvGrpSpPr/>
          <p:nvPr/>
        </p:nvGrpSpPr>
        <p:grpSpPr>
          <a:xfrm>
            <a:off x="1087120" y="1246505"/>
            <a:ext cx="10038080" cy="2343785"/>
            <a:chOff x="1372" y="2800"/>
            <a:chExt cx="15808" cy="3961"/>
          </a:xfrm>
        </p:grpSpPr>
        <p:grpSp>
          <p:nvGrpSpPr>
            <p:cNvPr id="7" name="组合 6"/>
            <p:cNvGrpSpPr/>
            <p:nvPr>
              <p:custDataLst>
                <p:tags r:id="rId19"/>
              </p:custDataLst>
            </p:nvPr>
          </p:nvGrpSpPr>
          <p:grpSpPr>
            <a:xfrm>
              <a:off x="1372" y="2815"/>
              <a:ext cx="4259" cy="3946"/>
              <a:chOff x="7164" y="2523"/>
              <a:chExt cx="4259" cy="3946"/>
            </a:xfrm>
          </p:grpSpPr>
          <p:sp>
            <p:nvSpPr>
              <p:cNvPr id="32" name="矩形 31"/>
              <p:cNvSpPr/>
              <p:nvPr>
                <p:custDataLst>
                  <p:tags r:id="rId32"/>
                </p:custDataLst>
              </p:nvPr>
            </p:nvSpPr>
            <p:spPr>
              <a:xfrm>
                <a:off x="7366" y="3036"/>
                <a:ext cx="3837" cy="3248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4" name="矩形 33"/>
              <p:cNvSpPr/>
              <p:nvPr>
                <p:custDataLst>
                  <p:tags r:id="rId33"/>
                </p:custDataLst>
              </p:nvPr>
            </p:nvSpPr>
            <p:spPr>
              <a:xfrm>
                <a:off x="7164" y="2866"/>
                <a:ext cx="4259" cy="3603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5" name="矩形 34"/>
              <p:cNvSpPr/>
              <p:nvPr>
                <p:custDataLst>
                  <p:tags r:id="rId34"/>
                </p:custDataLst>
              </p:nvPr>
            </p:nvSpPr>
            <p:spPr>
              <a:xfrm>
                <a:off x="7779" y="2523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step 1</a:t>
                </a: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7779" y="3174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evaluator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评分</a:t>
                </a:r>
              </a:p>
            </p:txBody>
          </p:sp>
          <p:sp>
            <p:nvSpPr>
              <p:cNvPr id="45" name="文本框 44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7779" y="3710"/>
                <a:ext cx="2883" cy="46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ctr">
                  <a:defRPr sz="14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5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维度质量评估</a:t>
                </a: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7501" y="440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医学准确性</a:t>
                </a: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9395" y="440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安全性</a:t>
                </a: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7530" y="555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个性化程度</a:t>
                </a: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9395" y="555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表达清晰度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8539" y="4977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完整性</a:t>
                </a: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20"/>
              </p:custDataLst>
            </p:nvPr>
          </p:nvGrpSpPr>
          <p:grpSpPr>
            <a:xfrm>
              <a:off x="7210" y="2815"/>
              <a:ext cx="4259" cy="3946"/>
              <a:chOff x="7164" y="2523"/>
              <a:chExt cx="4259" cy="3946"/>
            </a:xfrm>
          </p:grpSpPr>
          <p:sp>
            <p:nvSpPr>
              <p:cNvPr id="15" name="矩形 14"/>
              <p:cNvSpPr/>
              <p:nvPr>
                <p:custDataLst>
                  <p:tags r:id="rId27"/>
                </p:custDataLst>
              </p:nvPr>
            </p:nvSpPr>
            <p:spPr>
              <a:xfrm>
                <a:off x="7366" y="3036"/>
                <a:ext cx="3837" cy="3248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6" name="矩形 15"/>
              <p:cNvSpPr/>
              <p:nvPr>
                <p:custDataLst>
                  <p:tags r:id="rId28"/>
                </p:custDataLst>
              </p:nvPr>
            </p:nvSpPr>
            <p:spPr>
              <a:xfrm>
                <a:off x="7164" y="2866"/>
                <a:ext cx="4259" cy="3603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>
                <p:custDataLst>
                  <p:tags r:id="rId29"/>
                </p:custDataLst>
              </p:nvPr>
            </p:nvSpPr>
            <p:spPr>
              <a:xfrm>
                <a:off x="7779" y="2523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step 2</a:t>
                </a:r>
              </a:p>
            </p:txBody>
          </p:sp>
          <p:sp>
            <p:nvSpPr>
              <p:cNvPr id="19" name="文本框 18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7779" y="3164"/>
                <a:ext cx="2952" cy="403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analyzer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根因分析</a:t>
                </a: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7779" y="3710"/>
                <a:ext cx="2952" cy="46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ctr">
                  <a:defRPr sz="14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根因分类逻辑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8449" y="4977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prompt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类</a:t>
                </a: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8449" y="4354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memory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类</a:t>
                </a: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8080" y="5586"/>
                <a:ext cx="2300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coordination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类</a:t>
                </a:r>
              </a:p>
            </p:txBody>
          </p:sp>
        </p:grpSp>
        <p:grpSp>
          <p:nvGrpSpPr>
            <p:cNvPr id="26" name="组合 25"/>
            <p:cNvGrpSpPr/>
            <p:nvPr>
              <p:custDataLst>
                <p:tags r:id="rId21"/>
              </p:custDataLst>
            </p:nvPr>
          </p:nvGrpSpPr>
          <p:grpSpPr>
            <a:xfrm>
              <a:off x="12921" y="2800"/>
              <a:ext cx="4259" cy="3946"/>
              <a:chOff x="7164" y="2523"/>
              <a:chExt cx="4259" cy="3946"/>
            </a:xfrm>
          </p:grpSpPr>
          <p:sp>
            <p:nvSpPr>
              <p:cNvPr id="27" name="矩形 26"/>
              <p:cNvSpPr/>
              <p:nvPr>
                <p:custDataLst>
                  <p:tags r:id="rId22"/>
                </p:custDataLst>
              </p:nvPr>
            </p:nvSpPr>
            <p:spPr>
              <a:xfrm>
                <a:off x="7366" y="3036"/>
                <a:ext cx="3837" cy="3248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8" name="矩形 27"/>
              <p:cNvSpPr/>
              <p:nvPr>
                <p:custDataLst>
                  <p:tags r:id="rId23"/>
                </p:custDataLst>
              </p:nvPr>
            </p:nvSpPr>
            <p:spPr>
              <a:xfrm>
                <a:off x="7164" y="2866"/>
                <a:ext cx="4259" cy="3603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9" name="矩形 28"/>
              <p:cNvSpPr/>
              <p:nvPr>
                <p:custDataLst>
                  <p:tags r:id="rId24"/>
                </p:custDataLst>
              </p:nvPr>
            </p:nvSpPr>
            <p:spPr>
              <a:xfrm>
                <a:off x="7779" y="2523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step 3</a:t>
                </a:r>
              </a:p>
            </p:txBody>
          </p:sp>
          <p:sp>
            <p:nvSpPr>
              <p:cNvPr id="30" name="文本框 29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7779" y="3209"/>
                <a:ext cx="2883" cy="377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路由到对应优化器</a:t>
                </a:r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7779" y="3710"/>
                <a:ext cx="2883" cy="50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ctr">
                  <a:defRPr sz="14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路由规则</a:t>
                </a: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7501" y="4417"/>
                <a:ext cx="3481" cy="729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prompt / coordination </a:t>
                </a: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→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prompt_optimizer</a:t>
                </a:r>
              </a:p>
            </p:txBody>
          </p:sp>
        </p:grpSp>
      </p:grpSp>
      <p:sp>
        <p:nvSpPr>
          <p:cNvPr id="41" name="文本框 40"/>
          <p:cNvSpPr txBox="1"/>
          <p:nvPr/>
        </p:nvSpPr>
        <p:spPr>
          <a:xfrm>
            <a:off x="8634730" y="2875280"/>
            <a:ext cx="2210435" cy="462915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memory </a:t>
            </a: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→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memory_optimizer</a:t>
            </a:r>
          </a:p>
        </p:txBody>
      </p:sp>
      <p:grpSp>
        <p:nvGrpSpPr>
          <p:cNvPr id="75" name="组合 74"/>
          <p:cNvGrpSpPr/>
          <p:nvPr/>
        </p:nvGrpSpPr>
        <p:grpSpPr>
          <a:xfrm>
            <a:off x="3025140" y="4135755"/>
            <a:ext cx="6262370" cy="866775"/>
            <a:chOff x="6304" y="7662"/>
            <a:chExt cx="9862" cy="1531"/>
          </a:xfrm>
        </p:grpSpPr>
        <p:grpSp>
          <p:nvGrpSpPr>
            <p:cNvPr id="42" name="组合 41"/>
            <p:cNvGrpSpPr/>
            <p:nvPr>
              <p:custDataLst>
                <p:tags r:id="rId13"/>
              </p:custDataLst>
            </p:nvPr>
          </p:nvGrpSpPr>
          <p:grpSpPr>
            <a:xfrm>
              <a:off x="6304" y="7662"/>
              <a:ext cx="9862" cy="1531"/>
              <a:chOff x="7514" y="4480"/>
              <a:chExt cx="10213" cy="1531"/>
            </a:xfrm>
          </p:grpSpPr>
          <p:sp>
            <p:nvSpPr>
              <p:cNvPr id="46" name="矩形 45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4" y="4600"/>
                <a:ext cx="3319" cy="130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53" name="矩形 52"/>
              <p:cNvSpPr/>
              <p:nvPr>
                <p:custDataLst>
                  <p:tags r:id="rId18"/>
                </p:custDataLst>
              </p:nvPr>
            </p:nvSpPr>
            <p:spPr>
              <a:xfrm>
                <a:off x="7514" y="4480"/>
                <a:ext cx="10213" cy="1531"/>
              </a:xfrm>
              <a:prstGeom prst="rect">
                <a:avLst/>
              </a:prstGeom>
              <a:noFill/>
              <a:ln w="25400" cap="flat" cmpd="sng" algn="ctr">
                <a:solidFill>
                  <a:srgbClr val="E7E6E6">
                    <a:lumMod val="75000"/>
                  </a:srgbClr>
                </a:solidFill>
                <a:prstDash val="sysDot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7844" y="5316"/>
                <a:ext cx="2881" cy="455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补充约束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/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格式规范</a:t>
                </a:r>
              </a:p>
            </p:txBody>
          </p:sp>
        </p:grpSp>
        <p:sp>
          <p:nvSpPr>
            <p:cNvPr id="71" name="文本框 70"/>
            <p:cNvSpPr txBox="1"/>
            <p:nvPr>
              <p:custDataLst>
                <p:tags r:id="rId14"/>
              </p:custDataLst>
            </p:nvPr>
          </p:nvSpPr>
          <p:spPr>
            <a:xfrm>
              <a:off x="6633" y="7932"/>
              <a:ext cx="2771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Prompt Optimizer</a:t>
              </a:r>
            </a:p>
          </p:txBody>
        </p:sp>
        <p:sp>
          <p:nvSpPr>
            <p:cNvPr id="72" name="矩形 71"/>
            <p:cNvSpPr/>
            <p:nvPr>
              <p:custDataLst>
                <p:tags r:id="rId15"/>
              </p:custDataLst>
            </p:nvPr>
          </p:nvSpPr>
          <p:spPr>
            <a:xfrm>
              <a:off x="12839" y="7782"/>
              <a:ext cx="3167" cy="1302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3" name="文本框 72"/>
            <p:cNvSpPr txBox="1"/>
            <p:nvPr>
              <p:custDataLst>
                <p:tags r:id="rId16"/>
              </p:custDataLst>
            </p:nvPr>
          </p:nvSpPr>
          <p:spPr>
            <a:xfrm>
              <a:off x="13016" y="7932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Memory Optimizer</a:t>
              </a: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3018" y="8498"/>
              <a:ext cx="2881" cy="455"/>
            </a:xfrm>
            <a:prstGeom prst="rect">
              <a:avLst/>
            </a:prstGeom>
            <a:solidFill>
              <a:srgbClr val="0E4B7A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补充更新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/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合并删除</a:t>
              </a:r>
            </a:p>
          </p:txBody>
        </p:sp>
      </p:grpSp>
      <p:grpSp>
        <p:nvGrpSpPr>
          <p:cNvPr id="85" name="组合 84"/>
          <p:cNvGrpSpPr/>
          <p:nvPr>
            <p:custDataLst>
              <p:tags r:id="rId1"/>
            </p:custDataLst>
          </p:nvPr>
        </p:nvGrpSpPr>
        <p:grpSpPr>
          <a:xfrm>
            <a:off x="1908175" y="5352415"/>
            <a:ext cx="2704465" cy="1394460"/>
            <a:chOff x="6832" y="2455"/>
            <a:chExt cx="4259" cy="2196"/>
          </a:xfrm>
        </p:grpSpPr>
        <p:sp>
          <p:nvSpPr>
            <p:cNvPr id="86" name="矩形 85"/>
            <p:cNvSpPr/>
            <p:nvPr>
              <p:custDataLst>
                <p:tags r:id="rId8"/>
              </p:custDataLst>
            </p:nvPr>
          </p:nvSpPr>
          <p:spPr>
            <a:xfrm>
              <a:off x="7034" y="2968"/>
              <a:ext cx="3837" cy="1510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7" name="矩形 86"/>
            <p:cNvSpPr/>
            <p:nvPr>
              <p:custDataLst>
                <p:tags r:id="rId9"/>
              </p:custDataLst>
            </p:nvPr>
          </p:nvSpPr>
          <p:spPr>
            <a:xfrm>
              <a:off x="6832" y="2798"/>
              <a:ext cx="4259" cy="1853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10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step 4</a:t>
              </a:r>
            </a:p>
          </p:txBody>
        </p:sp>
        <p:sp>
          <p:nvSpPr>
            <p:cNvPr id="89" name="文本框 88"/>
            <p:cNvSpPr txBox="1"/>
            <p:nvPr>
              <p:custDataLst>
                <p:tags r:id="rId11"/>
              </p:custDataLst>
            </p:nvPr>
          </p:nvSpPr>
          <p:spPr>
            <a:xfrm>
              <a:off x="7338" y="3147"/>
              <a:ext cx="3061" cy="411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Raluation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再评测</a:t>
              </a:r>
            </a:p>
          </p:txBody>
        </p:sp>
        <p:sp>
          <p:nvSpPr>
            <p:cNvPr id="90" name="文本框 89"/>
            <p:cNvSpPr txBox="1"/>
            <p:nvPr>
              <p:custDataLst>
                <p:tags r:id="rId12"/>
              </p:custDataLst>
            </p:nvPr>
          </p:nvSpPr>
          <p:spPr>
            <a:xfrm>
              <a:off x="7339" y="3749"/>
              <a:ext cx="3061" cy="539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重新打分，验证效果</a:t>
              </a:r>
            </a:p>
          </p:txBody>
        </p:sp>
      </p:grpSp>
      <p:grpSp>
        <p:nvGrpSpPr>
          <p:cNvPr id="91" name="组合 90"/>
          <p:cNvGrpSpPr/>
          <p:nvPr>
            <p:custDataLst>
              <p:tags r:id="rId2"/>
            </p:custDataLst>
          </p:nvPr>
        </p:nvGrpSpPr>
        <p:grpSpPr>
          <a:xfrm>
            <a:off x="7310120" y="5401945"/>
            <a:ext cx="2704465" cy="1394460"/>
            <a:chOff x="6832" y="2455"/>
            <a:chExt cx="4259" cy="2196"/>
          </a:xfrm>
        </p:grpSpPr>
        <p:sp>
          <p:nvSpPr>
            <p:cNvPr id="92" name="矩形 91"/>
            <p:cNvSpPr/>
            <p:nvPr>
              <p:custDataLst>
                <p:tags r:id="rId3"/>
              </p:custDataLst>
            </p:nvPr>
          </p:nvSpPr>
          <p:spPr>
            <a:xfrm>
              <a:off x="7034" y="2968"/>
              <a:ext cx="3837" cy="1510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3" name="矩形 92"/>
            <p:cNvSpPr/>
            <p:nvPr>
              <p:custDataLst>
                <p:tags r:id="rId4"/>
              </p:custDataLst>
            </p:nvPr>
          </p:nvSpPr>
          <p:spPr>
            <a:xfrm>
              <a:off x="6832" y="2798"/>
              <a:ext cx="4259" cy="1853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4" name="矩形 93"/>
            <p:cNvSpPr/>
            <p:nvPr>
              <p:custDataLst>
                <p:tags r:id="rId5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step 5</a:t>
              </a:r>
            </a:p>
          </p:txBody>
        </p:sp>
        <p:sp>
          <p:nvSpPr>
            <p:cNvPr id="95" name="文本框 94"/>
            <p:cNvSpPr txBox="1"/>
            <p:nvPr>
              <p:custDataLst>
                <p:tags r:id="rId6"/>
              </p:custDataLst>
            </p:nvPr>
          </p:nvSpPr>
          <p:spPr>
            <a:xfrm>
              <a:off x="7384" y="3129"/>
              <a:ext cx="3127" cy="395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闭环结束</a:t>
              </a:r>
            </a:p>
          </p:txBody>
        </p:sp>
        <p:sp>
          <p:nvSpPr>
            <p:cNvPr id="96" name="文本框 95"/>
            <p:cNvSpPr txBox="1"/>
            <p:nvPr>
              <p:custDataLst>
                <p:tags r:id="rId7"/>
              </p:custDataLst>
            </p:nvPr>
          </p:nvSpPr>
          <p:spPr>
            <a:xfrm>
              <a:off x="7384" y="3749"/>
              <a:ext cx="3127" cy="539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达标停止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/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否则继续</a:t>
              </a:r>
            </a:p>
          </p:txBody>
        </p:sp>
      </p:grpSp>
      <p:sp>
        <p:nvSpPr>
          <p:cNvPr id="97" name="下箭头 96"/>
          <p:cNvSpPr/>
          <p:nvPr/>
        </p:nvSpPr>
        <p:spPr>
          <a:xfrm>
            <a:off x="5947551" y="930169"/>
            <a:ext cx="306070" cy="30543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/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sp>
        <p:nvSpPr>
          <p:cNvPr id="100" name="下箭头 99"/>
          <p:cNvSpPr/>
          <p:nvPr/>
        </p:nvSpPr>
        <p:spPr>
          <a:xfrm>
            <a:off x="4306570" y="3762375"/>
            <a:ext cx="306070" cy="30543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/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sp>
        <p:nvSpPr>
          <p:cNvPr id="102" name="下箭头 101"/>
          <p:cNvSpPr/>
          <p:nvPr/>
        </p:nvSpPr>
        <p:spPr>
          <a:xfrm>
            <a:off x="7700645" y="3762375"/>
            <a:ext cx="306070" cy="30543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sp>
        <p:nvSpPr>
          <p:cNvPr id="103" name="下箭头 102"/>
          <p:cNvSpPr/>
          <p:nvPr/>
        </p:nvSpPr>
        <p:spPr>
          <a:xfrm>
            <a:off x="5790565" y="5096510"/>
            <a:ext cx="306070" cy="30543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sp>
        <p:nvSpPr>
          <p:cNvPr id="33" name="下箭头 99">
            <a:extLst>
              <a:ext uri="{FF2B5EF4-FFF2-40B4-BE49-F238E27FC236}">
                <a16:creationId xmlns:a16="http://schemas.microsoft.com/office/drawing/2014/main" id="{10B94629-C2CC-7753-D0E1-D7332A95289C}"/>
              </a:ext>
            </a:extLst>
          </p:cNvPr>
          <p:cNvSpPr/>
          <p:nvPr/>
        </p:nvSpPr>
        <p:spPr>
          <a:xfrm rot="16200000">
            <a:off x="4050191" y="2299526"/>
            <a:ext cx="305436" cy="566102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/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sp>
        <p:nvSpPr>
          <p:cNvPr id="37" name="下箭头 99">
            <a:extLst>
              <a:ext uri="{FF2B5EF4-FFF2-40B4-BE49-F238E27FC236}">
                <a16:creationId xmlns:a16="http://schemas.microsoft.com/office/drawing/2014/main" id="{EA65D49B-D7F9-5973-6203-19060642EF0F}"/>
              </a:ext>
            </a:extLst>
          </p:cNvPr>
          <p:cNvSpPr/>
          <p:nvPr/>
        </p:nvSpPr>
        <p:spPr>
          <a:xfrm rot="16200000">
            <a:off x="7847571" y="2257152"/>
            <a:ext cx="318289" cy="625154"/>
          </a:xfrm>
          <a:prstGeom prst="downArrow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/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sp>
        <p:nvSpPr>
          <p:cNvPr id="39" name="下箭头 99">
            <a:extLst>
              <a:ext uri="{FF2B5EF4-FFF2-40B4-BE49-F238E27FC236}">
                <a16:creationId xmlns:a16="http://schemas.microsoft.com/office/drawing/2014/main" id="{FAC0F60A-BB02-591D-FF54-8C0DF0E0E999}"/>
              </a:ext>
            </a:extLst>
          </p:cNvPr>
          <p:cNvSpPr/>
          <p:nvPr/>
        </p:nvSpPr>
        <p:spPr>
          <a:xfrm rot="16200000">
            <a:off x="5810442" y="5206651"/>
            <a:ext cx="296796" cy="1817027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/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6868B3BE-2AE4-B296-A2CC-EF5E92EC7013}"/>
              </a:ext>
            </a:extLst>
          </p:cNvPr>
          <p:cNvGrpSpPr/>
          <p:nvPr/>
        </p:nvGrpSpPr>
        <p:grpSpPr>
          <a:xfrm>
            <a:off x="5287225" y="93460"/>
            <a:ext cx="344590" cy="344590"/>
            <a:chOff x="3077029" y="2540000"/>
            <a:chExt cx="936000" cy="936000"/>
          </a:xfrm>
        </p:grpSpPr>
        <p:sp>
          <p:nvSpPr>
            <p:cNvPr id="54" name="泪滴形 53">
              <a:extLst>
                <a:ext uri="{FF2B5EF4-FFF2-40B4-BE49-F238E27FC236}">
                  <a16:creationId xmlns:a16="http://schemas.microsoft.com/office/drawing/2014/main" id="{C8F26733-66A2-B451-65F4-E0F1FFEC1812}"/>
                </a:ext>
              </a:extLst>
            </p:cNvPr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9C768864-5CC5-04E2-E34E-FECDBB0E0BC3}"/>
                </a:ext>
              </a:extLst>
            </p:cNvPr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7" name="Rectangle 8">
            <a:extLst>
              <a:ext uri="{FF2B5EF4-FFF2-40B4-BE49-F238E27FC236}">
                <a16:creationId xmlns:a16="http://schemas.microsoft.com/office/drawing/2014/main" id="{5A88A5CB-47E1-E526-3C45-2317DDB6E093}"/>
              </a:ext>
            </a:extLst>
          </p:cNvPr>
          <p:cNvSpPr/>
          <p:nvPr/>
        </p:nvSpPr>
        <p:spPr>
          <a:xfrm>
            <a:off x="4744421" y="3793248"/>
            <a:ext cx="2752584" cy="116724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108" name="Rectangle 8">
            <a:extLst>
              <a:ext uri="{FF2B5EF4-FFF2-40B4-BE49-F238E27FC236}">
                <a16:creationId xmlns:a16="http://schemas.microsoft.com/office/drawing/2014/main" id="{F3AA9EF5-A6F9-65E0-4352-171843269727}"/>
              </a:ext>
            </a:extLst>
          </p:cNvPr>
          <p:cNvSpPr/>
          <p:nvPr/>
        </p:nvSpPr>
        <p:spPr>
          <a:xfrm>
            <a:off x="8232281" y="3793248"/>
            <a:ext cx="4791960" cy="128088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片 70">
            <a:extLst>
              <a:ext uri="{FF2B5EF4-FFF2-40B4-BE49-F238E27FC236}">
                <a16:creationId xmlns:a16="http://schemas.microsoft.com/office/drawing/2014/main" id="{5F1645A1-FCF5-5BA7-9E0D-B9BC76226D6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4715" y="704409"/>
            <a:ext cx="6249169" cy="6249169"/>
          </a:xfrm>
          <a:prstGeom prst="rect">
            <a:avLst/>
          </a:prstGeom>
        </p:spPr>
      </p:pic>
      <p:sp>
        <p:nvSpPr>
          <p:cNvPr id="23" name="ïSlîdê"/>
          <p:cNvSpPr/>
          <p:nvPr/>
        </p:nvSpPr>
        <p:spPr>
          <a:xfrm rot="20752402">
            <a:off x="3840612" y="2302392"/>
            <a:ext cx="2977377" cy="3031847"/>
          </a:xfrm>
          <a:prstGeom prst="ellipse">
            <a:avLst/>
          </a:prstGeom>
          <a:noFill/>
          <a:ln w="19050" cap="flat" cmpd="sng">
            <a:solidFill>
              <a:schemeClr val="bg1">
                <a:lumMod val="8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40" tIns="45720" rIns="91440" bIns="4572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 bwMode="auto">
          <a:xfrm>
            <a:off x="430662" y="2424943"/>
            <a:ext cx="2691129" cy="1292636"/>
            <a:chOff x="833850" y="5108274"/>
            <a:chExt cx="2691597" cy="1293602"/>
          </a:xfrm>
        </p:grpSpPr>
        <p:sp>
          <p:nvSpPr>
            <p:cNvPr id="31" name="矩形 30"/>
            <p:cNvSpPr/>
            <p:nvPr/>
          </p:nvSpPr>
          <p:spPr bwMode="auto">
            <a:xfrm>
              <a:off x="833850" y="5755062"/>
              <a:ext cx="2691597" cy="64681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Agent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自进化（提示词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+memory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）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三层记忆管理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44361" y="5108274"/>
              <a:ext cx="1844860" cy="369608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项目创新点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985852" y="3163938"/>
            <a:ext cx="3206148" cy="889244"/>
            <a:chOff x="8206653" y="2292873"/>
            <a:chExt cx="3206148" cy="889244"/>
          </a:xfrm>
        </p:grpSpPr>
        <p:sp>
          <p:nvSpPr>
            <p:cNvPr id="33" name="矩形 32"/>
            <p:cNvSpPr/>
            <p:nvPr/>
          </p:nvSpPr>
          <p:spPr bwMode="auto">
            <a:xfrm>
              <a:off x="8206653" y="2751230"/>
              <a:ext cx="3009889" cy="43088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Evaluator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双维度评估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+ Analyzer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归因框架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+  Memory&amp;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提示词优化边界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/>
          </p:nvSpPr>
          <p:spPr bwMode="auto">
            <a:xfrm>
              <a:off x="8206653" y="2292873"/>
              <a:ext cx="3206148" cy="369332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构建自检与双维度评估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911114" y="1622174"/>
            <a:ext cx="2894418" cy="907882"/>
            <a:chOff x="8198474" y="2307321"/>
            <a:chExt cx="2894418" cy="907882"/>
          </a:xfrm>
        </p:grpSpPr>
        <p:sp>
          <p:nvSpPr>
            <p:cNvPr id="37" name="矩形 36"/>
            <p:cNvSpPr/>
            <p:nvPr/>
          </p:nvSpPr>
          <p:spPr bwMode="auto">
            <a:xfrm>
              <a:off x="8198474" y="2784316"/>
              <a:ext cx="2894418" cy="43088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进一步优化三层记忆管理，借鉴⼈脑的记忆筛选、重构与遗忘机制</a:t>
              </a:r>
              <a:endPara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8" name="文本框 37"/>
            <p:cNvSpPr txBox="1"/>
            <p:nvPr/>
          </p:nvSpPr>
          <p:spPr bwMode="auto">
            <a:xfrm>
              <a:off x="8198474" y="2307321"/>
              <a:ext cx="1844539" cy="3690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记忆管理接⼊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964338" y="4890060"/>
            <a:ext cx="2824912" cy="862058"/>
            <a:chOff x="8198473" y="2256057"/>
            <a:chExt cx="2824912" cy="862058"/>
          </a:xfrm>
        </p:grpSpPr>
        <p:sp>
          <p:nvSpPr>
            <p:cNvPr id="40" name="矩形 39"/>
            <p:cNvSpPr/>
            <p:nvPr/>
          </p:nvSpPr>
          <p:spPr bwMode="auto">
            <a:xfrm>
              <a:off x="8198473" y="2654398"/>
              <a:ext cx="2824912" cy="46371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完善⾯向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prompt + memory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的双闭环⾃进化机制</a:t>
              </a:r>
              <a:endPara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 bwMode="auto">
            <a:xfrm>
              <a:off x="8198473" y="2256057"/>
              <a:ext cx="2655039" cy="369332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实现⾃进化与双闭环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85775" y="374650"/>
            <a:ext cx="2885440" cy="551180"/>
            <a:chOff x="449" y="450"/>
            <a:chExt cx="4544" cy="868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sym typeface="+mn-lt"/>
                </a:rPr>
                <a:t>下阶段推进及安排</a:t>
              </a:r>
            </a:p>
          </p:txBody>
        </p:sp>
      </p:grpSp>
      <p:sp>
        <p:nvSpPr>
          <p:cNvPr id="15" name="iśḻïďé">
            <a:extLst>
              <a:ext uri="{FF2B5EF4-FFF2-40B4-BE49-F238E27FC236}">
                <a16:creationId xmlns:a16="http://schemas.microsoft.com/office/drawing/2014/main" id="{7A7C5D4F-85F9-26FB-1445-FF8D7DCDA52F}"/>
              </a:ext>
            </a:extLst>
          </p:cNvPr>
          <p:cNvSpPr/>
          <p:nvPr/>
        </p:nvSpPr>
        <p:spPr bwMode="auto">
          <a:xfrm>
            <a:off x="3172292" y="3226743"/>
            <a:ext cx="750297" cy="2054326"/>
          </a:xfrm>
          <a:prstGeom prst="ellipse">
            <a:avLst/>
          </a:pr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îşlïďè">
            <a:extLst>
              <a:ext uri="{FF2B5EF4-FFF2-40B4-BE49-F238E27FC236}">
                <a16:creationId xmlns:a16="http://schemas.microsoft.com/office/drawing/2014/main" id="{D1082975-2A18-E9C9-C6AE-6F029DD72946}"/>
              </a:ext>
            </a:extLst>
          </p:cNvPr>
          <p:cNvSpPr/>
          <p:nvPr/>
        </p:nvSpPr>
        <p:spPr bwMode="auto">
          <a:xfrm>
            <a:off x="2519878" y="3226743"/>
            <a:ext cx="1027563" cy="2054326"/>
          </a:xfrm>
          <a:custGeom>
            <a:avLst/>
            <a:gdLst>
              <a:gd name="T0" fmla="*/ 690 w 1087"/>
              <a:gd name="T1" fmla="*/ 1087 h 2174"/>
              <a:gd name="T2" fmla="*/ 1087 w 1087"/>
              <a:gd name="T3" fmla="*/ 0 h 2174"/>
              <a:gd name="T4" fmla="*/ 0 w 1087"/>
              <a:gd name="T5" fmla="*/ 1087 h 2174"/>
              <a:gd name="T6" fmla="*/ 1087 w 1087"/>
              <a:gd name="T7" fmla="*/ 2174 h 2174"/>
              <a:gd name="T8" fmla="*/ 1087 w 1087"/>
              <a:gd name="T9" fmla="*/ 2174 h 2174"/>
              <a:gd name="T10" fmla="*/ 690 w 1087"/>
              <a:gd name="T11" fmla="*/ 1087 h 2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87" h="2174">
                <a:moveTo>
                  <a:pt x="690" y="1087"/>
                </a:moveTo>
                <a:cubicBezTo>
                  <a:pt x="690" y="487"/>
                  <a:pt x="868" y="0"/>
                  <a:pt x="1087" y="0"/>
                </a:cubicBezTo>
                <a:cubicBezTo>
                  <a:pt x="487" y="0"/>
                  <a:pt x="0" y="487"/>
                  <a:pt x="0" y="1087"/>
                </a:cubicBezTo>
                <a:cubicBezTo>
                  <a:pt x="0" y="1687"/>
                  <a:pt x="487" y="2174"/>
                  <a:pt x="1087" y="2174"/>
                </a:cubicBezTo>
                <a:cubicBezTo>
                  <a:pt x="1087" y="2174"/>
                  <a:pt x="1087" y="2174"/>
                  <a:pt x="1087" y="2174"/>
                </a:cubicBezTo>
                <a:cubicBezTo>
                  <a:pt x="868" y="2174"/>
                  <a:pt x="690" y="1687"/>
                  <a:pt x="690" y="1087"/>
                </a:cubicBezTo>
              </a:path>
            </a:pathLst>
          </a:cu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îṧḷîďê">
            <a:extLst>
              <a:ext uri="{FF2B5EF4-FFF2-40B4-BE49-F238E27FC236}">
                <a16:creationId xmlns:a16="http://schemas.microsoft.com/office/drawing/2014/main" id="{EBC464FD-78EF-7E12-D53B-57FFB04FB5C1}"/>
              </a:ext>
            </a:extLst>
          </p:cNvPr>
          <p:cNvSpPr/>
          <p:nvPr/>
        </p:nvSpPr>
        <p:spPr bwMode="auto">
          <a:xfrm>
            <a:off x="3260921" y="3981253"/>
            <a:ext cx="1236112" cy="584097"/>
          </a:xfrm>
          <a:custGeom>
            <a:avLst/>
            <a:gdLst>
              <a:gd name="T0" fmla="*/ 1042 w 1308"/>
              <a:gd name="T1" fmla="*/ 96 h 618"/>
              <a:gd name="T2" fmla="*/ 602 w 1308"/>
              <a:gd name="T3" fmla="*/ 0 h 618"/>
              <a:gd name="T4" fmla="*/ 0 w 1308"/>
              <a:gd name="T5" fmla="*/ 602 h 618"/>
              <a:gd name="T6" fmla="*/ 301 w 1308"/>
              <a:gd name="T7" fmla="*/ 618 h 618"/>
              <a:gd name="T8" fmla="*/ 1042 w 1308"/>
              <a:gd name="T9" fmla="*/ 506 h 618"/>
              <a:gd name="T10" fmla="*/ 1308 w 1308"/>
              <a:gd name="T11" fmla="*/ 301 h 618"/>
              <a:gd name="T12" fmla="*/ 1042 w 1308"/>
              <a:gd name="T13" fmla="*/ 96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08" h="618">
                <a:moveTo>
                  <a:pt x="1042" y="96"/>
                </a:moveTo>
                <a:cubicBezTo>
                  <a:pt x="918" y="50"/>
                  <a:pt x="767" y="18"/>
                  <a:pt x="602" y="0"/>
                </a:cubicBezTo>
                <a:cubicBezTo>
                  <a:pt x="0" y="602"/>
                  <a:pt x="0" y="602"/>
                  <a:pt x="0" y="602"/>
                </a:cubicBezTo>
                <a:cubicBezTo>
                  <a:pt x="96" y="612"/>
                  <a:pt x="197" y="618"/>
                  <a:pt x="301" y="618"/>
                </a:cubicBezTo>
                <a:cubicBezTo>
                  <a:pt x="582" y="618"/>
                  <a:pt x="846" y="578"/>
                  <a:pt x="1042" y="506"/>
                </a:cubicBezTo>
                <a:cubicBezTo>
                  <a:pt x="1238" y="435"/>
                  <a:pt x="1308" y="353"/>
                  <a:pt x="1308" y="301"/>
                </a:cubicBezTo>
                <a:cubicBezTo>
                  <a:pt x="1308" y="249"/>
                  <a:pt x="1238" y="167"/>
                  <a:pt x="1042" y="96"/>
                </a:cubicBezTo>
              </a:path>
            </a:pathLst>
          </a:cu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9" name="ï$ľîdê">
            <a:extLst>
              <a:ext uri="{FF2B5EF4-FFF2-40B4-BE49-F238E27FC236}">
                <a16:creationId xmlns:a16="http://schemas.microsoft.com/office/drawing/2014/main" id="{71AFAA06-9B5A-E8F2-FE74-7A4F524D6FE9}"/>
              </a:ext>
            </a:extLst>
          </p:cNvPr>
          <p:cNvSpPr/>
          <p:nvPr/>
        </p:nvSpPr>
        <p:spPr bwMode="auto">
          <a:xfrm>
            <a:off x="3262983" y="4253906"/>
            <a:ext cx="1236112" cy="951254"/>
          </a:xfrm>
          <a:custGeom>
            <a:avLst/>
            <a:gdLst>
              <a:gd name="T0" fmla="*/ 1308 w 1308"/>
              <a:gd name="T1" fmla="*/ 0 h 1007"/>
              <a:gd name="T2" fmla="*/ 1042 w 1308"/>
              <a:gd name="T3" fmla="*/ 205 h 1007"/>
              <a:gd name="T4" fmla="*/ 301 w 1308"/>
              <a:gd name="T5" fmla="*/ 317 h 1007"/>
              <a:gd name="T6" fmla="*/ 0 w 1308"/>
              <a:gd name="T7" fmla="*/ 301 h 1007"/>
              <a:gd name="T8" fmla="*/ 96 w 1308"/>
              <a:gd name="T9" fmla="*/ 741 h 1007"/>
              <a:gd name="T10" fmla="*/ 301 w 1308"/>
              <a:gd name="T11" fmla="*/ 1007 h 1007"/>
              <a:gd name="T12" fmla="*/ 301 w 1308"/>
              <a:gd name="T13" fmla="*/ 1007 h 1007"/>
              <a:gd name="T14" fmla="*/ 1013 w 1308"/>
              <a:gd name="T15" fmla="*/ 712 h 1007"/>
              <a:gd name="T16" fmla="*/ 1308 w 1308"/>
              <a:gd name="T17" fmla="*/ 0 h 1007"/>
              <a:gd name="T18" fmla="*/ 1308 w 1308"/>
              <a:gd name="T19" fmla="*/ 0 h 10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08" h="1007">
                <a:moveTo>
                  <a:pt x="1308" y="0"/>
                </a:moveTo>
                <a:cubicBezTo>
                  <a:pt x="1308" y="53"/>
                  <a:pt x="1238" y="134"/>
                  <a:pt x="1042" y="205"/>
                </a:cubicBezTo>
                <a:cubicBezTo>
                  <a:pt x="846" y="277"/>
                  <a:pt x="582" y="317"/>
                  <a:pt x="301" y="317"/>
                </a:cubicBezTo>
                <a:cubicBezTo>
                  <a:pt x="197" y="317"/>
                  <a:pt x="96" y="311"/>
                  <a:pt x="0" y="301"/>
                </a:cubicBezTo>
                <a:cubicBezTo>
                  <a:pt x="18" y="466"/>
                  <a:pt x="50" y="617"/>
                  <a:pt x="96" y="741"/>
                </a:cubicBezTo>
                <a:cubicBezTo>
                  <a:pt x="167" y="937"/>
                  <a:pt x="249" y="1007"/>
                  <a:pt x="301" y="1007"/>
                </a:cubicBezTo>
                <a:cubicBezTo>
                  <a:pt x="301" y="1007"/>
                  <a:pt x="301" y="1007"/>
                  <a:pt x="301" y="1007"/>
                </a:cubicBezTo>
                <a:cubicBezTo>
                  <a:pt x="570" y="1007"/>
                  <a:pt x="823" y="902"/>
                  <a:pt x="1013" y="712"/>
                </a:cubicBezTo>
                <a:cubicBezTo>
                  <a:pt x="1203" y="522"/>
                  <a:pt x="1308" y="269"/>
                  <a:pt x="1308" y="0"/>
                </a:cubicBezTo>
                <a:cubicBezTo>
                  <a:pt x="1308" y="0"/>
                  <a:pt x="1308" y="0"/>
                  <a:pt x="1308" y="0"/>
                </a:cubicBezTo>
              </a:path>
            </a:pathLst>
          </a:cu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iṩľídê">
            <a:extLst>
              <a:ext uri="{FF2B5EF4-FFF2-40B4-BE49-F238E27FC236}">
                <a16:creationId xmlns:a16="http://schemas.microsoft.com/office/drawing/2014/main" id="{8FA3CDD7-8D38-B847-3E3B-FE2C810BE1CB}"/>
              </a:ext>
            </a:extLst>
          </p:cNvPr>
          <p:cNvSpPr/>
          <p:nvPr/>
        </p:nvSpPr>
        <p:spPr bwMode="auto">
          <a:xfrm>
            <a:off x="3547440" y="3377761"/>
            <a:ext cx="876145" cy="958446"/>
          </a:xfrm>
          <a:custGeom>
            <a:avLst/>
            <a:gdLst>
              <a:gd name="T0" fmla="*/ 552 w 927"/>
              <a:gd name="T1" fmla="*/ 303 h 1014"/>
              <a:gd name="T2" fmla="*/ 815 w 927"/>
              <a:gd name="T3" fmla="*/ 1014 h 1014"/>
              <a:gd name="T4" fmla="*/ 926 w 927"/>
              <a:gd name="T5" fmla="*/ 927 h 1014"/>
              <a:gd name="T6" fmla="*/ 927 w 927"/>
              <a:gd name="T7" fmla="*/ 927 h 1014"/>
              <a:gd name="T8" fmla="*/ 656 w 927"/>
              <a:gd name="T9" fmla="*/ 271 h 1014"/>
              <a:gd name="T10" fmla="*/ 0 w 927"/>
              <a:gd name="T11" fmla="*/ 0 h 1014"/>
              <a:gd name="T12" fmla="*/ 552 w 927"/>
              <a:gd name="T13" fmla="*/ 303 h 10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27" h="1014">
                <a:moveTo>
                  <a:pt x="552" y="303"/>
                </a:moveTo>
                <a:cubicBezTo>
                  <a:pt x="703" y="499"/>
                  <a:pt x="815" y="766"/>
                  <a:pt x="815" y="1014"/>
                </a:cubicBezTo>
                <a:cubicBezTo>
                  <a:pt x="891" y="975"/>
                  <a:pt x="920" y="941"/>
                  <a:pt x="926" y="927"/>
                </a:cubicBezTo>
                <a:cubicBezTo>
                  <a:pt x="927" y="927"/>
                  <a:pt x="927" y="927"/>
                  <a:pt x="927" y="927"/>
                </a:cubicBezTo>
                <a:cubicBezTo>
                  <a:pt x="927" y="679"/>
                  <a:pt x="831" y="446"/>
                  <a:pt x="656" y="271"/>
                </a:cubicBezTo>
                <a:cubicBezTo>
                  <a:pt x="481" y="96"/>
                  <a:pt x="248" y="0"/>
                  <a:pt x="0" y="0"/>
                </a:cubicBezTo>
                <a:cubicBezTo>
                  <a:pt x="248" y="0"/>
                  <a:pt x="503" y="239"/>
                  <a:pt x="552" y="303"/>
                </a:cubicBezTo>
                <a:close/>
              </a:path>
            </a:pathLst>
          </a:custGeom>
          <a:solidFill>
            <a:srgbClr val="80508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îS1iďe">
            <a:extLst>
              <a:ext uri="{FF2B5EF4-FFF2-40B4-BE49-F238E27FC236}">
                <a16:creationId xmlns:a16="http://schemas.microsoft.com/office/drawing/2014/main" id="{F5B90E87-1918-548A-120E-6A33D4547F94}"/>
              </a:ext>
            </a:extLst>
          </p:cNvPr>
          <p:cNvSpPr/>
          <p:nvPr/>
        </p:nvSpPr>
        <p:spPr bwMode="auto">
          <a:xfrm>
            <a:off x="3547440" y="3377761"/>
            <a:ext cx="770273" cy="958446"/>
          </a:xfrm>
          <a:custGeom>
            <a:avLst/>
            <a:gdLst>
              <a:gd name="T0" fmla="*/ 0 w 815"/>
              <a:gd name="T1" fmla="*/ 1 h 1014"/>
              <a:gd name="T2" fmla="*/ 0 w 815"/>
              <a:gd name="T3" fmla="*/ 927 h 1014"/>
              <a:gd name="T4" fmla="*/ 815 w 815"/>
              <a:gd name="T5" fmla="*/ 1014 h 1014"/>
              <a:gd name="T6" fmla="*/ 552 w 815"/>
              <a:gd name="T7" fmla="*/ 286 h 1014"/>
              <a:gd name="T8" fmla="*/ 0 w 815"/>
              <a:gd name="T9" fmla="*/ 0 h 1014"/>
              <a:gd name="T10" fmla="*/ 0 w 815"/>
              <a:gd name="T11" fmla="*/ 1 h 10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15" h="1014">
                <a:moveTo>
                  <a:pt x="0" y="1"/>
                </a:moveTo>
                <a:cubicBezTo>
                  <a:pt x="0" y="927"/>
                  <a:pt x="0" y="927"/>
                  <a:pt x="0" y="927"/>
                </a:cubicBezTo>
                <a:cubicBezTo>
                  <a:pt x="815" y="1014"/>
                  <a:pt x="815" y="1014"/>
                  <a:pt x="815" y="1014"/>
                </a:cubicBezTo>
                <a:cubicBezTo>
                  <a:pt x="815" y="766"/>
                  <a:pt x="727" y="461"/>
                  <a:pt x="552" y="286"/>
                </a:cubicBezTo>
                <a:cubicBezTo>
                  <a:pt x="411" y="145"/>
                  <a:pt x="248" y="0"/>
                  <a:pt x="0" y="0"/>
                </a:cubicBezTo>
                <a:lnTo>
                  <a:pt x="0" y="1"/>
                </a:lnTo>
                <a:close/>
              </a:path>
            </a:pathLst>
          </a:custGeom>
          <a:solidFill>
            <a:srgbClr val="5636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2" name="íśļîḑé">
            <a:extLst>
              <a:ext uri="{FF2B5EF4-FFF2-40B4-BE49-F238E27FC236}">
                <a16:creationId xmlns:a16="http://schemas.microsoft.com/office/drawing/2014/main" id="{B356B92A-7624-D156-3B75-64387BF31524}"/>
              </a:ext>
            </a:extLst>
          </p:cNvPr>
          <p:cNvSpPr/>
          <p:nvPr/>
        </p:nvSpPr>
        <p:spPr bwMode="auto">
          <a:xfrm>
            <a:off x="3399219" y="3492423"/>
            <a:ext cx="759885" cy="909705"/>
          </a:xfrm>
          <a:custGeom>
            <a:avLst/>
            <a:gdLst>
              <a:gd name="T0" fmla="*/ 804 w 804"/>
              <a:gd name="T1" fmla="*/ 875 h 963"/>
              <a:gd name="T2" fmla="*/ 589 w 804"/>
              <a:gd name="T3" fmla="*/ 278 h 963"/>
              <a:gd name="T4" fmla="*/ 157 w 804"/>
              <a:gd name="T5" fmla="*/ 0 h 963"/>
              <a:gd name="T6" fmla="*/ 102 w 804"/>
              <a:gd name="T7" fmla="*/ 119 h 963"/>
              <a:gd name="T8" fmla="*/ 4 w 804"/>
              <a:gd name="T9" fmla="*/ 653 h 963"/>
              <a:gd name="T10" fmla="*/ 0 w 804"/>
              <a:gd name="T11" fmla="*/ 806 h 963"/>
              <a:gd name="T12" fmla="*/ 4 w 804"/>
              <a:gd name="T13" fmla="*/ 959 h 963"/>
              <a:gd name="T14" fmla="*/ 157 w 804"/>
              <a:gd name="T15" fmla="*/ 963 h 963"/>
              <a:gd name="T16" fmla="*/ 310 w 804"/>
              <a:gd name="T17" fmla="*/ 959 h 963"/>
              <a:gd name="T18" fmla="*/ 804 w 804"/>
              <a:gd name="T19" fmla="*/ 875 h 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04" h="963">
                <a:moveTo>
                  <a:pt x="804" y="875"/>
                </a:moveTo>
                <a:cubicBezTo>
                  <a:pt x="785" y="653"/>
                  <a:pt x="706" y="418"/>
                  <a:pt x="589" y="278"/>
                </a:cubicBezTo>
                <a:cubicBezTo>
                  <a:pt x="456" y="119"/>
                  <a:pt x="323" y="24"/>
                  <a:pt x="157" y="0"/>
                </a:cubicBezTo>
                <a:cubicBezTo>
                  <a:pt x="141" y="27"/>
                  <a:pt x="122" y="65"/>
                  <a:pt x="102" y="119"/>
                </a:cubicBezTo>
                <a:cubicBezTo>
                  <a:pt x="49" y="264"/>
                  <a:pt x="16" y="450"/>
                  <a:pt x="4" y="653"/>
                </a:cubicBezTo>
                <a:cubicBezTo>
                  <a:pt x="2" y="703"/>
                  <a:pt x="0" y="754"/>
                  <a:pt x="0" y="806"/>
                </a:cubicBezTo>
                <a:cubicBezTo>
                  <a:pt x="0" y="858"/>
                  <a:pt x="2" y="909"/>
                  <a:pt x="4" y="959"/>
                </a:cubicBezTo>
                <a:cubicBezTo>
                  <a:pt x="54" y="961"/>
                  <a:pt x="105" y="963"/>
                  <a:pt x="157" y="963"/>
                </a:cubicBezTo>
                <a:cubicBezTo>
                  <a:pt x="209" y="963"/>
                  <a:pt x="260" y="961"/>
                  <a:pt x="310" y="959"/>
                </a:cubicBezTo>
                <a:cubicBezTo>
                  <a:pt x="495" y="948"/>
                  <a:pt x="666" y="920"/>
                  <a:pt x="804" y="875"/>
                </a:cubicBezTo>
                <a:close/>
              </a:path>
            </a:pathLst>
          </a:custGeom>
          <a:solidFill>
            <a:srgbClr val="FF84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6F472D72-33F7-83C2-04CC-6307EAA394D8}"/>
              </a:ext>
            </a:extLst>
          </p:cNvPr>
          <p:cNvGrpSpPr/>
          <p:nvPr/>
        </p:nvGrpSpPr>
        <p:grpSpPr>
          <a:xfrm>
            <a:off x="6649421" y="1713134"/>
            <a:ext cx="686644" cy="686644"/>
            <a:chOff x="6708974" y="2051330"/>
            <a:chExt cx="686644" cy="686644"/>
          </a:xfrm>
        </p:grpSpPr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E91241E7-6853-74EC-045A-4394CC163337}"/>
                </a:ext>
              </a:extLst>
            </p:cNvPr>
            <p:cNvSpPr/>
            <p:nvPr/>
          </p:nvSpPr>
          <p:spPr>
            <a:xfrm>
              <a:off x="6708974" y="2051330"/>
              <a:ext cx="686644" cy="686644"/>
            </a:xfrm>
            <a:prstGeom prst="ellipse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C0366B2E-901B-183D-B09E-1B2D35B0446A}"/>
                </a:ext>
              </a:extLst>
            </p:cNvPr>
            <p:cNvSpPr txBox="1"/>
            <p:nvPr/>
          </p:nvSpPr>
          <p:spPr>
            <a:xfrm>
              <a:off x="6842853" y="2137600"/>
              <a:ext cx="2776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E54058BF-1F88-7221-E757-65C47236C40A}"/>
              </a:ext>
            </a:extLst>
          </p:cNvPr>
          <p:cNvGrpSpPr/>
          <p:nvPr/>
        </p:nvGrpSpPr>
        <p:grpSpPr>
          <a:xfrm>
            <a:off x="7992649" y="3250304"/>
            <a:ext cx="630200" cy="630200"/>
            <a:chOff x="6351496" y="3317075"/>
            <a:chExt cx="630200" cy="630200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B153893C-0EC6-03A7-7D4F-6BEE9AF1FC5B}"/>
                </a:ext>
              </a:extLst>
            </p:cNvPr>
            <p:cNvSpPr/>
            <p:nvPr/>
          </p:nvSpPr>
          <p:spPr>
            <a:xfrm>
              <a:off x="6351496" y="3317075"/>
              <a:ext cx="630200" cy="630200"/>
            </a:xfrm>
            <a:prstGeom prst="ellipse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DFB34715-8CB5-2D19-2DD0-37F389295F1F}"/>
                </a:ext>
              </a:extLst>
            </p:cNvPr>
            <p:cNvSpPr txBox="1"/>
            <p:nvPr/>
          </p:nvSpPr>
          <p:spPr>
            <a:xfrm>
              <a:off x="6468934" y="3370565"/>
              <a:ext cx="2776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DD5A93D9-3F50-9CA9-FD54-AAD4CF8227BF}"/>
              </a:ext>
            </a:extLst>
          </p:cNvPr>
          <p:cNvGrpSpPr/>
          <p:nvPr/>
        </p:nvGrpSpPr>
        <p:grpSpPr>
          <a:xfrm>
            <a:off x="6980889" y="4890060"/>
            <a:ext cx="630200" cy="630200"/>
            <a:chOff x="7595582" y="4425846"/>
            <a:chExt cx="630200" cy="630200"/>
          </a:xfrm>
        </p:grpSpPr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42EA6A98-6276-E73E-5BE6-1FC2286FA3DF}"/>
                </a:ext>
              </a:extLst>
            </p:cNvPr>
            <p:cNvSpPr/>
            <p:nvPr/>
          </p:nvSpPr>
          <p:spPr>
            <a:xfrm>
              <a:off x="7595582" y="4425846"/>
              <a:ext cx="630200" cy="630200"/>
            </a:xfrm>
            <a:prstGeom prst="ellipse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3842DF13-DFEF-F0AA-4DFD-F32291B90990}"/>
                </a:ext>
              </a:extLst>
            </p:cNvPr>
            <p:cNvSpPr txBox="1"/>
            <p:nvPr/>
          </p:nvSpPr>
          <p:spPr>
            <a:xfrm>
              <a:off x="7700351" y="4479336"/>
              <a:ext cx="2776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摄图网_400789432"/>
          <p:cNvPicPr>
            <a:picLocks noChangeAspect="1"/>
          </p:cNvPicPr>
          <p:nvPr/>
        </p:nvPicPr>
        <p:blipFill>
          <a:blip r:embed="rId3" cstate="email">
            <a:lum bright="-6000"/>
          </a:blip>
          <a:srcRect/>
          <a:stretch>
            <a:fillRect/>
          </a:stretch>
        </p:blipFill>
        <p:spPr>
          <a:xfrm>
            <a:off x="10191115" y="-1214755"/>
            <a:ext cx="3005455" cy="2978150"/>
          </a:xfrm>
          <a:prstGeom prst="ellipse">
            <a:avLst/>
          </a:prstGeom>
        </p:spPr>
      </p:pic>
      <p:pic>
        <p:nvPicPr>
          <p:cNvPr id="3" name="图片 2" descr="摄图网_400789432"/>
          <p:cNvPicPr>
            <a:picLocks noChangeAspect="1"/>
          </p:cNvPicPr>
          <p:nvPr/>
        </p:nvPicPr>
        <p:blipFill>
          <a:blip r:embed="rId4" cstate="email">
            <a:lum bright="-6000"/>
          </a:blip>
          <a:srcRect/>
          <a:stretch>
            <a:fillRect/>
          </a:stretch>
        </p:blipFill>
        <p:spPr>
          <a:xfrm>
            <a:off x="749935" y="4787900"/>
            <a:ext cx="1100455" cy="1106170"/>
          </a:xfrm>
          <a:prstGeom prst="ellipse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9406863" y="5173238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435668" y="883416"/>
            <a:ext cx="119509" cy="11950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478936" y="5249438"/>
            <a:ext cx="170330" cy="170330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1511394" y="5173238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511394" y="5533693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511394" y="5898687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684569" y="940850"/>
            <a:ext cx="4822861" cy="4822861"/>
          </a:xfrm>
          <a:prstGeom prst="ellipse">
            <a:avLst/>
          </a:prstGeom>
          <a:solidFill>
            <a:srgbClr val="0E4B7A">
              <a:alpha val="40000"/>
            </a:srgb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327844" y="556455"/>
            <a:ext cx="5536310" cy="5536310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358878" y="4192050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430951" y="4268250"/>
            <a:ext cx="170330" cy="170330"/>
          </a:xfrm>
          <a:prstGeom prst="ellipse">
            <a:avLst/>
          </a:prstGeom>
          <a:solidFill>
            <a:srgbClr val="0E4B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133909" y="691184"/>
            <a:ext cx="217150" cy="21715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94145" y="746046"/>
            <a:ext cx="114607" cy="114607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644229" y="832648"/>
            <a:ext cx="80680" cy="8068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9624692" y="1843779"/>
            <a:ext cx="104181" cy="104181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9174285" y="5109010"/>
            <a:ext cx="140428" cy="140428"/>
            <a:chOff x="9572355" y="5049973"/>
            <a:chExt cx="322730" cy="322730"/>
          </a:xfrm>
        </p:grpSpPr>
        <p:sp>
          <p:nvSpPr>
            <p:cNvPr id="37" name="椭圆 36"/>
            <p:cNvSpPr/>
            <p:nvPr/>
          </p:nvSpPr>
          <p:spPr>
            <a:xfrm>
              <a:off x="9572355" y="5049973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9644428" y="5126173"/>
              <a:ext cx="170330" cy="170330"/>
            </a:xfrm>
            <a:prstGeom prst="ellipse">
              <a:avLst/>
            </a:prstGeom>
            <a:solidFill>
              <a:srgbClr val="48C5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945731" y="5276642"/>
            <a:ext cx="157238" cy="157238"/>
            <a:chOff x="2579606" y="4476642"/>
            <a:chExt cx="322730" cy="322730"/>
          </a:xfrm>
        </p:grpSpPr>
        <p:sp>
          <p:nvSpPr>
            <p:cNvPr id="40" name="椭圆 39"/>
            <p:cNvSpPr/>
            <p:nvPr/>
          </p:nvSpPr>
          <p:spPr>
            <a:xfrm>
              <a:off x="2579606" y="4476642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651679" y="4552842"/>
              <a:ext cx="170330" cy="170330"/>
            </a:xfrm>
            <a:prstGeom prst="ellipse">
              <a:avLst/>
            </a:prstGeom>
            <a:solidFill>
              <a:srgbClr val="0E4B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46" name="椭圆 45"/>
          <p:cNvSpPr/>
          <p:nvPr/>
        </p:nvSpPr>
        <p:spPr>
          <a:xfrm>
            <a:off x="2146231" y="-561629"/>
            <a:ext cx="7827818" cy="7827818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pic>
        <p:nvPicPr>
          <p:cNvPr id="48" name="图片 47" descr="图片包含 就坐&#10;&#10;描述已自动生成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3570247" y="730353"/>
            <a:ext cx="5010676" cy="501067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342320" y="1978737"/>
            <a:ext cx="5676900" cy="2047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1" i="0" u="none" strike="noStrike" kern="1200" cap="none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印品粗朗体" panose="02000000000000000000" pitchFamily="2" charset="-122"/>
                <a:ea typeface="印品粗朗体" panose="02000000000000000000" pitchFamily="2" charset="-122"/>
                <a:cs typeface="+mn-ea"/>
                <a:sym typeface="+mn-lt"/>
              </a:rPr>
              <a:t>THANKS</a:t>
            </a:r>
            <a:endParaRPr kumimoji="0" lang="zh-CN" altLang="en-US" sz="9600" b="1" i="0" u="none" strike="noStrike" kern="1200" cap="none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印品粗朗体" panose="02000000000000000000" pitchFamily="2" charset="-122"/>
              <a:ea typeface="印品粗朗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021356-7238-4589-364E-9CD8083B16C7}"/>
              </a:ext>
            </a:extLst>
          </p:cNvPr>
          <p:cNvSpPr txBox="1"/>
          <p:nvPr/>
        </p:nvSpPr>
        <p:spPr>
          <a:xfrm>
            <a:off x="3871723" y="5249438"/>
            <a:ext cx="4707780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团队成员：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 B C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日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943AD0-79DA-C3A1-70D4-EF1B38B7FA4D}"/>
              </a:ext>
            </a:extLst>
          </p:cNvPr>
          <p:cNvSpPr txBox="1"/>
          <p:nvPr/>
        </p:nvSpPr>
        <p:spPr>
          <a:xfrm>
            <a:off x="2625887" y="3848556"/>
            <a:ext cx="74566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面向智能客服的</a:t>
            </a:r>
            <a:r>
              <a:rPr kumimoji="0" lang="en-US" altLang="zh-CN" sz="2000" b="0" i="0" u="none" strike="noStrike" kern="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 Agent </a:t>
            </a:r>
            <a:r>
              <a:rPr kumimoji="0" lang="zh-CN" altLang="en-US" sz="2000" b="0" i="0" u="none" strike="noStrike" kern="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血糖管理自进化系统</a:t>
            </a:r>
            <a:endParaRPr kumimoji="0" lang="zh-CN" altLang="en-US" sz="600" b="0" i="0" u="none" strike="noStrike" kern="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50315" y="-1171015"/>
            <a:ext cx="4500357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rPr>
              <a:t>3</a:t>
            </a:r>
            <a:endParaRPr kumimoji="0" lang="zh-CN" altLang="en-US" sz="49600" b="1" i="0" u="none" strike="noStrike" kern="1200" cap="none" spc="0" normalizeH="0" baseline="0" noProof="0" dirty="0">
              <a:ln>
                <a:solidFill>
                  <a:srgbClr val="44C9F5"/>
                </a:solidFill>
              </a:ln>
              <a:noFill/>
              <a:effectLst/>
              <a:uLnTx/>
              <a:uFillTx/>
              <a:latin typeface="OCR A Extended" panose="02010509020102010303" pitchFamily="50" charset="0"/>
              <a:ea typeface="微软雅黑" panose="020B0503020204020204" pitchFamily="34" charset="-122"/>
              <a:cs typeface="IrisUPC" panose="020B0604020202020204" pitchFamily="34" charset="-34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-530946" y="830826"/>
            <a:ext cx="15313748" cy="4313690"/>
            <a:chOff x="-530946" y="830826"/>
            <a:chExt cx="15313748" cy="4313690"/>
          </a:xfrm>
        </p:grpSpPr>
        <p:sp>
          <p:nvSpPr>
            <p:cNvPr id="5" name="矩形 4"/>
            <p:cNvSpPr/>
            <p:nvPr/>
          </p:nvSpPr>
          <p:spPr>
            <a:xfrm>
              <a:off x="-530946" y="4458929"/>
              <a:ext cx="12960000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-383460" y="973394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饼形 5"/>
            <p:cNvSpPr/>
            <p:nvPr/>
          </p:nvSpPr>
          <p:spPr>
            <a:xfrm>
              <a:off x="4601496" y="1002194"/>
              <a:ext cx="630000" cy="630000"/>
            </a:xfrm>
            <a:prstGeom prst="pie">
              <a:avLst>
                <a:gd name="adj1" fmla="val 5351128"/>
                <a:gd name="adj2" fmla="val 16200000"/>
              </a:avLst>
            </a:prstGeom>
            <a:gradFill>
              <a:gsLst>
                <a:gs pos="0">
                  <a:srgbClr val="F682B0"/>
                </a:gs>
                <a:gs pos="33000">
                  <a:srgbClr val="FE93AA"/>
                </a:gs>
                <a:gs pos="77000">
                  <a:srgbClr val="F8BCCC"/>
                </a:gs>
                <a:gs pos="53000">
                  <a:srgbClr val="FD8EAC"/>
                </a:gs>
                <a:gs pos="97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532376" y="1007807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9148914" y="830826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 flipH="1">
              <a:off x="2018430" y="4630995"/>
              <a:ext cx="2477730" cy="265471"/>
            </a:xfrm>
            <a:prstGeom prst="rect">
              <a:avLst/>
            </a:prstGeom>
            <a:gradFill>
              <a:gsLst>
                <a:gs pos="74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38CEE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424515" y="4424516"/>
              <a:ext cx="720000" cy="72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33604" y="1269844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3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479630" y="1269844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3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02583" y="4444180"/>
              <a:ext cx="442451" cy="630000"/>
              <a:chOff x="7593320" y="7069392"/>
              <a:chExt cx="442451" cy="6300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8542131" y="4449096"/>
              <a:ext cx="442451" cy="630000"/>
              <a:chOff x="7593320" y="7069392"/>
              <a:chExt cx="442451" cy="630000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0670816" y="4483509"/>
              <a:ext cx="442451" cy="630000"/>
              <a:chOff x="7593320" y="7069392"/>
              <a:chExt cx="442451" cy="6300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 flipH="1" flipV="1">
              <a:off x="5086094" y="1297858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10800000">
              <a:off x="6253317" y="1268362"/>
              <a:ext cx="825909" cy="530944"/>
            </a:xfrm>
            <a:prstGeom prst="curvedConnector3">
              <a:avLst>
                <a:gd name="adj1" fmla="val 10714"/>
              </a:avLst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7049729" y="2192364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5395810" y="3013587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7054646" y="3613125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395810" y="4812890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B849C366-7A6A-3660-3680-08B42FE660A1}"/>
              </a:ext>
            </a:extLst>
          </p:cNvPr>
          <p:cNvSpPr/>
          <p:nvPr/>
        </p:nvSpPr>
        <p:spPr>
          <a:xfrm>
            <a:off x="8163049" y="3359607"/>
            <a:ext cx="18261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项目进展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35EBD5-8ABF-AC1C-52D4-4B33D694272B}"/>
              </a:ext>
            </a:extLst>
          </p:cNvPr>
          <p:cNvSpPr/>
          <p:nvPr/>
        </p:nvSpPr>
        <p:spPr>
          <a:xfrm>
            <a:off x="7778420" y="3983956"/>
            <a:ext cx="259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Project progress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:dissolve/>
      </p:transition>
    </mc:Choice>
    <mc:Fallback xmlns="">
      <p:transition spd="slow" advTm="0">
        <p:dissolv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6200000">
            <a:off x="4886476" y="1361941"/>
            <a:ext cx="3600000" cy="6300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 rot="16200000">
            <a:off x="3746698" y="-526155"/>
            <a:ext cx="2900034" cy="6300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50315" y="-1171015"/>
            <a:ext cx="4500357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rPr>
              <a:t>4</a:t>
            </a:r>
            <a:endParaRPr kumimoji="0" lang="zh-CN" altLang="en-US" sz="49600" b="1" i="0" u="none" strike="noStrike" kern="1200" cap="none" spc="0" normalizeH="0" baseline="0" noProof="0" dirty="0">
              <a:ln>
                <a:solidFill>
                  <a:srgbClr val="44C9F5"/>
                </a:solidFill>
              </a:ln>
              <a:noFill/>
              <a:effectLst/>
              <a:uLnTx/>
              <a:uFillTx/>
              <a:latin typeface="OCR A Extended" panose="02010509020102010303" pitchFamily="50" charset="0"/>
              <a:ea typeface="微软雅黑" panose="020B0503020204020204" pitchFamily="34" charset="-122"/>
              <a:cs typeface="IrisUPC" panose="020B0604020202020204" pitchFamily="34" charset="-34"/>
            </a:endParaRPr>
          </a:p>
        </p:txBody>
      </p:sp>
      <p:sp>
        <p:nvSpPr>
          <p:cNvPr id="6" name="饼形 5"/>
          <p:cNvSpPr/>
          <p:nvPr/>
        </p:nvSpPr>
        <p:spPr>
          <a:xfrm rot="5400000">
            <a:off x="4881715" y="972694"/>
            <a:ext cx="630000" cy="630000"/>
          </a:xfrm>
          <a:prstGeom prst="pie">
            <a:avLst>
              <a:gd name="adj1" fmla="val 5351128"/>
              <a:gd name="adj2" fmla="val 16200000"/>
            </a:avLst>
          </a:prstGeom>
          <a:gradFill>
            <a:gsLst>
              <a:gs pos="0">
                <a:srgbClr val="F682B0"/>
              </a:gs>
              <a:gs pos="33000">
                <a:srgbClr val="FE93AA"/>
              </a:gs>
              <a:gs pos="77000">
                <a:srgbClr val="F8BCCC"/>
              </a:gs>
              <a:gs pos="53000">
                <a:srgbClr val="FD8EAC"/>
              </a:gs>
              <a:gs pos="97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2910356" y="3131054"/>
            <a:ext cx="18000000" cy="6300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27282" y="3313318"/>
            <a:ext cx="2477730" cy="265471"/>
          </a:xfrm>
          <a:prstGeom prst="rect">
            <a:avLst/>
          </a:prstGeom>
          <a:gradFill>
            <a:gsLst>
              <a:gs pos="74000">
                <a:srgbClr val="975FA2"/>
              </a:gs>
              <a:gs pos="50000">
                <a:srgbClr val="F682B0"/>
              </a:gs>
              <a:gs pos="7000">
                <a:srgbClr val="FE93AA"/>
              </a:gs>
              <a:gs pos="30000">
                <a:srgbClr val="FD8EAC"/>
              </a:gs>
              <a:gs pos="97000">
                <a:srgbClr val="38CEE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0" y="0"/>
            <a:ext cx="4500357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rPr>
              <a:t>4</a:t>
            </a:r>
            <a:endParaRPr kumimoji="0" lang="zh-CN" altLang="en-US" sz="19900" b="1" i="0" u="none" strike="noStrike" kern="1200" cap="none" spc="0" normalizeH="0" baseline="0" noProof="0" dirty="0">
              <a:ln>
                <a:solidFill>
                  <a:srgbClr val="000000">
                    <a:lumMod val="85000"/>
                    <a:lumOff val="15000"/>
                  </a:srgbClr>
                </a:solidFill>
              </a:ln>
              <a:noFill/>
              <a:effectLst/>
              <a:uLnTx/>
              <a:uFillTx/>
              <a:latin typeface="OCR A Extended" panose="02010509020102010303" pitchFamily="50" charset="0"/>
              <a:ea typeface="微软雅黑" panose="020B0503020204020204" pitchFamily="34" charset="-122"/>
              <a:cs typeface="IrisUPC" panose="020B0604020202020204" pitchFamily="34" charset="-3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91643" y="0"/>
            <a:ext cx="4500357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rPr>
              <a:t>4</a:t>
            </a:r>
            <a:endParaRPr kumimoji="0" lang="zh-CN" altLang="en-US" sz="19900" b="1" i="0" u="none" strike="noStrike" kern="1200" cap="none" spc="0" normalizeH="0" baseline="0" noProof="0" dirty="0">
              <a:ln>
                <a:solidFill>
                  <a:srgbClr val="000000">
                    <a:lumMod val="85000"/>
                    <a:lumOff val="15000"/>
                  </a:srgbClr>
                </a:solidFill>
              </a:ln>
              <a:noFill/>
              <a:effectLst/>
              <a:uLnTx/>
              <a:uFillTx/>
              <a:latin typeface="OCR A Extended" panose="02010509020102010303" pitchFamily="50" charset="0"/>
              <a:ea typeface="微软雅黑" panose="020B0503020204020204" pitchFamily="34" charset="-122"/>
              <a:cs typeface="IrisUPC" panose="020B0604020202020204" pitchFamily="34" charset="-34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578867" y="3101557"/>
            <a:ext cx="442451" cy="630000"/>
            <a:chOff x="7593320" y="7069392"/>
            <a:chExt cx="442451" cy="630000"/>
          </a:xfrm>
        </p:grpSpPr>
        <p:sp>
          <p:nvSpPr>
            <p:cNvPr id="19" name="椭圆 18"/>
            <p:cNvSpPr/>
            <p:nvPr/>
          </p:nvSpPr>
          <p:spPr>
            <a:xfrm>
              <a:off x="7762926" y="7295901"/>
              <a:ext cx="103239" cy="176982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7593320" y="7069392"/>
              <a:ext cx="442451" cy="630000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72971" y="3131054"/>
            <a:ext cx="442451" cy="630000"/>
            <a:chOff x="7593320" y="7069392"/>
            <a:chExt cx="442451" cy="630000"/>
          </a:xfrm>
        </p:grpSpPr>
        <p:sp>
          <p:nvSpPr>
            <p:cNvPr id="23" name="椭圆 22"/>
            <p:cNvSpPr/>
            <p:nvPr/>
          </p:nvSpPr>
          <p:spPr>
            <a:xfrm>
              <a:off x="7762926" y="7295901"/>
              <a:ext cx="103239" cy="176982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7593320" y="7069392"/>
              <a:ext cx="442451" cy="630000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172261" y="3131054"/>
            <a:ext cx="442451" cy="630000"/>
            <a:chOff x="7593320" y="7069392"/>
            <a:chExt cx="442451" cy="630000"/>
          </a:xfrm>
        </p:grpSpPr>
        <p:sp>
          <p:nvSpPr>
            <p:cNvPr id="26" name="椭圆 25"/>
            <p:cNvSpPr/>
            <p:nvPr/>
          </p:nvSpPr>
          <p:spPr>
            <a:xfrm>
              <a:off x="7762926" y="7295901"/>
              <a:ext cx="103239" cy="176982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7593320" y="7069392"/>
              <a:ext cx="442451" cy="630000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 flipV="1">
            <a:off x="5164393" y="1307460"/>
            <a:ext cx="0" cy="936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 flipV="1">
            <a:off x="5100840" y="3465642"/>
            <a:ext cx="936000" cy="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164393" y="2403756"/>
            <a:ext cx="0" cy="936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6703142" y="1730247"/>
            <a:ext cx="0" cy="720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 flipV="1">
            <a:off x="6177476" y="3465642"/>
            <a:ext cx="936000" cy="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V="1">
            <a:off x="6678561" y="2637563"/>
            <a:ext cx="0" cy="720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6653980" y="3721859"/>
            <a:ext cx="0" cy="1080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 flipH="1">
            <a:off x="6405714" y="2966557"/>
            <a:ext cx="900000" cy="900000"/>
          </a:xfrm>
          <a:prstGeom prst="ellipse">
            <a:avLst/>
          </a:prstGeom>
          <a:gradFill flip="none" rotWithShape="1">
            <a:gsLst>
              <a:gs pos="82000">
                <a:srgbClr val="C05EA6"/>
              </a:gs>
              <a:gs pos="0">
                <a:srgbClr val="F682B0"/>
              </a:gs>
              <a:gs pos="29000">
                <a:srgbClr val="FE93AA"/>
              </a:gs>
              <a:gs pos="56000">
                <a:srgbClr val="FD8EAC"/>
              </a:gs>
              <a:gs pos="97000">
                <a:srgbClr val="B45BA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8BA616-9976-68AD-C806-6F57EA3012BB}"/>
              </a:ext>
            </a:extLst>
          </p:cNvPr>
          <p:cNvSpPr/>
          <p:nvPr/>
        </p:nvSpPr>
        <p:spPr>
          <a:xfrm>
            <a:off x="2440361" y="3362045"/>
            <a:ext cx="18261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项目进展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FCEA27-356E-E144-A30F-1DF39F7B942F}"/>
              </a:ext>
            </a:extLst>
          </p:cNvPr>
          <p:cNvSpPr/>
          <p:nvPr/>
        </p:nvSpPr>
        <p:spPr>
          <a:xfrm>
            <a:off x="2055732" y="3986394"/>
            <a:ext cx="259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Project progress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:dissolve/>
      </p:transition>
    </mc:Choice>
    <mc:Fallback xmlns="">
      <p:transition spd="slow" advTm="0">
        <p:dissolv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m0canir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第一PPT，www.1ppt.com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主题5">
  <a:themeElements>
    <a:clrScheme name="自定义 3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1B64D"/>
      </a:accent1>
      <a:accent2>
        <a:srgbClr val="AAA38E"/>
      </a:accent2>
      <a:accent3>
        <a:srgbClr val="857D64"/>
      </a:accent3>
      <a:accent4>
        <a:srgbClr val="5E759C"/>
      </a:accent4>
      <a:accent5>
        <a:srgbClr val="8496B0"/>
      </a:accent5>
      <a:accent6>
        <a:srgbClr val="44546A"/>
      </a:accent6>
      <a:hlink>
        <a:srgbClr val="0563C1"/>
      </a:hlink>
      <a:folHlink>
        <a:srgbClr val="954F72"/>
      </a:folHlink>
    </a:clrScheme>
    <a:fontScheme name="em0canir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768395"/>
    </a:dk2>
    <a:lt2>
      <a:srgbClr val="F0F0F0"/>
    </a:lt2>
    <a:accent1>
      <a:srgbClr val="3E3E3E"/>
    </a:accent1>
    <a:accent2>
      <a:srgbClr val="4D4D4D"/>
    </a:accent2>
    <a:accent3>
      <a:srgbClr val="717171"/>
    </a:accent3>
    <a:accent4>
      <a:srgbClr val="919191"/>
    </a:accent4>
    <a:accent5>
      <a:srgbClr val="A5A5A5"/>
    </a:accent5>
    <a:accent6>
      <a:srgbClr val="D7D7D7"/>
    </a:accent6>
    <a:hlink>
      <a:srgbClr val="3E3E3E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1231</Words>
  <Application>Microsoft Office PowerPoint</Application>
  <PresentationFormat>宽屏</PresentationFormat>
  <Paragraphs>290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.PingFangUITextSC-Regular</vt:lpstr>
      <vt:lpstr>Lato Hairline</vt:lpstr>
      <vt:lpstr>Lato Regular</vt:lpstr>
      <vt:lpstr>var(--ds-font-family-code)</vt:lpstr>
      <vt:lpstr>等线</vt:lpstr>
      <vt:lpstr>等线 Light</vt:lpstr>
      <vt:lpstr>宋体</vt:lpstr>
      <vt:lpstr>微软雅黑</vt:lpstr>
      <vt:lpstr>印品粗朗体</vt:lpstr>
      <vt:lpstr>Arial</vt:lpstr>
      <vt:lpstr>Calibri</vt:lpstr>
      <vt:lpstr>Lato Light</vt:lpstr>
      <vt:lpstr>OCR A Extended</vt:lpstr>
      <vt:lpstr>Wingdings</vt:lpstr>
      <vt:lpstr>Office 主题​​</vt:lpstr>
      <vt:lpstr>第一PPT，www.1ppt.com</vt:lpstr>
      <vt:lpstr>1_第一PPT，www.1ppt.com</vt:lpstr>
      <vt:lpstr>主题5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孺 舒</dc:creator>
  <cp:lastModifiedBy>孺 舒</cp:lastModifiedBy>
  <cp:revision>3</cp:revision>
  <dcterms:created xsi:type="dcterms:W3CDTF">2026-03-26T06:08:38Z</dcterms:created>
  <dcterms:modified xsi:type="dcterms:W3CDTF">2026-03-26T16:06:06Z</dcterms:modified>
</cp:coreProperties>
</file>