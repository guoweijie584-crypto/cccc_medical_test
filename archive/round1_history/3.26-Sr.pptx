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2.xml" ContentType="application/vnd.openxmlformats-officedocument.theme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09" r:id="rId2"/>
    <p:sldMasterId id="2147483719" r:id="rId3"/>
  </p:sldMasterIdLst>
  <p:notesMasterIdLst>
    <p:notesMasterId r:id="rId10"/>
  </p:notesMasterIdLst>
  <p:sldIdLst>
    <p:sldId id="1686" r:id="rId4"/>
    <p:sldId id="260" r:id="rId5"/>
    <p:sldId id="304" r:id="rId6"/>
    <p:sldId id="291" r:id="rId7"/>
    <p:sldId id="1560" r:id="rId8"/>
    <p:sldId id="32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91" d="100"/>
          <a:sy n="91" d="100"/>
        </p:scale>
        <p:origin x="5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presProps" Target="presProps.xml"/><Relationship Id="rId5" Type="http://schemas.openxmlformats.org/officeDocument/2006/relationships/slide" Target="slides/slide2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BEEE1-63BA-405D-84EB-8F6057ACC2BA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ED2406-0436-49D8-A61A-2B339B7C26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2936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2347CFA-CD07-4E97-BD1D-543751497A0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2347CFA-CD07-4E97-BD1D-543751497A0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2347CFA-CD07-4E97-BD1D-543751497A0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49657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 advTm="2000"/>
    </mc:Choice>
    <mc:Fallback>
      <p:transition advClick="0" advTm="2000"/>
    </mc:Fallback>
  </mc:AlternateContent>
  <p:hf sldNum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62067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 advTm="2000"/>
    </mc:Choice>
    <mc:Fallback>
      <p:transition advClick="0" advTm="2000"/>
    </mc:Fallback>
  </mc:AlternateContent>
  <p:hf sldNum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67787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 advTm="2000"/>
    </mc:Choice>
    <mc:Fallback>
      <p:transition advClick="0" advTm="2000"/>
    </mc:Fallback>
  </mc:AlternateContent>
  <p:hf sldNum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70532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 advTm="2000"/>
    </mc:Choice>
    <mc:Fallback>
      <p:transition advClick="0" advTm="2000"/>
    </mc:Fallback>
  </mc:AlternateContent>
  <p:hf sldNum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5789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 advTm="2000"/>
    </mc:Choice>
    <mc:Fallback>
      <p:transition advClick="0" advTm="2000"/>
    </mc:Fallback>
  </mc:AlternateContent>
  <p:hf sldNum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24382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 advTm="2000"/>
    </mc:Choice>
    <mc:Fallback>
      <p:transition advClick="0" advTm="2000"/>
    </mc:Fallback>
  </mc:AlternateContent>
  <p:hf sldNum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58168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 advTm="2000"/>
    </mc:Choice>
    <mc:Fallback>
      <p:transition advClick="0" advTm="2000"/>
    </mc:Fallback>
  </mc:AlternateContent>
  <p:hf sldNum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07192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 advTm="2000"/>
    </mc:Choice>
    <mc:Fallback>
      <p:transition advClick="0" advTm="2000"/>
    </mc:Fallback>
  </mc:AlternateContent>
  <p:hf sldNum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4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1305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 advTm="2000"/>
    </mc:Choice>
    <mc:Fallback>
      <p:transition advClick="0" advTm="2000"/>
    </mc:Fallback>
  </mc:AlternateContent>
  <p:hf sldNum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5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0678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 advTm="2000"/>
    </mc:Choice>
    <mc:Fallback>
      <p:transition advClick="0" advTm="2000"/>
    </mc:Fallback>
  </mc:AlternateContent>
  <p:hf sldNum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6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21515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 advTm="2000"/>
    </mc:Choice>
    <mc:Fallback>
      <p:transition advClick="0" advTm="2000"/>
    </mc:Fallback>
  </mc:AlternateContent>
  <p:hf sldNum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7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58195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 advTm="2000"/>
    </mc:Choice>
    <mc:Fallback>
      <p:transition advClick="0" advTm="2000"/>
    </mc:Fallback>
  </mc:AlternateContent>
  <p:hf sldNum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8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20805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 advTm="2000"/>
    </mc:Choice>
    <mc:Fallback>
      <p:transition advClick="0" advTm="2000"/>
    </mc:Fallback>
  </mc:AlternateContent>
  <p:hf sldNum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9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2638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 advTm="2000"/>
    </mc:Choice>
    <mc:Fallback>
      <p:transition advClick="0" advTm="2000"/>
    </mc:Fallback>
  </mc:AlternateContent>
  <p:hf sldNum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0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99486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 advTm="2000"/>
    </mc:Choice>
    <mc:Fallback>
      <p:transition advClick="0" advTm="2000"/>
    </mc:Fallback>
  </mc:AlternateContent>
  <p:hf sldNum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04429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 advTm="2000"/>
    </mc:Choice>
    <mc:Fallback>
      <p:transition advClick="0" advTm="2000"/>
    </mc:Fallback>
  </mc:AlternateContent>
  <p:hf sldNum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2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15492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 advTm="2000"/>
    </mc:Choice>
    <mc:Fallback>
      <p:transition advClick="0" advTm="2000"/>
    </mc:Fallback>
  </mc:AlternateContent>
  <p:hf sldNum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3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54485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 advTm="2000"/>
    </mc:Choice>
    <mc:Fallback>
      <p:transition advClick="0" advTm="2000"/>
    </mc:Fallback>
  </mc:AlternateContent>
  <p:hf sldNum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4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5249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 advTm="2000"/>
    </mc:Choice>
    <mc:Fallback>
      <p:transition advClick="0" advTm="2000"/>
    </mc:Fallback>
  </mc:AlternateContent>
  <p:hf sldNum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5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23742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 advTm="2000"/>
    </mc:Choice>
    <mc:Fallback>
      <p:transition advClick="0" advTm="2000"/>
    </mc:Fallback>
  </mc:AlternateContent>
  <p:hf sldNum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6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50845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 advTm="2000"/>
    </mc:Choice>
    <mc:Fallback>
      <p:transition advClick="0" advTm="2000"/>
    </mc:Fallback>
  </mc:AlternateContent>
  <p:hf sldNum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7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91099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 advTm="2000"/>
    </mc:Choice>
    <mc:Fallback>
      <p:transition advClick="0" advTm="2000"/>
    </mc:Fallback>
  </mc:AlternateContent>
  <p:hf sldNum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8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01496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 advTm="2000"/>
    </mc:Choice>
    <mc:Fallback>
      <p:transition advClick="0" advTm="2000"/>
    </mc:Fallback>
  </mc:AlternateContent>
  <p:hf sldNum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9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57144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 advTm="2000"/>
    </mc:Choice>
    <mc:Fallback>
      <p:transition advClick="0" advTm="2000"/>
    </mc:Fallback>
  </mc:AlternateContent>
  <p:hf sldNum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0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08039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 advTm="2000"/>
    </mc:Choice>
    <mc:Fallback>
      <p:transition advClick="0" advTm="2000"/>
    </mc:Fallback>
  </mc:AlternateContent>
  <p:hf sldNum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31628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 advTm="2000"/>
    </mc:Choice>
    <mc:Fallback>
      <p:transition advClick="0" advTm="2000"/>
    </mc:Fallback>
  </mc:AlternateContent>
  <p:hf sldNum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2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88894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 advTm="2000"/>
    </mc:Choice>
    <mc:Fallback>
      <p:transition advClick="0" advTm="2000"/>
    </mc:Fallback>
  </mc:AlternateContent>
  <p:hf sldNum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3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17523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 advTm="2000"/>
    </mc:Choice>
    <mc:Fallback>
      <p:transition advClick="0" advTm="2000"/>
    </mc:Fallback>
  </mc:AlternateContent>
  <p:hf sldNum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4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49422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 advTm="2000"/>
    </mc:Choice>
    <mc:Fallback>
      <p:transition advClick="0" advTm="2000"/>
    </mc:Fallback>
  </mc:AlternateContent>
  <p:hf sldNum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5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10969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 advTm="2000"/>
    </mc:Choice>
    <mc:Fallback>
      <p:transition advClick="0" advTm="2000"/>
    </mc:Fallback>
  </mc:AlternateContent>
  <p:hf sldNum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6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00958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 advTm="2000"/>
    </mc:Choice>
    <mc:Fallback>
      <p:transition advClick="0" advTm="2000"/>
    </mc:Fallback>
  </mc:AlternateContent>
  <p:hf sldNum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7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66274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 advTm="2000"/>
    </mc:Choice>
    <mc:Fallback>
      <p:transition advClick="0" advTm="2000"/>
    </mc:Fallback>
  </mc:AlternateContent>
  <p:hf sldNum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8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79479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 advTm="2000"/>
    </mc:Choice>
    <mc:Fallback>
      <p:transition advClick="0" advTm="2000"/>
    </mc:Fallback>
  </mc:AlternateContent>
  <p:hf sldNum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9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TextBox 9"/>
          <p:cNvSpPr txBox="1"/>
          <p:nvPr userDrawn="1"/>
        </p:nvSpPr>
        <p:spPr>
          <a:xfrm>
            <a:off x="453650" y="0"/>
            <a:ext cx="54006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行业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</p:spTree>
    <p:extLst>
      <p:ext uri="{BB962C8B-B14F-4D97-AF65-F5344CB8AC3E}">
        <p14:creationId xmlns:p14="http://schemas.microsoft.com/office/powerpoint/2010/main" val="36493286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 advTm="2000"/>
    </mc:Choice>
    <mc:Fallback>
      <p:transition advClick="0" advTm="2000"/>
    </mc:Fallback>
  </mc:AlternateContent>
  <p:hf sldNum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90542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 advTm="2000"/>
    </mc:Choice>
    <mc:Fallback>
      <p:transition advClick="0" advTm="2000"/>
    </mc:Fallback>
  </mc:AlternateContent>
  <p:hf sldNum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02885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 advTm="2000"/>
    </mc:Choice>
    <mc:Fallback>
      <p:transition advClick="0" advTm="2000"/>
    </mc:Fallback>
  </mc:AlternateContent>
  <p:hf sldNum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16267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 advTm="2000"/>
    </mc:Choice>
    <mc:Fallback>
      <p:transition advClick="0" advTm="2000"/>
    </mc:Fallback>
  </mc:AlternateContent>
  <p:hf sldNum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95324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 advTm="2000"/>
    </mc:Choice>
    <mc:Fallback>
      <p:transition advClick="0" advTm="2000"/>
    </mc:Fallback>
  </mc:AlternateContent>
  <p:hf sldNum="0" ft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536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 advTm="2000"/>
    </mc:Choice>
    <mc:Fallback>
      <p:transition advClick="0" advTm="2000"/>
    </mc:Fallback>
  </mc:AlternateContent>
  <p:hf sldNum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38204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 advTm="2000"/>
    </mc:Choice>
    <mc:Fallback>
      <p:transition advClick="0" advTm="2000"/>
    </mc:Fallback>
  </mc:AlternateContent>
  <p:hf sldNum="0" ft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ndard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97454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 advTm="2000"/>
    </mc:Choice>
    <mc:Fallback>
      <p:transition advClick="0" advTm="2000"/>
    </mc:Fallback>
  </mc:AlternateContent>
  <p:hf sldNum="0" ft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romotion Image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4"/>
          <p:cNvSpPr txBox="1">
            <a:spLocks noGrp="1"/>
          </p:cNvSpPr>
          <p:nvPr>
            <p:ph type="sldNum" idx="12"/>
          </p:nvPr>
        </p:nvSpPr>
        <p:spPr>
          <a:xfrm>
            <a:off x="8716928" y="6333092"/>
            <a:ext cx="2743199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fld>
            <a:endParaRPr lang="en-US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" name="Shape 25"/>
          <p:cNvSpPr>
            <a:spLocks noGrp="1"/>
          </p:cNvSpPr>
          <p:nvPr>
            <p:ph type="pic" idx="2"/>
          </p:nvPr>
        </p:nvSpPr>
        <p:spPr>
          <a:xfrm>
            <a:off x="838200" y="1828800"/>
            <a:ext cx="10515599" cy="2009774"/>
          </a:xfrm>
          <a:prstGeom prst="rect">
            <a:avLst/>
          </a:prstGeom>
          <a:solidFill>
            <a:srgbClr val="5F6977"/>
          </a:solidFill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Font typeface="Arial" panose="020B0604020202020204"/>
              <a:buNone/>
              <a:defRPr sz="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685800" marR="0" lvl="1" indent="-762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143000" marR="0" lvl="2" indent="-1016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600200" marR="0" lvl="3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057400" marR="0" lvl="4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514600" marR="0" lvl="5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2971800" marR="0" lvl="6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429000" marR="0" lvl="7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3886200" marR="0" lvl="8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694677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 advTm="2000"/>
    </mc:Choice>
    <mc:Fallback>
      <p:transition advClick="0" advTm="2000"/>
    </mc:Fallback>
  </mc:AlternateContent>
  <p:hf sldNum="0" ft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eam Work_1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5"/>
          <p:cNvSpPr>
            <a:spLocks noGrp="1"/>
          </p:cNvSpPr>
          <p:nvPr>
            <p:ph type="pic" idx="2"/>
          </p:nvPr>
        </p:nvSpPr>
        <p:spPr>
          <a:xfrm>
            <a:off x="990600" y="1896791"/>
            <a:ext cx="1828800" cy="1828800"/>
          </a:xfrm>
          <a:prstGeom prst="roundRect">
            <a:avLst>
              <a:gd name="adj" fmla="val 3449"/>
            </a:avLst>
          </a:prstGeom>
          <a:solidFill>
            <a:srgbClr val="2B2D30"/>
          </a:solidFill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685800" marR="0" lvl="1" indent="-762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143000" marR="0" lvl="2" indent="-1016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600200" marR="0" lvl="3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057400" marR="0" lvl="4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514600" marR="0" lvl="5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2971800" marR="0" lvl="6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429000" marR="0" lvl="7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3886200" marR="0" lvl="8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6" name="Shape 56"/>
          <p:cNvSpPr>
            <a:spLocks noGrp="1"/>
          </p:cNvSpPr>
          <p:nvPr>
            <p:ph type="pic" idx="3"/>
          </p:nvPr>
        </p:nvSpPr>
        <p:spPr>
          <a:xfrm>
            <a:off x="6182544" y="1896791"/>
            <a:ext cx="1828800" cy="1828800"/>
          </a:xfrm>
          <a:prstGeom prst="roundRect">
            <a:avLst>
              <a:gd name="adj" fmla="val 3449"/>
            </a:avLst>
          </a:prstGeom>
          <a:solidFill>
            <a:srgbClr val="2B2D30"/>
          </a:solidFill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685800" marR="0" lvl="1" indent="-762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143000" marR="0" lvl="2" indent="-1016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600200" marR="0" lvl="3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057400" marR="0" lvl="4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514600" marR="0" lvl="5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2971800" marR="0" lvl="6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429000" marR="0" lvl="7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3886200" marR="0" lvl="8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7" name="Shape 57"/>
          <p:cNvSpPr>
            <a:spLocks noGrp="1"/>
          </p:cNvSpPr>
          <p:nvPr>
            <p:ph type="pic" idx="4"/>
          </p:nvPr>
        </p:nvSpPr>
        <p:spPr>
          <a:xfrm>
            <a:off x="990600" y="4143344"/>
            <a:ext cx="1828800" cy="1828800"/>
          </a:xfrm>
          <a:prstGeom prst="roundRect">
            <a:avLst>
              <a:gd name="adj" fmla="val 3449"/>
            </a:avLst>
          </a:prstGeom>
          <a:solidFill>
            <a:srgbClr val="2B2D30"/>
          </a:solidFill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685800" marR="0" lvl="1" indent="-762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143000" marR="0" lvl="2" indent="-1016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600200" marR="0" lvl="3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057400" marR="0" lvl="4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514600" marR="0" lvl="5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2971800" marR="0" lvl="6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429000" marR="0" lvl="7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3886200" marR="0" lvl="8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8" name="Shape 58"/>
          <p:cNvSpPr>
            <a:spLocks noGrp="1"/>
          </p:cNvSpPr>
          <p:nvPr>
            <p:ph type="pic" idx="5"/>
          </p:nvPr>
        </p:nvSpPr>
        <p:spPr>
          <a:xfrm>
            <a:off x="6182544" y="4150892"/>
            <a:ext cx="1828800" cy="1828800"/>
          </a:xfrm>
          <a:prstGeom prst="roundRect">
            <a:avLst>
              <a:gd name="adj" fmla="val 3449"/>
            </a:avLst>
          </a:prstGeom>
          <a:solidFill>
            <a:srgbClr val="2B2D30"/>
          </a:solidFill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685800" marR="0" lvl="1" indent="-762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143000" marR="0" lvl="2" indent="-1016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600200" marR="0" lvl="3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057400" marR="0" lvl="4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514600" marR="0" lvl="5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2971800" marR="0" lvl="6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429000" marR="0" lvl="7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3886200" marR="0" lvl="8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122493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 advTm="2000"/>
    </mc:Choice>
    <mc:Fallback>
      <p:transition advClick="0" advTm="2000"/>
    </mc:Fallback>
  </mc:AlternateContent>
  <p:hf sldNum="0" ft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ortfolio #4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hape 180"/>
          <p:cNvSpPr>
            <a:spLocks noGrp="1"/>
          </p:cNvSpPr>
          <p:nvPr>
            <p:ph type="pic" idx="2"/>
          </p:nvPr>
        </p:nvSpPr>
        <p:spPr>
          <a:xfrm>
            <a:off x="717550" y="2155825"/>
            <a:ext cx="2633472" cy="4078224"/>
          </a:xfrm>
          <a:prstGeom prst="rect">
            <a:avLst/>
          </a:prstGeom>
          <a:solidFill>
            <a:srgbClr val="1A1D21"/>
          </a:solidFill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685800" marR="0" lvl="1" indent="-762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143000" marR="0" lvl="2" indent="-1016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600200" marR="0" lvl="3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057400" marR="0" lvl="4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514600" marR="0" lvl="5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2971800" marR="0" lvl="6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429000" marR="0" lvl="7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3886200" marR="0" lvl="8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81" name="Shape 181"/>
          <p:cNvSpPr>
            <a:spLocks noGrp="1"/>
          </p:cNvSpPr>
          <p:nvPr>
            <p:ph type="pic" idx="3"/>
          </p:nvPr>
        </p:nvSpPr>
        <p:spPr>
          <a:xfrm>
            <a:off x="3435350" y="2155583"/>
            <a:ext cx="2633472" cy="4078224"/>
          </a:xfrm>
          <a:prstGeom prst="rect">
            <a:avLst/>
          </a:prstGeom>
          <a:solidFill>
            <a:srgbClr val="1A1D21"/>
          </a:solidFill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685800" marR="0" lvl="1" indent="-762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143000" marR="0" lvl="2" indent="-1016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600200" marR="0" lvl="3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057400" marR="0" lvl="4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514600" marR="0" lvl="5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2971800" marR="0" lvl="6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429000" marR="0" lvl="7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3886200" marR="0" lvl="8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82" name="Shape 182"/>
          <p:cNvSpPr>
            <a:spLocks noGrp="1"/>
          </p:cNvSpPr>
          <p:nvPr>
            <p:ph type="pic" idx="4"/>
          </p:nvPr>
        </p:nvSpPr>
        <p:spPr>
          <a:xfrm>
            <a:off x="6138548" y="2155583"/>
            <a:ext cx="2633472" cy="4078224"/>
          </a:xfrm>
          <a:prstGeom prst="rect">
            <a:avLst/>
          </a:prstGeom>
          <a:solidFill>
            <a:srgbClr val="1A1D21"/>
          </a:solidFill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685800" marR="0" lvl="1" indent="-762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143000" marR="0" lvl="2" indent="-1016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600200" marR="0" lvl="3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057400" marR="0" lvl="4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514600" marR="0" lvl="5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2971800" marR="0" lvl="6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429000" marR="0" lvl="7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3886200" marR="0" lvl="8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83" name="Shape 183"/>
          <p:cNvSpPr>
            <a:spLocks noGrp="1"/>
          </p:cNvSpPr>
          <p:nvPr>
            <p:ph type="pic" idx="5"/>
          </p:nvPr>
        </p:nvSpPr>
        <p:spPr>
          <a:xfrm>
            <a:off x="8840788" y="2155583"/>
            <a:ext cx="2633472" cy="4078224"/>
          </a:xfrm>
          <a:prstGeom prst="rect">
            <a:avLst/>
          </a:prstGeom>
          <a:solidFill>
            <a:srgbClr val="1A1D21"/>
          </a:solidFill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685800" marR="0" lvl="1" indent="-762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143000" marR="0" lvl="2" indent="-1016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600200" marR="0" lvl="3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057400" marR="0" lvl="4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514600" marR="0" lvl="5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2971800" marR="0" lvl="6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429000" marR="0" lvl="7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3886200" marR="0" lvl="8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454252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 advTm="2000"/>
    </mc:Choice>
    <mc:Fallback>
      <p:transition advClick="0" advTm="2000"/>
    </mc:Fallback>
  </mc:AlternateContent>
  <p:hf sldNum="0" ft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95589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 advTm="2000"/>
    </mc:Choice>
    <mc:Fallback>
      <p:transition advClick="0" advTm="2000"/>
    </mc:Fallback>
  </mc:AlternateContent>
  <p:hf sldNum="0" ft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8541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 advTm="2000"/>
    </mc:Choice>
    <mc:Fallback>
      <p:transition advClick="0" advTm="2000"/>
    </mc:Fallback>
  </mc:AlternateContent>
  <p:hf sldNum="0" ft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82528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 advTm="2000"/>
    </mc:Choice>
    <mc:Fallback>
      <p:transition advClick="0" advTm="2000"/>
    </mc:Fallback>
  </mc:AlternateContent>
  <p:hf sldNum="0" ft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Fir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4064000" y="441961"/>
            <a:ext cx="4368800" cy="3083564"/>
          </a:xfrm>
          <a:custGeom>
            <a:avLst/>
            <a:gdLst/>
            <a:ahLst/>
            <a:cxnLst/>
            <a:rect l="l" t="t" r="r" b="b"/>
            <a:pathLst>
              <a:path w="3276600" h="3124200">
                <a:moveTo>
                  <a:pt x="3028950" y="0"/>
                </a:moveTo>
                <a:cubicBezTo>
                  <a:pt x="3165723" y="0"/>
                  <a:pt x="3276600" y="110877"/>
                  <a:pt x="3276600" y="247650"/>
                </a:cubicBezTo>
                <a:lnTo>
                  <a:pt x="3276600" y="2876550"/>
                </a:lnTo>
                <a:cubicBezTo>
                  <a:pt x="3276600" y="3013323"/>
                  <a:pt x="3165723" y="3124200"/>
                  <a:pt x="3028950" y="3124200"/>
                </a:cubicBezTo>
                <a:cubicBezTo>
                  <a:pt x="2892177" y="3124200"/>
                  <a:pt x="2781300" y="3013323"/>
                  <a:pt x="2781300" y="2876550"/>
                </a:cubicBezTo>
                <a:lnTo>
                  <a:pt x="2781300" y="247650"/>
                </a:lnTo>
                <a:cubicBezTo>
                  <a:pt x="2781300" y="110877"/>
                  <a:pt x="2892177" y="0"/>
                  <a:pt x="3028950" y="0"/>
                </a:cubicBezTo>
                <a:close/>
                <a:moveTo>
                  <a:pt x="2317750" y="0"/>
                </a:moveTo>
                <a:cubicBezTo>
                  <a:pt x="2454523" y="0"/>
                  <a:pt x="2565400" y="110877"/>
                  <a:pt x="2565400" y="247650"/>
                </a:cubicBezTo>
                <a:lnTo>
                  <a:pt x="2565400" y="2876550"/>
                </a:lnTo>
                <a:cubicBezTo>
                  <a:pt x="2565400" y="3013323"/>
                  <a:pt x="2454523" y="3124200"/>
                  <a:pt x="2317750" y="3124200"/>
                </a:cubicBezTo>
                <a:cubicBezTo>
                  <a:pt x="2180977" y="3124200"/>
                  <a:pt x="2070100" y="3013323"/>
                  <a:pt x="2070100" y="2876550"/>
                </a:cubicBezTo>
                <a:lnTo>
                  <a:pt x="2070100" y="247650"/>
                </a:lnTo>
                <a:cubicBezTo>
                  <a:pt x="2070100" y="110877"/>
                  <a:pt x="2180977" y="0"/>
                  <a:pt x="2317750" y="0"/>
                </a:cubicBezTo>
                <a:close/>
                <a:moveTo>
                  <a:pt x="1606550" y="0"/>
                </a:moveTo>
                <a:cubicBezTo>
                  <a:pt x="1743323" y="0"/>
                  <a:pt x="1854200" y="110877"/>
                  <a:pt x="1854200" y="247650"/>
                </a:cubicBezTo>
                <a:lnTo>
                  <a:pt x="1854200" y="2876550"/>
                </a:lnTo>
                <a:cubicBezTo>
                  <a:pt x="1854200" y="3013323"/>
                  <a:pt x="1743323" y="3124200"/>
                  <a:pt x="1606550" y="3124200"/>
                </a:cubicBezTo>
                <a:cubicBezTo>
                  <a:pt x="1469777" y="3124200"/>
                  <a:pt x="1358900" y="3013323"/>
                  <a:pt x="1358900" y="2876550"/>
                </a:cubicBezTo>
                <a:lnTo>
                  <a:pt x="1358900" y="247650"/>
                </a:lnTo>
                <a:cubicBezTo>
                  <a:pt x="1358900" y="110877"/>
                  <a:pt x="1469777" y="0"/>
                  <a:pt x="1606550" y="0"/>
                </a:cubicBezTo>
                <a:close/>
                <a:moveTo>
                  <a:pt x="958850" y="0"/>
                </a:moveTo>
                <a:cubicBezTo>
                  <a:pt x="1095623" y="0"/>
                  <a:pt x="1206500" y="110877"/>
                  <a:pt x="1206500" y="247650"/>
                </a:cubicBezTo>
                <a:lnTo>
                  <a:pt x="1206500" y="2876550"/>
                </a:lnTo>
                <a:cubicBezTo>
                  <a:pt x="1206500" y="3013323"/>
                  <a:pt x="1095623" y="3124200"/>
                  <a:pt x="958850" y="3124200"/>
                </a:cubicBezTo>
                <a:cubicBezTo>
                  <a:pt x="822077" y="3124200"/>
                  <a:pt x="711200" y="3013323"/>
                  <a:pt x="711200" y="2876550"/>
                </a:cubicBezTo>
                <a:lnTo>
                  <a:pt x="711200" y="247650"/>
                </a:lnTo>
                <a:cubicBezTo>
                  <a:pt x="711200" y="110877"/>
                  <a:pt x="822077" y="0"/>
                  <a:pt x="958850" y="0"/>
                </a:cubicBezTo>
                <a:close/>
                <a:moveTo>
                  <a:pt x="247650" y="0"/>
                </a:moveTo>
                <a:cubicBezTo>
                  <a:pt x="384423" y="0"/>
                  <a:pt x="495300" y="110877"/>
                  <a:pt x="495300" y="247650"/>
                </a:cubicBezTo>
                <a:lnTo>
                  <a:pt x="495300" y="2876550"/>
                </a:lnTo>
                <a:cubicBezTo>
                  <a:pt x="495300" y="3013323"/>
                  <a:pt x="384423" y="3124200"/>
                  <a:pt x="247650" y="3124200"/>
                </a:cubicBezTo>
                <a:cubicBezTo>
                  <a:pt x="110877" y="3124200"/>
                  <a:pt x="0" y="3013323"/>
                  <a:pt x="0" y="2876550"/>
                </a:cubicBezTo>
                <a:lnTo>
                  <a:pt x="0" y="247650"/>
                </a:lnTo>
                <a:cubicBezTo>
                  <a:pt x="0" y="110877"/>
                  <a:pt x="110877" y="0"/>
                  <a:pt x="247650" y="0"/>
                </a:cubicBezTo>
                <a:close/>
              </a:path>
            </a:pathLst>
          </a:cu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108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54706" y="3801452"/>
            <a:ext cx="4511964" cy="431780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200" b="1">
                <a:solidFill>
                  <a:schemeClr val="bg1"/>
                </a:solidFill>
                <a:latin typeface="Lato Hairline" panose="020F0502020204030203"/>
                <a:cs typeface="Lato Hairline" panose="020F0502020204030203"/>
              </a:defRPr>
            </a:lvl1pPr>
          </a:lstStyle>
          <a:p>
            <a:pPr lvl="0"/>
            <a:r>
              <a:rPr lang="es-ES_tradnl" dirty="0"/>
              <a:t>TITLE HERE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954706" y="4385250"/>
            <a:ext cx="4511964" cy="228451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accent3"/>
                </a:solidFill>
                <a:latin typeface="Lato Light" panose="020F0502020204030203"/>
                <a:cs typeface="Lato Light" panose="020F0502020204030203"/>
              </a:defRPr>
            </a:lvl1pPr>
          </a:lstStyle>
          <a:p>
            <a:pPr lvl="0"/>
            <a:r>
              <a:rPr lang="es-ES_tradnl" dirty="0" err="1"/>
              <a:t>Ultimate</a:t>
            </a:r>
            <a:r>
              <a:rPr lang="es-ES_tradnl" dirty="0"/>
              <a:t> </a:t>
            </a:r>
            <a:r>
              <a:rPr lang="es-ES_tradnl" dirty="0" err="1"/>
              <a:t>Powerpoint</a:t>
            </a:r>
            <a:r>
              <a:rPr lang="es-ES_tradnl" dirty="0"/>
              <a:t> </a:t>
            </a:r>
            <a:r>
              <a:rPr lang="es-ES_tradnl" dirty="0" err="1"/>
              <a:t>Template</a:t>
            </a:r>
            <a:endParaRPr lang="es-ES_tradnl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3975167" y="4817825"/>
            <a:ext cx="4488039" cy="153686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44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748036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 advTm="2000"/>
    </mc:Choice>
    <mc:Fallback>
      <p:transition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ft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14006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0"/>
    </mc:Choice>
    <mc:Fallback>
      <p:transition advTm="0"/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自定义版式">
    <p:bg>
      <p:bgPr>
        <a:solidFill>
          <a:srgbClr val="04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02960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0"/>
    </mc:Choice>
    <mc:Fallback>
      <p:transition advTm="0"/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2434037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0"/>
    </mc:Choice>
    <mc:Fallback>
      <p:transition advTm="0"/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7786044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0"/>
    </mc:Choice>
    <mc:Fallback>
      <p:transition advTm="0"/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4019134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0"/>
    </mc:Choice>
    <mc:Fallback>
      <p:transition advTm="0"/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988625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0"/>
    </mc:Choice>
    <mc:Fallback>
      <p:transition advTm="0"/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矩形 3"/>
          <p:cNvSpPr/>
          <p:nvPr userDrawn="1"/>
        </p:nvSpPr>
        <p:spPr>
          <a:xfrm>
            <a:off x="8134110" y="6545425"/>
            <a:ext cx="966254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/>
            <a:r>
              <a:rPr lang="en-US" altLang="zh-CN" sz="100" dirty="0">
                <a:solidFill>
                  <a:prstClr val="white"/>
                </a:solidFill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ea typeface="宋体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www.1ppt.com/moban/          </a:t>
            </a:r>
            <a:r>
              <a:rPr lang="zh-CN" altLang="en-US" sz="100" dirty="0">
                <a:solidFill>
                  <a:prstClr val="white"/>
                </a:solidFill>
                <a:ea typeface="宋体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www.1ppt.com/hangye/ </a:t>
            </a: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ea typeface="宋体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www.1ppt.com/jieri/          PPT</a:t>
            </a:r>
            <a:r>
              <a:rPr lang="zh-CN" altLang="en-US" sz="100" dirty="0">
                <a:solidFill>
                  <a:prstClr val="white"/>
                </a:solidFill>
                <a:ea typeface="宋体"/>
              </a:rPr>
              <a:t>素材：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www.1ppt.com/sucai/</a:t>
            </a:r>
          </a:p>
          <a:p>
            <a:pPr defTabSz="914400"/>
            <a:r>
              <a:rPr lang="en-US" altLang="zh-CN" sz="100" dirty="0">
                <a:solidFill>
                  <a:prstClr val="white"/>
                </a:solidFill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ea typeface="宋体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www.1ppt.com/beijing/        PPT</a:t>
            </a:r>
            <a:r>
              <a:rPr lang="zh-CN" altLang="en-US" sz="100" dirty="0">
                <a:solidFill>
                  <a:prstClr val="white"/>
                </a:solidFill>
                <a:ea typeface="宋体"/>
              </a:rPr>
              <a:t>图表：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www.1ppt.com/tubiao/      </a:t>
            </a: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ea typeface="宋体"/>
              </a:rPr>
              <a:t>精美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ea typeface="宋体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www.1ppt.com/xiazai/         PPT</a:t>
            </a:r>
            <a:r>
              <a:rPr lang="zh-CN" altLang="en-US" sz="100" dirty="0">
                <a:solidFill>
                  <a:prstClr val="white"/>
                </a:solidFill>
                <a:ea typeface="宋体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www.1ppt.com/powerpoint/      </a:t>
            </a:r>
          </a:p>
          <a:p>
            <a:pPr defTabSz="914400"/>
            <a:r>
              <a:rPr lang="en-US" altLang="zh-CN" sz="100" dirty="0">
                <a:solidFill>
                  <a:prstClr val="white"/>
                </a:solidFill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ea typeface="宋体"/>
              </a:rPr>
              <a:t>课件：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www.1ppt.com/kejian/             </a:t>
            </a:r>
            <a:r>
              <a:rPr lang="zh-CN" altLang="en-US" sz="100" dirty="0">
                <a:solidFill>
                  <a:prstClr val="white"/>
                </a:solidFill>
                <a:ea typeface="宋体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www.1ppt.com/ziti/</a:t>
            </a: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ea typeface="宋体"/>
              </a:rPr>
              <a:t>工作总结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www.1ppt.com/xiazai/zongjie/ </a:t>
            </a:r>
            <a:r>
              <a:rPr lang="zh-CN" altLang="en-US" sz="100" dirty="0">
                <a:solidFill>
                  <a:prstClr val="white"/>
                </a:solidFill>
                <a:ea typeface="宋体"/>
              </a:rPr>
              <a:t>工作计划：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www.1ppt.com/xiazai/jihua/</a:t>
            </a: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ea typeface="宋体"/>
              </a:rPr>
              <a:t>商务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www.1ppt.com/moban/shangwu/  </a:t>
            </a:r>
            <a:r>
              <a:rPr lang="zh-CN" altLang="en-US" sz="100" dirty="0">
                <a:solidFill>
                  <a:prstClr val="white"/>
                </a:solidFill>
                <a:ea typeface="宋体"/>
              </a:rPr>
              <a:t>个人简历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www.1ppt.com/xiazai/jianli/  </a:t>
            </a: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ea typeface="宋体"/>
              </a:rPr>
              <a:t>毕业答辩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www.1ppt.com/xiazai/dabian/  </a:t>
            </a:r>
            <a:r>
              <a:rPr lang="zh-CN" altLang="en-US" sz="100" dirty="0">
                <a:solidFill>
                  <a:prstClr val="white"/>
                </a:solidFill>
                <a:ea typeface="宋体"/>
              </a:rPr>
              <a:t>工作汇报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www.1ppt.com/xiazai/huibao/    </a:t>
            </a:r>
          </a:p>
          <a:p>
            <a:pPr defTabSz="914400"/>
            <a:r>
              <a:rPr lang="en-US" altLang="zh-CN" sz="100" dirty="0">
                <a:solidFill>
                  <a:prstClr val="white"/>
                </a:solidFill>
                <a:ea typeface="宋体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850513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0"/>
    </mc:Choice>
    <mc:Fallback>
      <p:transition advTm="0"/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7990044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0"/>
    </mc:Choice>
    <mc:Fallback>
      <p:transition advTm="0"/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9446971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0"/>
    </mc:Choice>
    <mc:Fallback>
      <p:transition advTm="0"/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3303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10" advClick="0" advTm="2000"/>
    </mc:Choice>
    <mc:Fallback>
      <p:transition advClick="0" advTm="2000"/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4678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 advTm="2000"/>
    </mc:Choice>
    <mc:Fallback>
      <p:transition advClick="0" advTm="2000"/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71903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 advTm="2000"/>
    </mc:Choice>
    <mc:Fallback>
      <p:transition advClick="0" advTm="2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5" Type="http://schemas.openxmlformats.org/officeDocument/2006/relationships/slideLayout" Target="../slideLayouts/slideLayout53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0.xml"/><Relationship Id="rId2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8.xml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3A7706-3ADE-439A-ACCA-4E2E4BD0A8D2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5455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</p:sldLayoutIdLst>
  <mc:AlternateContent xmlns:mc="http://schemas.openxmlformats.org/markup-compatibility/2006">
    <mc:Choice xmlns:p14="http://schemas.microsoft.com/office/powerpoint/2010/main" Requires="p14">
      <p:transition p14:dur="10" advClick="0" advTm="2000"/>
    </mc:Choice>
    <mc:Fallback>
      <p:transition advClick="0" advTm="2000"/>
    </mc:Fallback>
  </mc:AlternateContent>
  <p:hf sldNum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5164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</p:sldLayoutIdLst>
  <mc:AlternateContent xmlns:mc="http://schemas.openxmlformats.org/markup-compatibility/2006">
    <mc:Choice xmlns:p14="http://schemas.microsoft.com/office/powerpoint/2010/main" Requires="p14">
      <p:transition p14:dur="10" advTm="0"/>
    </mc:Choice>
    <mc:Fallback>
      <p:transition advTm="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76792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</p:sldLayoutIdLst>
  <mc:AlternateContent xmlns:mc="http://schemas.openxmlformats.org/markup-compatibility/2006">
    <mc:Choice xmlns:p14="http://schemas.microsoft.com/office/powerpoint/2010/main" Requires="p14">
      <p:transition p14:dur="10" advClick="0" advTm="2000"/>
    </mc:Choice>
    <mc:Fallback>
      <p:transition advClick="0" advTm="2000"/>
    </mc:Fallback>
  </mc:AlternateContent>
  <p:hf hdr="0" dt="0"/>
  <p:txStyles>
    <p:titleStyle>
      <a:lvl1pPr algn="l" defTabSz="913765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376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50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摄图网_400789432"/>
          <p:cNvPicPr>
            <a:picLocks noChangeAspect="1"/>
          </p:cNvPicPr>
          <p:nvPr/>
        </p:nvPicPr>
        <p:blipFill>
          <a:blip r:embed="rId3" cstate="email">
            <a:lum bright="-6000"/>
          </a:blip>
          <a:srcRect/>
          <a:stretch>
            <a:fillRect/>
          </a:stretch>
        </p:blipFill>
        <p:spPr>
          <a:xfrm>
            <a:off x="10191115" y="-1214755"/>
            <a:ext cx="3005455" cy="2978150"/>
          </a:xfrm>
          <a:prstGeom prst="ellipse">
            <a:avLst/>
          </a:prstGeom>
        </p:spPr>
      </p:pic>
      <p:pic>
        <p:nvPicPr>
          <p:cNvPr id="3" name="图片 2" descr="摄图网_400789432"/>
          <p:cNvPicPr>
            <a:picLocks noChangeAspect="1"/>
          </p:cNvPicPr>
          <p:nvPr/>
        </p:nvPicPr>
        <p:blipFill>
          <a:blip r:embed="rId4" cstate="email">
            <a:lum bright="-6000"/>
          </a:blip>
          <a:srcRect/>
          <a:stretch>
            <a:fillRect/>
          </a:stretch>
        </p:blipFill>
        <p:spPr>
          <a:xfrm>
            <a:off x="749935" y="4787900"/>
            <a:ext cx="1100455" cy="1106170"/>
          </a:xfrm>
          <a:prstGeom prst="ellipse">
            <a:avLst/>
          </a:prstGeom>
        </p:spPr>
      </p:pic>
      <p:sp>
        <p:nvSpPr>
          <p:cNvPr id="12" name="椭圆 11"/>
          <p:cNvSpPr/>
          <p:nvPr/>
        </p:nvSpPr>
        <p:spPr>
          <a:xfrm>
            <a:off x="9406863" y="5173238"/>
            <a:ext cx="322730" cy="32273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>
                <a:lumMod val="65000"/>
                <a:lumOff val="35000"/>
              </a:schemeClr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7435668" y="883416"/>
            <a:ext cx="119509" cy="11950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>
                <a:lumMod val="65000"/>
                <a:lumOff val="35000"/>
              </a:schemeClr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9478936" y="5249438"/>
            <a:ext cx="170330" cy="170330"/>
          </a:xfrm>
          <a:prstGeom prst="ellipse">
            <a:avLst/>
          </a:prstGeom>
          <a:solidFill>
            <a:srgbClr val="48C5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11511394" y="5173238"/>
            <a:ext cx="103404" cy="10340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11511394" y="5533693"/>
            <a:ext cx="103404" cy="10340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11511394" y="5898687"/>
            <a:ext cx="103404" cy="10340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3684569" y="940850"/>
            <a:ext cx="4822861" cy="4822861"/>
          </a:xfrm>
          <a:prstGeom prst="ellipse">
            <a:avLst/>
          </a:prstGeom>
          <a:solidFill>
            <a:srgbClr val="0E4B7A">
              <a:alpha val="40000"/>
            </a:srgb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3327844" y="556455"/>
            <a:ext cx="5536310" cy="5536310"/>
          </a:xfrm>
          <a:prstGeom prst="ellipse">
            <a:avLst/>
          </a:prstGeom>
          <a:noFill/>
          <a:ln w="3175">
            <a:solidFill>
              <a:srgbClr val="0E4B7A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29" name="椭圆 28"/>
          <p:cNvSpPr/>
          <p:nvPr/>
        </p:nvSpPr>
        <p:spPr>
          <a:xfrm>
            <a:off x="3358878" y="4192050"/>
            <a:ext cx="322730" cy="32273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>
                <a:lumMod val="65000"/>
                <a:lumOff val="35000"/>
              </a:schemeClr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3430951" y="4268250"/>
            <a:ext cx="170330" cy="170330"/>
          </a:xfrm>
          <a:prstGeom prst="ellipse">
            <a:avLst/>
          </a:prstGeom>
          <a:solidFill>
            <a:srgbClr val="0E4B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31" name="椭圆 30"/>
          <p:cNvSpPr/>
          <p:nvPr/>
        </p:nvSpPr>
        <p:spPr>
          <a:xfrm>
            <a:off x="7133909" y="691184"/>
            <a:ext cx="217150" cy="21715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>
                <a:lumMod val="65000"/>
                <a:lumOff val="35000"/>
              </a:schemeClr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32" name="椭圆 31"/>
          <p:cNvSpPr/>
          <p:nvPr/>
        </p:nvSpPr>
        <p:spPr>
          <a:xfrm>
            <a:off x="7194145" y="746046"/>
            <a:ext cx="114607" cy="114607"/>
          </a:xfrm>
          <a:prstGeom prst="ellipse">
            <a:avLst/>
          </a:prstGeom>
          <a:solidFill>
            <a:srgbClr val="48C5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35" name="椭圆 34"/>
          <p:cNvSpPr/>
          <p:nvPr/>
        </p:nvSpPr>
        <p:spPr>
          <a:xfrm>
            <a:off x="3644229" y="832648"/>
            <a:ext cx="80680" cy="8068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>
                <a:lumMod val="65000"/>
                <a:lumOff val="35000"/>
              </a:schemeClr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36" name="椭圆 35"/>
          <p:cNvSpPr/>
          <p:nvPr/>
        </p:nvSpPr>
        <p:spPr>
          <a:xfrm>
            <a:off x="9624692" y="1843779"/>
            <a:ext cx="104181" cy="104181"/>
          </a:xfrm>
          <a:prstGeom prst="ellipse">
            <a:avLst/>
          </a:prstGeom>
          <a:solidFill>
            <a:srgbClr val="48C5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grpSp>
        <p:nvGrpSpPr>
          <p:cNvPr id="39" name="组合 38"/>
          <p:cNvGrpSpPr/>
          <p:nvPr/>
        </p:nvGrpSpPr>
        <p:grpSpPr>
          <a:xfrm>
            <a:off x="9174285" y="5109010"/>
            <a:ext cx="140428" cy="140428"/>
            <a:chOff x="9572355" y="5049973"/>
            <a:chExt cx="322730" cy="322730"/>
          </a:xfrm>
        </p:grpSpPr>
        <p:sp>
          <p:nvSpPr>
            <p:cNvPr id="37" name="椭圆 36"/>
            <p:cNvSpPr/>
            <p:nvPr/>
          </p:nvSpPr>
          <p:spPr>
            <a:xfrm>
              <a:off x="9572355" y="5049973"/>
              <a:ext cx="322730" cy="32273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>
                  <a:lumMod val="65000"/>
                  <a:lumOff val="35000"/>
                </a:schemeClr>
              </a:solidFill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38" name="椭圆 37"/>
            <p:cNvSpPr/>
            <p:nvPr/>
          </p:nvSpPr>
          <p:spPr>
            <a:xfrm>
              <a:off x="9644428" y="5126173"/>
              <a:ext cx="170330" cy="170330"/>
            </a:xfrm>
            <a:prstGeom prst="ellipse">
              <a:avLst/>
            </a:prstGeom>
            <a:solidFill>
              <a:srgbClr val="48C5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2945731" y="5276642"/>
            <a:ext cx="157238" cy="157238"/>
            <a:chOff x="2579606" y="4476642"/>
            <a:chExt cx="322730" cy="322730"/>
          </a:xfrm>
        </p:grpSpPr>
        <p:sp>
          <p:nvSpPr>
            <p:cNvPr id="40" name="椭圆 39"/>
            <p:cNvSpPr/>
            <p:nvPr/>
          </p:nvSpPr>
          <p:spPr>
            <a:xfrm>
              <a:off x="2579606" y="4476642"/>
              <a:ext cx="322730" cy="32273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>
                  <a:lumMod val="65000"/>
                  <a:lumOff val="35000"/>
                </a:schemeClr>
              </a:solidFill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41" name="椭圆 40"/>
            <p:cNvSpPr/>
            <p:nvPr/>
          </p:nvSpPr>
          <p:spPr>
            <a:xfrm>
              <a:off x="2651679" y="4552842"/>
              <a:ext cx="170330" cy="170330"/>
            </a:xfrm>
            <a:prstGeom prst="ellipse">
              <a:avLst/>
            </a:prstGeom>
            <a:solidFill>
              <a:srgbClr val="0E4B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</p:grpSp>
      <p:sp>
        <p:nvSpPr>
          <p:cNvPr id="46" name="椭圆 45"/>
          <p:cNvSpPr/>
          <p:nvPr/>
        </p:nvSpPr>
        <p:spPr>
          <a:xfrm>
            <a:off x="2146231" y="-561629"/>
            <a:ext cx="7827818" cy="7827818"/>
          </a:xfrm>
          <a:prstGeom prst="ellipse">
            <a:avLst/>
          </a:prstGeom>
          <a:noFill/>
          <a:ln w="3175">
            <a:solidFill>
              <a:srgbClr val="0E4B7A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pic>
        <p:nvPicPr>
          <p:cNvPr id="48" name="图片 47" descr="图片包含 就坐&#10;&#10;描述已自动生成"/>
          <p:cNvPicPr>
            <a:picLocks noChangeAspect="1"/>
          </p:cNvPicPr>
          <p:nvPr/>
        </p:nvPicPr>
        <p:blipFill>
          <a:blip r:embed="rId5" cstate="email"/>
          <a:stretch>
            <a:fillRect/>
          </a:stretch>
        </p:blipFill>
        <p:spPr>
          <a:xfrm>
            <a:off x="3570247" y="730353"/>
            <a:ext cx="5010676" cy="5010676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1520255" y="2524133"/>
            <a:ext cx="9610139" cy="119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400" b="1" i="0" u="none" strike="noStrike" kern="1200" cap="none" spc="-130" normalizeH="0" baseline="0" noProof="0" dirty="0">
                <a:ln>
                  <a:noFill/>
                </a:ln>
                <a:gradFill>
                  <a:gsLst>
                    <a:gs pos="20000">
                      <a:srgbClr val="FE93AA"/>
                    </a:gs>
                    <a:gs pos="69000">
                      <a:srgbClr val="4472C4">
                        <a:lumMod val="45000"/>
                        <a:lumOff val="55000"/>
                      </a:srgbClr>
                    </a:gs>
                    <a:gs pos="43000">
                      <a:srgbClr val="DCA5C2"/>
                    </a:gs>
                    <a:gs pos="90000">
                      <a:srgbClr val="4472C4">
                        <a:lumMod val="45000"/>
                        <a:lumOff val="55000"/>
                      </a:srgbClr>
                    </a:gs>
                    <a:gs pos="100000">
                      <a:srgbClr val="4472C4">
                        <a:lumMod val="30000"/>
                        <a:lumOff val="70000"/>
                      </a:srgbClr>
                    </a:gs>
                  </a:gsLst>
                  <a:lin ang="5400000" scaled="1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AI Agent </a:t>
            </a:r>
            <a:r>
              <a:rPr kumimoji="0" lang="zh-CN" altLang="en-US" sz="5400" b="1" i="0" u="none" strike="noStrike" kern="1200" cap="none" spc="-130" normalizeH="0" baseline="0" noProof="0" dirty="0">
                <a:ln>
                  <a:noFill/>
                </a:ln>
                <a:gradFill>
                  <a:gsLst>
                    <a:gs pos="20000">
                      <a:srgbClr val="FE93AA"/>
                    </a:gs>
                    <a:gs pos="69000">
                      <a:srgbClr val="4472C4">
                        <a:lumMod val="45000"/>
                        <a:lumOff val="55000"/>
                      </a:srgbClr>
                    </a:gs>
                    <a:gs pos="43000">
                      <a:srgbClr val="DCA5C2"/>
                    </a:gs>
                    <a:gs pos="90000">
                      <a:srgbClr val="4472C4">
                        <a:lumMod val="45000"/>
                        <a:lumOff val="55000"/>
                      </a:srgbClr>
                    </a:gs>
                    <a:gs pos="100000">
                      <a:srgbClr val="4472C4">
                        <a:lumMod val="30000"/>
                        <a:lumOff val="70000"/>
                      </a:srgbClr>
                    </a:gs>
                  </a:gsLst>
                  <a:lin ang="5400000" scaled="1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血糖管理自进化系统</a:t>
            </a:r>
            <a:endParaRPr kumimoji="0" lang="zh-CN" altLang="en-US" sz="6000" b="1" i="0" u="none" strike="noStrike" kern="1200" cap="none" spc="-130" normalizeH="0" baseline="0" noProof="0" dirty="0">
              <a:ln>
                <a:noFill/>
              </a:ln>
              <a:gradFill>
                <a:gsLst>
                  <a:gs pos="20000">
                    <a:srgbClr val="FE93AA"/>
                  </a:gs>
                  <a:gs pos="69000">
                    <a:srgbClr val="4472C4">
                      <a:lumMod val="45000"/>
                      <a:lumOff val="55000"/>
                    </a:srgbClr>
                  </a:gs>
                  <a:gs pos="43000">
                    <a:srgbClr val="DCA5C2"/>
                  </a:gs>
                  <a:gs pos="90000">
                    <a:srgbClr val="4472C4">
                      <a:lumMod val="45000"/>
                      <a:lumOff val="55000"/>
                    </a:srgbClr>
                  </a:gs>
                  <a:gs pos="100000">
                    <a:srgbClr val="4472C4">
                      <a:lumMod val="30000"/>
                      <a:lumOff val="70000"/>
                    </a:srgbClr>
                  </a:gs>
                </a:gsLst>
                <a:lin ang="5400000" scaled="1"/>
              </a:gra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37F46D7-AD91-AACA-E1E2-A58FEB494C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8086589" y="1072321"/>
            <a:ext cx="7376799" cy="4564776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A693A253-3BA8-54F3-FC49-F850A3430E39}"/>
              </a:ext>
            </a:extLst>
          </p:cNvPr>
          <p:cNvSpPr txBox="1"/>
          <p:nvPr/>
        </p:nvSpPr>
        <p:spPr>
          <a:xfrm>
            <a:off x="1133326" y="1649591"/>
            <a:ext cx="9997068" cy="9883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1" i="0" u="none" strike="noStrike" kern="1200" cap="none" spc="-13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面向智能客服的</a:t>
            </a:r>
            <a:endParaRPr kumimoji="0" lang="en-US" altLang="zh-CN" sz="4400" b="1" i="0" u="none" strike="noStrike" kern="1200" cap="none" spc="-13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871723" y="5249438"/>
            <a:ext cx="4707780" cy="700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团队成员：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 B C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时间：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2026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年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月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27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日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 advTm="2000"/>
    </mc:Choice>
    <mc:Fallback>
      <p:transition advClick="0" advTm="2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087257" y="740228"/>
            <a:ext cx="201748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 录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CONTENTS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529829" y="2192439"/>
            <a:ext cx="2462404" cy="3352278"/>
            <a:chOff x="854293" y="2207188"/>
            <a:chExt cx="2462404" cy="3352278"/>
          </a:xfrm>
        </p:grpSpPr>
        <p:sp>
          <p:nvSpPr>
            <p:cNvPr id="26" name="矩形 25"/>
            <p:cNvSpPr/>
            <p:nvPr/>
          </p:nvSpPr>
          <p:spPr>
            <a:xfrm>
              <a:off x="1111517" y="4565785"/>
              <a:ext cx="1947969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项目介绍</a:t>
              </a:r>
            </a:p>
          </p:txBody>
        </p:sp>
        <p:sp>
          <p:nvSpPr>
            <p:cNvPr id="34" name="等腰三角形 33"/>
            <p:cNvSpPr/>
            <p:nvPr/>
          </p:nvSpPr>
          <p:spPr>
            <a:xfrm>
              <a:off x="1005495" y="2207188"/>
              <a:ext cx="2160000" cy="1800000"/>
            </a:xfrm>
            <a:prstGeom prst="triangle">
              <a:avLst/>
            </a:prstGeom>
            <a:noFill/>
            <a:ln>
              <a:solidFill>
                <a:srgbClr val="33619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1067857" y="2501901"/>
              <a:ext cx="2035277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8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74000">
                        <a:srgbClr val="C05EA6"/>
                      </a:gs>
                      <a:gs pos="0">
                        <a:srgbClr val="F682B0"/>
                      </a:gs>
                      <a:gs pos="22000">
                        <a:srgbClr val="FE93AA"/>
                      </a:gs>
                      <a:gs pos="45000">
                        <a:srgbClr val="FD8EAC"/>
                      </a:gs>
                      <a:gs pos="99091">
                        <a:srgbClr val="80508A"/>
                      </a:gs>
                    </a:gsLst>
                    <a:lin ang="0" scaled="1"/>
                  </a:gradFill>
                  <a:effectLst/>
                  <a:uLnTx/>
                  <a:uFillTx/>
                  <a:latin typeface="OCR A Extended" panose="02010509020102010303" pitchFamily="50" charset="0"/>
                  <a:ea typeface="微软雅黑" panose="020B0503020204020204" pitchFamily="34" charset="-122"/>
                  <a:cs typeface="IrisUPC" panose="020B0604020202020204" pitchFamily="34" charset="-34"/>
                </a:rPr>
                <a:t>1</a:t>
              </a:r>
              <a:endParaRPr kumimoji="0" lang="zh-CN" altLang="en-US" sz="88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74000">
                      <a:srgbClr val="C05EA6"/>
                    </a:gs>
                    <a:gs pos="0">
                      <a:srgbClr val="F682B0"/>
                    </a:gs>
                    <a:gs pos="22000">
                      <a:srgbClr val="FE93AA"/>
                    </a:gs>
                    <a:gs pos="45000">
                      <a:srgbClr val="FD8EAC"/>
                    </a:gs>
                    <a:gs pos="99091">
                      <a:srgbClr val="80508A"/>
                    </a:gs>
                  </a:gsLst>
                  <a:lin ang="0" scaled="1"/>
                </a:gradFill>
                <a:effectLst/>
                <a:uLnTx/>
                <a:uFillTx/>
                <a:latin typeface="OCR A Extended" panose="02010509020102010303" pitchFamily="50" charset="0"/>
                <a:ea typeface="微软雅黑" panose="020B0503020204020204" pitchFamily="34" charset="-122"/>
                <a:cs typeface="IrisUPC" panose="020B0604020202020204" pitchFamily="34" charset="-34"/>
              </a:endParaRPr>
            </a:p>
          </p:txBody>
        </p:sp>
        <p:sp>
          <p:nvSpPr>
            <p:cNvPr id="37" name="矩形 36"/>
            <p:cNvSpPr/>
            <p:nvPr/>
          </p:nvSpPr>
          <p:spPr>
            <a:xfrm>
              <a:off x="854293" y="5190134"/>
              <a:ext cx="246240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Project Introduction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3356006" y="2192439"/>
            <a:ext cx="2561920" cy="3352278"/>
            <a:chOff x="804535" y="2207188"/>
            <a:chExt cx="2561920" cy="3352278"/>
          </a:xfrm>
        </p:grpSpPr>
        <p:sp>
          <p:nvSpPr>
            <p:cNvPr id="39" name="矩形 38"/>
            <p:cNvSpPr/>
            <p:nvPr/>
          </p:nvSpPr>
          <p:spPr>
            <a:xfrm>
              <a:off x="1172425" y="4565785"/>
              <a:ext cx="1826141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项目介绍</a:t>
              </a:r>
            </a:p>
          </p:txBody>
        </p:sp>
        <p:sp>
          <p:nvSpPr>
            <p:cNvPr id="40" name="等腰三角形 39"/>
            <p:cNvSpPr/>
            <p:nvPr/>
          </p:nvSpPr>
          <p:spPr>
            <a:xfrm>
              <a:off x="1005495" y="2207188"/>
              <a:ext cx="2160000" cy="1800000"/>
            </a:xfrm>
            <a:prstGeom prst="triangle">
              <a:avLst/>
            </a:prstGeom>
            <a:noFill/>
            <a:ln>
              <a:solidFill>
                <a:srgbClr val="33619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1067857" y="2501901"/>
              <a:ext cx="2035277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8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74000">
                        <a:srgbClr val="C05EA6"/>
                      </a:gs>
                      <a:gs pos="0">
                        <a:srgbClr val="F682B0"/>
                      </a:gs>
                      <a:gs pos="22000">
                        <a:srgbClr val="FE93AA"/>
                      </a:gs>
                      <a:gs pos="45000">
                        <a:srgbClr val="FD8EAC"/>
                      </a:gs>
                      <a:gs pos="99091">
                        <a:srgbClr val="80508A"/>
                      </a:gs>
                    </a:gsLst>
                    <a:lin ang="0" scaled="1"/>
                  </a:gradFill>
                  <a:effectLst/>
                  <a:uLnTx/>
                  <a:uFillTx/>
                  <a:latin typeface="OCR A Extended" panose="02010509020102010303" pitchFamily="50" charset="0"/>
                  <a:ea typeface="微软雅黑" panose="020B0503020204020204" pitchFamily="34" charset="-122"/>
                  <a:cs typeface="IrisUPC" panose="020B0604020202020204" pitchFamily="34" charset="-34"/>
                </a:rPr>
                <a:t>2</a:t>
              </a:r>
              <a:endParaRPr kumimoji="0" lang="zh-CN" altLang="en-US" sz="88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74000">
                      <a:srgbClr val="C05EA6"/>
                    </a:gs>
                    <a:gs pos="0">
                      <a:srgbClr val="F682B0"/>
                    </a:gs>
                    <a:gs pos="22000">
                      <a:srgbClr val="FE93AA"/>
                    </a:gs>
                    <a:gs pos="45000">
                      <a:srgbClr val="FD8EAC"/>
                    </a:gs>
                    <a:gs pos="99091">
                      <a:srgbClr val="80508A"/>
                    </a:gs>
                  </a:gsLst>
                  <a:lin ang="0" scaled="1"/>
                </a:gradFill>
                <a:effectLst/>
                <a:uLnTx/>
                <a:uFillTx/>
                <a:latin typeface="OCR A Extended" panose="02010509020102010303" pitchFamily="50" charset="0"/>
                <a:ea typeface="微软雅黑" panose="020B0503020204020204" pitchFamily="34" charset="-122"/>
                <a:cs typeface="IrisUPC" panose="020B0604020202020204" pitchFamily="34" charset="-34"/>
              </a:endParaRPr>
            </a:p>
          </p:txBody>
        </p:sp>
        <p:sp>
          <p:nvSpPr>
            <p:cNvPr id="42" name="矩形 41"/>
            <p:cNvSpPr/>
            <p:nvPr/>
          </p:nvSpPr>
          <p:spPr>
            <a:xfrm>
              <a:off x="804535" y="5190134"/>
              <a:ext cx="256192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点击添加具体文案内容</a:t>
              </a: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6231941" y="2192439"/>
            <a:ext cx="2561920" cy="3352278"/>
            <a:chOff x="804535" y="2207188"/>
            <a:chExt cx="2561920" cy="3352278"/>
          </a:xfrm>
        </p:grpSpPr>
        <p:sp>
          <p:nvSpPr>
            <p:cNvPr id="44" name="矩形 43"/>
            <p:cNvSpPr/>
            <p:nvPr/>
          </p:nvSpPr>
          <p:spPr>
            <a:xfrm>
              <a:off x="1172426" y="4565785"/>
              <a:ext cx="1826141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项目介绍</a:t>
              </a:r>
            </a:p>
          </p:txBody>
        </p:sp>
        <p:sp>
          <p:nvSpPr>
            <p:cNvPr id="45" name="等腰三角形 44"/>
            <p:cNvSpPr/>
            <p:nvPr/>
          </p:nvSpPr>
          <p:spPr>
            <a:xfrm>
              <a:off x="1005495" y="2207188"/>
              <a:ext cx="2160000" cy="1800000"/>
            </a:xfrm>
            <a:prstGeom prst="triangle">
              <a:avLst/>
            </a:prstGeom>
            <a:noFill/>
            <a:ln>
              <a:solidFill>
                <a:srgbClr val="33619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1067857" y="2501901"/>
              <a:ext cx="2035277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8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74000">
                        <a:srgbClr val="C05EA6"/>
                      </a:gs>
                      <a:gs pos="0">
                        <a:srgbClr val="F682B0"/>
                      </a:gs>
                      <a:gs pos="22000">
                        <a:srgbClr val="FE93AA"/>
                      </a:gs>
                      <a:gs pos="45000">
                        <a:srgbClr val="FD8EAC"/>
                      </a:gs>
                      <a:gs pos="99091">
                        <a:srgbClr val="80508A"/>
                      </a:gs>
                    </a:gsLst>
                    <a:lin ang="0" scaled="1"/>
                  </a:gradFill>
                  <a:effectLst/>
                  <a:uLnTx/>
                  <a:uFillTx/>
                  <a:latin typeface="OCR A Extended" panose="02010509020102010303" pitchFamily="50" charset="0"/>
                  <a:ea typeface="微软雅黑" panose="020B0503020204020204" pitchFamily="34" charset="-122"/>
                  <a:cs typeface="IrisUPC" panose="020B0604020202020204" pitchFamily="34" charset="-34"/>
                </a:rPr>
                <a:t>3</a:t>
              </a:r>
              <a:endParaRPr kumimoji="0" lang="zh-CN" altLang="en-US" sz="88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74000">
                      <a:srgbClr val="C05EA6"/>
                    </a:gs>
                    <a:gs pos="0">
                      <a:srgbClr val="F682B0"/>
                    </a:gs>
                    <a:gs pos="22000">
                      <a:srgbClr val="FE93AA"/>
                    </a:gs>
                    <a:gs pos="45000">
                      <a:srgbClr val="FD8EAC"/>
                    </a:gs>
                    <a:gs pos="99091">
                      <a:srgbClr val="80508A"/>
                    </a:gs>
                  </a:gsLst>
                  <a:lin ang="0" scaled="1"/>
                </a:gradFill>
                <a:effectLst/>
                <a:uLnTx/>
                <a:uFillTx/>
                <a:latin typeface="OCR A Extended" panose="02010509020102010303" pitchFamily="50" charset="0"/>
                <a:ea typeface="微软雅黑" panose="020B0503020204020204" pitchFamily="34" charset="-122"/>
                <a:cs typeface="IrisUPC" panose="020B0604020202020204" pitchFamily="34" charset="-34"/>
              </a:endParaRPr>
            </a:p>
          </p:txBody>
        </p:sp>
        <p:sp>
          <p:nvSpPr>
            <p:cNvPr id="47" name="矩形 46"/>
            <p:cNvSpPr/>
            <p:nvPr/>
          </p:nvSpPr>
          <p:spPr>
            <a:xfrm>
              <a:off x="804535" y="5190134"/>
              <a:ext cx="256192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点击添加具体文案内容</a:t>
              </a: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9107875" y="2192439"/>
            <a:ext cx="2561920" cy="3352278"/>
            <a:chOff x="804535" y="2207188"/>
            <a:chExt cx="2561920" cy="3352278"/>
          </a:xfrm>
        </p:grpSpPr>
        <p:sp>
          <p:nvSpPr>
            <p:cNvPr id="49" name="矩形 48"/>
            <p:cNvSpPr/>
            <p:nvPr/>
          </p:nvSpPr>
          <p:spPr>
            <a:xfrm>
              <a:off x="1172424" y="4565785"/>
              <a:ext cx="1826141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项目介绍</a:t>
              </a:r>
            </a:p>
          </p:txBody>
        </p:sp>
        <p:sp>
          <p:nvSpPr>
            <p:cNvPr id="50" name="等腰三角形 49"/>
            <p:cNvSpPr/>
            <p:nvPr/>
          </p:nvSpPr>
          <p:spPr>
            <a:xfrm>
              <a:off x="1005495" y="2207188"/>
              <a:ext cx="2160000" cy="1800000"/>
            </a:xfrm>
            <a:prstGeom prst="triangle">
              <a:avLst/>
            </a:prstGeom>
            <a:noFill/>
            <a:ln>
              <a:solidFill>
                <a:srgbClr val="33619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1067857" y="2501901"/>
              <a:ext cx="2035277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8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74000">
                        <a:srgbClr val="C05EA6"/>
                      </a:gs>
                      <a:gs pos="0">
                        <a:srgbClr val="F682B0"/>
                      </a:gs>
                      <a:gs pos="22000">
                        <a:srgbClr val="FE93AA"/>
                      </a:gs>
                      <a:gs pos="45000">
                        <a:srgbClr val="FD8EAC"/>
                      </a:gs>
                      <a:gs pos="99091">
                        <a:srgbClr val="80508A"/>
                      </a:gs>
                    </a:gsLst>
                    <a:lin ang="0" scaled="1"/>
                  </a:gradFill>
                  <a:effectLst/>
                  <a:uLnTx/>
                  <a:uFillTx/>
                  <a:latin typeface="OCR A Extended" panose="02010509020102010303" pitchFamily="50" charset="0"/>
                  <a:ea typeface="微软雅黑" panose="020B0503020204020204" pitchFamily="34" charset="-122"/>
                  <a:cs typeface="IrisUPC" panose="020B0604020202020204" pitchFamily="34" charset="-34"/>
                </a:rPr>
                <a:t>4</a:t>
              </a:r>
              <a:endParaRPr kumimoji="0" lang="zh-CN" altLang="en-US" sz="88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74000">
                      <a:srgbClr val="C05EA6"/>
                    </a:gs>
                    <a:gs pos="0">
                      <a:srgbClr val="F682B0"/>
                    </a:gs>
                    <a:gs pos="22000">
                      <a:srgbClr val="FE93AA"/>
                    </a:gs>
                    <a:gs pos="45000">
                      <a:srgbClr val="FD8EAC"/>
                    </a:gs>
                    <a:gs pos="99091">
                      <a:srgbClr val="80508A"/>
                    </a:gs>
                  </a:gsLst>
                  <a:lin ang="0" scaled="1"/>
                </a:gradFill>
                <a:effectLst/>
                <a:uLnTx/>
                <a:uFillTx/>
                <a:latin typeface="OCR A Extended" panose="02010509020102010303" pitchFamily="50" charset="0"/>
                <a:ea typeface="微软雅黑" panose="020B0503020204020204" pitchFamily="34" charset="-122"/>
                <a:cs typeface="IrisUPC" panose="020B0604020202020204" pitchFamily="34" charset="-34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804535" y="5190134"/>
              <a:ext cx="256192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点击添加具体文案内容</a:t>
              </a:r>
            </a:p>
          </p:txBody>
        </p:sp>
      </p:grpSp>
      <p:sp>
        <p:nvSpPr>
          <p:cNvPr id="53" name="等腰三角形 52"/>
          <p:cNvSpPr/>
          <p:nvPr/>
        </p:nvSpPr>
        <p:spPr>
          <a:xfrm>
            <a:off x="2888584" y="-1076632"/>
            <a:ext cx="6341807" cy="5412657"/>
          </a:xfrm>
          <a:prstGeom prst="triangle">
            <a:avLst/>
          </a:prstGeom>
          <a:noFill/>
          <a:ln w="6350">
            <a:gradFill flip="none" rotWithShape="1">
              <a:gsLst>
                <a:gs pos="0">
                  <a:srgbClr val="F682B0"/>
                </a:gs>
                <a:gs pos="38000">
                  <a:srgbClr val="C05EA6"/>
                </a:gs>
                <a:gs pos="66000">
                  <a:srgbClr val="4C2A5E"/>
                </a:gs>
                <a:gs pos="97000">
                  <a:srgbClr val="040000"/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4" name="等腰三角形 53"/>
          <p:cNvSpPr/>
          <p:nvPr/>
        </p:nvSpPr>
        <p:spPr>
          <a:xfrm>
            <a:off x="0" y="-1076632"/>
            <a:ext cx="6341807" cy="5412657"/>
          </a:xfrm>
          <a:prstGeom prst="triangle">
            <a:avLst/>
          </a:prstGeom>
          <a:noFill/>
          <a:ln w="6350">
            <a:gradFill flip="none" rotWithShape="1">
              <a:gsLst>
                <a:gs pos="0">
                  <a:srgbClr val="F682B0"/>
                </a:gs>
                <a:gs pos="38000">
                  <a:srgbClr val="C05EA6"/>
                </a:gs>
                <a:gs pos="66000">
                  <a:srgbClr val="4C2A5E"/>
                </a:gs>
                <a:gs pos="97000">
                  <a:srgbClr val="040000"/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5" name="等腰三角形 54"/>
          <p:cNvSpPr/>
          <p:nvPr/>
        </p:nvSpPr>
        <p:spPr>
          <a:xfrm>
            <a:off x="5850193" y="-1076632"/>
            <a:ext cx="6341807" cy="5412657"/>
          </a:xfrm>
          <a:prstGeom prst="triangle">
            <a:avLst/>
          </a:prstGeom>
          <a:noFill/>
          <a:ln w="6350">
            <a:gradFill flip="none" rotWithShape="1">
              <a:gsLst>
                <a:gs pos="0">
                  <a:srgbClr val="F682B0"/>
                </a:gs>
                <a:gs pos="38000">
                  <a:srgbClr val="C05EA6"/>
                </a:gs>
                <a:gs pos="66000">
                  <a:srgbClr val="4C2A5E"/>
                </a:gs>
                <a:gs pos="97000">
                  <a:srgbClr val="040000"/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3847230" y="560439"/>
            <a:ext cx="4424516" cy="1435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  录</a:t>
            </a:r>
            <a:endParaRPr kumimoji="0" lang="en-US" altLang="zh-CN" sz="4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CONTENTS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0"/>
    </mc:Choice>
    <mc:Fallback>
      <p:transition advTm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组合 42"/>
          <p:cNvGrpSpPr/>
          <p:nvPr/>
        </p:nvGrpSpPr>
        <p:grpSpPr>
          <a:xfrm>
            <a:off x="-530946" y="-846548"/>
            <a:ext cx="15313748" cy="7725192"/>
            <a:chOff x="-471952" y="-433596"/>
            <a:chExt cx="15313748" cy="7725192"/>
          </a:xfrm>
        </p:grpSpPr>
        <p:sp>
          <p:nvSpPr>
            <p:cNvPr id="5" name="矩形 4"/>
            <p:cNvSpPr/>
            <p:nvPr/>
          </p:nvSpPr>
          <p:spPr>
            <a:xfrm>
              <a:off x="-471952" y="5196348"/>
              <a:ext cx="12960000" cy="630000"/>
            </a:xfrm>
            <a:prstGeom prst="rect">
              <a:avLst/>
            </a:pr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" name="矩形 2"/>
            <p:cNvSpPr/>
            <p:nvPr/>
          </p:nvSpPr>
          <p:spPr>
            <a:xfrm>
              <a:off x="-324466" y="1710813"/>
              <a:ext cx="5250426" cy="630000"/>
            </a:xfrm>
            <a:prstGeom prst="rect">
              <a:avLst/>
            </a:pr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3809309" y="-433596"/>
              <a:ext cx="4500357" cy="77251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49600" b="1" i="0" u="none" strike="noStrike" kern="1200" cap="none" spc="0" normalizeH="0" baseline="0" noProof="0" dirty="0">
                  <a:ln>
                    <a:solidFill>
                      <a:srgbClr val="44C9F5"/>
                    </a:solidFill>
                  </a:ln>
                  <a:noFill/>
                  <a:effectLst/>
                  <a:uLnTx/>
                  <a:uFillTx/>
                  <a:latin typeface="OCR A Extended" panose="02010509020102010303" pitchFamily="50" charset="0"/>
                  <a:ea typeface="微软雅黑" panose="020B0503020204020204" pitchFamily="34" charset="-122"/>
                  <a:cs typeface="IrisUPC" panose="020B0604020202020204" pitchFamily="34" charset="-34"/>
                </a:rPr>
                <a:t>1</a:t>
              </a:r>
              <a:endParaRPr kumimoji="0" lang="zh-CN" altLang="en-US" sz="49600" b="1" i="0" u="none" strike="noStrike" kern="1200" cap="none" spc="0" normalizeH="0" baseline="0" noProof="0" dirty="0">
                <a:ln>
                  <a:solidFill>
                    <a:srgbClr val="44C9F5"/>
                  </a:solidFill>
                </a:ln>
                <a:noFill/>
                <a:effectLst/>
                <a:uLnTx/>
                <a:uFillTx/>
                <a:latin typeface="OCR A Extended" panose="02010509020102010303" pitchFamily="50" charset="0"/>
                <a:ea typeface="微软雅黑" panose="020B0503020204020204" pitchFamily="34" charset="-122"/>
                <a:cs typeface="IrisUPC" panose="020B0604020202020204" pitchFamily="34" charset="-34"/>
              </a:endParaRPr>
            </a:p>
          </p:txBody>
        </p:sp>
        <p:sp>
          <p:nvSpPr>
            <p:cNvPr id="6" name="饼形 5"/>
            <p:cNvSpPr/>
            <p:nvPr/>
          </p:nvSpPr>
          <p:spPr>
            <a:xfrm>
              <a:off x="4660490" y="1739613"/>
              <a:ext cx="630000" cy="630000"/>
            </a:xfrm>
            <a:prstGeom prst="pie">
              <a:avLst>
                <a:gd name="adj1" fmla="val 5351128"/>
                <a:gd name="adj2" fmla="val 16200000"/>
              </a:avLst>
            </a:prstGeom>
            <a:gradFill>
              <a:gsLst>
                <a:gs pos="0">
                  <a:srgbClr val="F682B0"/>
                </a:gs>
                <a:gs pos="33000">
                  <a:srgbClr val="FE93AA"/>
                </a:gs>
                <a:gs pos="77000">
                  <a:srgbClr val="F8BCCC"/>
                </a:gs>
                <a:gs pos="53000">
                  <a:srgbClr val="FD8EAC"/>
                </a:gs>
                <a:gs pos="97000">
                  <a:schemeClr val="bg1">
                    <a:lumMod val="9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9591370" y="1745226"/>
              <a:ext cx="5250426" cy="630000"/>
            </a:xfrm>
            <a:prstGeom prst="rect">
              <a:avLst/>
            </a:pr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" name="平行四边形 8"/>
            <p:cNvSpPr/>
            <p:nvPr/>
          </p:nvSpPr>
          <p:spPr>
            <a:xfrm>
              <a:off x="6754762" y="1740310"/>
              <a:ext cx="3362632" cy="2354672"/>
            </a:xfrm>
            <a:prstGeom prst="parallelogram">
              <a:avLst>
                <a:gd name="adj" fmla="val 109952"/>
              </a:avLst>
            </a:pr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9207908" y="1568245"/>
              <a:ext cx="900000" cy="900000"/>
            </a:xfrm>
            <a:prstGeom prst="ellipse">
              <a:avLst/>
            </a:prstGeom>
            <a:gradFill flip="none" rotWithShape="1">
              <a:gsLst>
                <a:gs pos="82000">
                  <a:srgbClr val="C05EA6"/>
                </a:gs>
                <a:gs pos="0">
                  <a:srgbClr val="F682B0"/>
                </a:gs>
                <a:gs pos="29000">
                  <a:srgbClr val="FE93AA"/>
                </a:gs>
                <a:gs pos="56000">
                  <a:srgbClr val="FD8EAC"/>
                </a:gs>
                <a:gs pos="97000">
                  <a:srgbClr val="B45BA4"/>
                </a:gs>
              </a:gsLst>
              <a:lin ang="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 rot="19068212">
              <a:off x="7167714" y="3321310"/>
              <a:ext cx="1440000" cy="265471"/>
            </a:xfrm>
            <a:prstGeom prst="rect">
              <a:avLst/>
            </a:prstGeom>
            <a:gradFill>
              <a:gsLst>
                <a:gs pos="74000">
                  <a:srgbClr val="975FA2"/>
                </a:gs>
                <a:gs pos="50000">
                  <a:srgbClr val="F682B0"/>
                </a:gs>
                <a:gs pos="7000">
                  <a:srgbClr val="FE93AA"/>
                </a:gs>
                <a:gs pos="30000">
                  <a:srgbClr val="FD8EAC"/>
                </a:gs>
                <a:gs pos="97000">
                  <a:srgbClr val="38CEEC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6813754" y="3734982"/>
              <a:ext cx="720000" cy="720000"/>
            </a:xfrm>
            <a:prstGeom prst="ellipse">
              <a:avLst/>
            </a:prstGeom>
            <a:gradFill flip="none" rotWithShape="1">
              <a:gsLst>
                <a:gs pos="82000">
                  <a:srgbClr val="C05EA6"/>
                </a:gs>
                <a:gs pos="0">
                  <a:srgbClr val="F682B0"/>
                </a:gs>
                <a:gs pos="29000">
                  <a:srgbClr val="FE93AA"/>
                </a:gs>
                <a:gs pos="56000">
                  <a:srgbClr val="FD8EAC"/>
                </a:gs>
                <a:gs pos="97000">
                  <a:srgbClr val="B45BA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392598" y="2007263"/>
              <a:ext cx="4500357" cy="3154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9900" b="1" i="0" u="none" strike="noStrike" kern="1200" cap="none" spc="0" normalizeH="0" baseline="0" noProof="0" dirty="0">
                  <a:ln>
                    <a:solidFill>
                      <a:srgbClr val="000000">
                        <a:lumMod val="85000"/>
                        <a:lumOff val="15000"/>
                      </a:srgbClr>
                    </a:solidFill>
                  </a:ln>
                  <a:noFill/>
                  <a:effectLst/>
                  <a:uLnTx/>
                  <a:uFillTx/>
                  <a:latin typeface="OCR A Extended" panose="02010509020102010303" pitchFamily="50" charset="0"/>
                  <a:ea typeface="微软雅黑" panose="020B0503020204020204" pitchFamily="34" charset="-122"/>
                  <a:cs typeface="IrisUPC" panose="020B0604020202020204" pitchFamily="34" charset="-34"/>
                </a:rPr>
                <a:t>1</a:t>
              </a:r>
              <a:endParaRPr kumimoji="0" lang="zh-CN" altLang="en-US" sz="19900" b="1" i="0" u="none" strike="noStrike" kern="1200" cap="none" spc="0" normalizeH="0" baseline="0" noProof="0" dirty="0">
                <a:ln>
                  <a:solidFill>
                    <a:srgbClr val="000000">
                      <a:lumMod val="85000"/>
                      <a:lumOff val="15000"/>
                    </a:srgbClr>
                  </a:solidFill>
                </a:ln>
                <a:noFill/>
                <a:effectLst/>
                <a:uLnTx/>
                <a:uFillTx/>
                <a:latin typeface="OCR A Extended" panose="02010509020102010303" pitchFamily="50" charset="0"/>
                <a:ea typeface="微软雅黑" panose="020B0503020204020204" pitchFamily="34" charset="-122"/>
                <a:cs typeface="IrisUPC" panose="020B0604020202020204" pitchFamily="34" charset="-34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8538624" y="2007263"/>
              <a:ext cx="4500357" cy="3154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9900" b="1" i="0" u="none" strike="noStrike" kern="1200" cap="none" spc="0" normalizeH="0" baseline="0" noProof="0" dirty="0">
                  <a:ln>
                    <a:solidFill>
                      <a:srgbClr val="000000">
                        <a:lumMod val="85000"/>
                        <a:lumOff val="15000"/>
                      </a:srgbClr>
                    </a:solidFill>
                  </a:ln>
                  <a:noFill/>
                  <a:effectLst/>
                  <a:uLnTx/>
                  <a:uFillTx/>
                  <a:latin typeface="OCR A Extended" panose="02010509020102010303" pitchFamily="50" charset="0"/>
                  <a:ea typeface="微软雅黑" panose="020B0503020204020204" pitchFamily="34" charset="-122"/>
                  <a:cs typeface="IrisUPC" panose="020B0604020202020204" pitchFamily="34" charset="-34"/>
                </a:rPr>
                <a:t>1</a:t>
              </a:r>
              <a:endParaRPr kumimoji="0" lang="zh-CN" altLang="en-US" sz="19900" b="1" i="0" u="none" strike="noStrike" kern="1200" cap="none" spc="0" normalizeH="0" baseline="0" noProof="0" dirty="0">
                <a:ln>
                  <a:solidFill>
                    <a:srgbClr val="000000">
                      <a:lumMod val="85000"/>
                      <a:lumOff val="15000"/>
                    </a:srgbClr>
                  </a:solidFill>
                </a:ln>
                <a:noFill/>
                <a:effectLst/>
                <a:uLnTx/>
                <a:uFillTx/>
                <a:latin typeface="OCR A Extended" panose="02010509020102010303" pitchFamily="50" charset="0"/>
                <a:ea typeface="微软雅黑" panose="020B0503020204020204" pitchFamily="34" charset="-122"/>
                <a:cs typeface="IrisUPC" panose="020B0604020202020204" pitchFamily="34" charset="-34"/>
              </a:endParaRPr>
            </a:p>
          </p:txBody>
        </p:sp>
        <p:grpSp>
          <p:nvGrpSpPr>
            <p:cNvPr id="21" name="组合 20"/>
            <p:cNvGrpSpPr/>
            <p:nvPr/>
          </p:nvGrpSpPr>
          <p:grpSpPr>
            <a:xfrm>
              <a:off x="661577" y="5181599"/>
              <a:ext cx="442451" cy="630000"/>
              <a:chOff x="7593320" y="7069392"/>
              <a:chExt cx="442451" cy="630000"/>
            </a:xfrm>
          </p:grpSpPr>
          <p:sp>
            <p:nvSpPr>
              <p:cNvPr id="19" name="椭圆 18"/>
              <p:cNvSpPr/>
              <p:nvPr/>
            </p:nvSpPr>
            <p:spPr>
              <a:xfrm>
                <a:off x="7762926" y="7295901"/>
                <a:ext cx="103239" cy="176982"/>
              </a:xfrm>
              <a:prstGeom prst="ellipse">
                <a:avLst/>
              </a:prstGeom>
              <a:no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0" name="椭圆 19"/>
              <p:cNvSpPr/>
              <p:nvPr/>
            </p:nvSpPr>
            <p:spPr>
              <a:xfrm>
                <a:off x="7593320" y="7069392"/>
                <a:ext cx="442451" cy="630000"/>
              </a:xfrm>
              <a:prstGeom prst="ellipse">
                <a:avLst/>
              </a:prstGeom>
              <a:no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22" name="组合 21"/>
            <p:cNvGrpSpPr/>
            <p:nvPr/>
          </p:nvGrpSpPr>
          <p:grpSpPr>
            <a:xfrm>
              <a:off x="2554287" y="5186515"/>
              <a:ext cx="442451" cy="630000"/>
              <a:chOff x="7593320" y="7069392"/>
              <a:chExt cx="442451" cy="630000"/>
            </a:xfrm>
          </p:grpSpPr>
          <p:sp>
            <p:nvSpPr>
              <p:cNvPr id="23" name="椭圆 22"/>
              <p:cNvSpPr/>
              <p:nvPr/>
            </p:nvSpPr>
            <p:spPr>
              <a:xfrm>
                <a:off x="7762926" y="7295901"/>
                <a:ext cx="103239" cy="176982"/>
              </a:xfrm>
              <a:prstGeom prst="ellipse">
                <a:avLst/>
              </a:prstGeom>
              <a:no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4" name="椭圆 23"/>
              <p:cNvSpPr/>
              <p:nvPr/>
            </p:nvSpPr>
            <p:spPr>
              <a:xfrm>
                <a:off x="7593320" y="7069392"/>
                <a:ext cx="442451" cy="630000"/>
              </a:xfrm>
              <a:prstGeom prst="ellipse">
                <a:avLst/>
              </a:prstGeom>
              <a:no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25" name="组合 24"/>
            <p:cNvGrpSpPr/>
            <p:nvPr/>
          </p:nvGrpSpPr>
          <p:grpSpPr>
            <a:xfrm>
              <a:off x="10729810" y="5220928"/>
              <a:ext cx="442451" cy="630000"/>
              <a:chOff x="7593320" y="7069392"/>
              <a:chExt cx="442451" cy="630000"/>
            </a:xfrm>
          </p:grpSpPr>
          <p:sp>
            <p:nvSpPr>
              <p:cNvPr id="26" name="椭圆 25"/>
              <p:cNvSpPr/>
              <p:nvPr/>
            </p:nvSpPr>
            <p:spPr>
              <a:xfrm>
                <a:off x="7762926" y="7295901"/>
                <a:ext cx="103239" cy="176982"/>
              </a:xfrm>
              <a:prstGeom prst="ellipse">
                <a:avLst/>
              </a:prstGeom>
              <a:no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7" name="椭圆 26"/>
              <p:cNvSpPr/>
              <p:nvPr/>
            </p:nvSpPr>
            <p:spPr>
              <a:xfrm>
                <a:off x="7593320" y="7069392"/>
                <a:ext cx="442451" cy="630000"/>
              </a:xfrm>
              <a:prstGeom prst="ellipse">
                <a:avLst/>
              </a:prstGeom>
              <a:no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cxnSp>
          <p:nvCxnSpPr>
            <p:cNvPr id="29" name="直接连接符 28"/>
            <p:cNvCxnSpPr/>
            <p:nvPr/>
          </p:nvCxnSpPr>
          <p:spPr>
            <a:xfrm flipH="1" flipV="1">
              <a:off x="5145088" y="2035277"/>
              <a:ext cx="1209368" cy="0"/>
            </a:xfrm>
            <a:prstGeom prst="line">
              <a:avLst/>
            </a:prstGeom>
            <a:ln w="152400">
              <a:gradFill flip="none" rotWithShape="1">
                <a:gsLst>
                  <a:gs pos="0">
                    <a:srgbClr val="42A9BE"/>
                  </a:gs>
                  <a:gs pos="50000">
                    <a:srgbClr val="2E578E"/>
                  </a:gs>
                  <a:gs pos="27000">
                    <a:srgbClr val="3E76C0"/>
                  </a:gs>
                  <a:gs pos="74000">
                    <a:srgbClr val="172C49"/>
                  </a:gs>
                  <a:gs pos="100000">
                    <a:schemeClr val="tx1"/>
                  </a:gs>
                </a:gsLst>
                <a:lin ang="108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 flipV="1">
              <a:off x="6118482" y="2487330"/>
              <a:ext cx="0" cy="855560"/>
            </a:xfrm>
            <a:prstGeom prst="line">
              <a:avLst/>
            </a:prstGeom>
            <a:ln w="152400">
              <a:gradFill flip="none" rotWithShape="1">
                <a:gsLst>
                  <a:gs pos="0">
                    <a:srgbClr val="42A9BE"/>
                  </a:gs>
                  <a:gs pos="50000">
                    <a:srgbClr val="2E578E"/>
                  </a:gs>
                  <a:gs pos="27000">
                    <a:srgbClr val="3E76C0"/>
                  </a:gs>
                  <a:gs pos="74000">
                    <a:srgbClr val="172C49"/>
                  </a:gs>
                  <a:gs pos="100000">
                    <a:schemeClr val="tx1"/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/>
          </p:nvCxnSpPr>
          <p:spPr>
            <a:xfrm flipV="1">
              <a:off x="6118482" y="4094982"/>
              <a:ext cx="0" cy="855560"/>
            </a:xfrm>
            <a:prstGeom prst="line">
              <a:avLst/>
            </a:prstGeom>
            <a:ln w="152400">
              <a:gradFill flip="none" rotWithShape="1">
                <a:gsLst>
                  <a:gs pos="0">
                    <a:srgbClr val="42A9BE"/>
                  </a:gs>
                  <a:gs pos="50000">
                    <a:srgbClr val="2E578E"/>
                  </a:gs>
                  <a:gs pos="27000">
                    <a:srgbClr val="3E76C0"/>
                  </a:gs>
                  <a:gs pos="74000">
                    <a:srgbClr val="172C49"/>
                  </a:gs>
                  <a:gs pos="100000">
                    <a:schemeClr val="tx1"/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 flipH="1" flipV="1">
              <a:off x="5454804" y="5550309"/>
              <a:ext cx="1209368" cy="0"/>
            </a:xfrm>
            <a:prstGeom prst="line">
              <a:avLst/>
            </a:prstGeom>
            <a:ln w="152400">
              <a:gradFill flip="none" rotWithShape="1">
                <a:gsLst>
                  <a:gs pos="0">
                    <a:srgbClr val="42A9BE"/>
                  </a:gs>
                  <a:gs pos="50000">
                    <a:srgbClr val="2E578E"/>
                  </a:gs>
                  <a:gs pos="27000">
                    <a:srgbClr val="3E76C0"/>
                  </a:gs>
                  <a:gs pos="74000">
                    <a:srgbClr val="172C49"/>
                  </a:gs>
                  <a:gs pos="100000">
                    <a:schemeClr val="tx1"/>
                  </a:gs>
                </a:gsLst>
                <a:lin ang="108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AA4D8CD4-BCEC-095C-A838-E920219D91D9}"/>
              </a:ext>
            </a:extLst>
          </p:cNvPr>
          <p:cNvSpPr/>
          <p:nvPr/>
        </p:nvSpPr>
        <p:spPr>
          <a:xfrm>
            <a:off x="3505552" y="3670766"/>
            <a:ext cx="1826141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项目介绍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BEDB5B2-A72B-13F3-39DF-A65638B57A60}"/>
              </a:ext>
            </a:extLst>
          </p:cNvPr>
          <p:cNvSpPr/>
          <p:nvPr/>
        </p:nvSpPr>
        <p:spPr>
          <a:xfrm>
            <a:off x="3187417" y="4295115"/>
            <a:ext cx="24624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Project Introduction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0"/>
    </mc:Choice>
    <mc:Fallback>
      <p:transition advTm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图片 73" descr="摄图网_400789432"/>
          <p:cNvPicPr>
            <a:picLocks noChangeAspect="1"/>
          </p:cNvPicPr>
          <p:nvPr/>
        </p:nvPicPr>
        <p:blipFill>
          <a:blip r:embed="rId3" cstate="email">
            <a:lum bright="-6000"/>
          </a:blip>
          <a:srcRect/>
          <a:stretch>
            <a:fillRect/>
          </a:stretch>
        </p:blipFill>
        <p:spPr>
          <a:xfrm>
            <a:off x="5007275" y="1950448"/>
            <a:ext cx="2457450" cy="2473325"/>
          </a:xfrm>
          <a:prstGeom prst="ellipse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4800600"/>
            <a:ext cx="12191999" cy="2057400"/>
          </a:xfrm>
          <a:prstGeom prst="rect">
            <a:avLst/>
          </a:prstGeom>
          <a:gradFill>
            <a:gsLst>
              <a:gs pos="0">
                <a:srgbClr val="2BA89C"/>
              </a:gs>
              <a:gs pos="83000">
                <a:srgbClr val="0E4B7A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30" name="Freeform 15"/>
          <p:cNvSpPr/>
          <p:nvPr/>
        </p:nvSpPr>
        <p:spPr bwMode="auto">
          <a:xfrm rot="5400000">
            <a:off x="11658276" y="6409809"/>
            <a:ext cx="321489" cy="200149"/>
          </a:xfrm>
          <a:custGeom>
            <a:avLst/>
            <a:gdLst>
              <a:gd name="T0" fmla="*/ 167 w 334"/>
              <a:gd name="T1" fmla="*/ 0 h 206"/>
              <a:gd name="T2" fmla="*/ 195 w 334"/>
              <a:gd name="T3" fmla="*/ 12 h 206"/>
              <a:gd name="T4" fmla="*/ 318 w 334"/>
              <a:gd name="T5" fmla="*/ 134 h 206"/>
              <a:gd name="T6" fmla="*/ 318 w 334"/>
              <a:gd name="T7" fmla="*/ 191 h 206"/>
              <a:gd name="T8" fmla="*/ 261 w 334"/>
              <a:gd name="T9" fmla="*/ 191 h 206"/>
              <a:gd name="T10" fmla="*/ 167 w 334"/>
              <a:gd name="T11" fmla="*/ 96 h 206"/>
              <a:gd name="T12" fmla="*/ 73 w 334"/>
              <a:gd name="T13" fmla="*/ 191 h 206"/>
              <a:gd name="T14" fmla="*/ 16 w 334"/>
              <a:gd name="T15" fmla="*/ 191 h 206"/>
              <a:gd name="T16" fmla="*/ 16 w 334"/>
              <a:gd name="T17" fmla="*/ 134 h 206"/>
              <a:gd name="T18" fmla="*/ 139 w 334"/>
              <a:gd name="T19" fmla="*/ 12 h 206"/>
              <a:gd name="T20" fmla="*/ 167 w 334"/>
              <a:gd name="T21" fmla="*/ 0 h 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34" h="206">
                <a:moveTo>
                  <a:pt x="167" y="0"/>
                </a:moveTo>
                <a:cubicBezTo>
                  <a:pt x="177" y="0"/>
                  <a:pt x="188" y="4"/>
                  <a:pt x="195" y="12"/>
                </a:cubicBezTo>
                <a:cubicBezTo>
                  <a:pt x="318" y="134"/>
                  <a:pt x="318" y="134"/>
                  <a:pt x="318" y="134"/>
                </a:cubicBezTo>
                <a:cubicBezTo>
                  <a:pt x="334" y="150"/>
                  <a:pt x="334" y="175"/>
                  <a:pt x="318" y="191"/>
                </a:cubicBezTo>
                <a:cubicBezTo>
                  <a:pt x="302" y="206"/>
                  <a:pt x="277" y="206"/>
                  <a:pt x="261" y="191"/>
                </a:cubicBezTo>
                <a:cubicBezTo>
                  <a:pt x="167" y="96"/>
                  <a:pt x="167" y="96"/>
                  <a:pt x="167" y="96"/>
                </a:cubicBezTo>
                <a:cubicBezTo>
                  <a:pt x="73" y="191"/>
                  <a:pt x="73" y="191"/>
                  <a:pt x="73" y="191"/>
                </a:cubicBezTo>
                <a:cubicBezTo>
                  <a:pt x="57" y="206"/>
                  <a:pt x="32" y="206"/>
                  <a:pt x="16" y="191"/>
                </a:cubicBezTo>
                <a:cubicBezTo>
                  <a:pt x="0" y="175"/>
                  <a:pt x="0" y="150"/>
                  <a:pt x="16" y="134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47" y="4"/>
                  <a:pt x="157" y="0"/>
                  <a:pt x="167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31" name="Freeform 15"/>
          <p:cNvSpPr/>
          <p:nvPr/>
        </p:nvSpPr>
        <p:spPr bwMode="auto">
          <a:xfrm rot="16200000">
            <a:off x="183412" y="6409809"/>
            <a:ext cx="321489" cy="200149"/>
          </a:xfrm>
          <a:custGeom>
            <a:avLst/>
            <a:gdLst>
              <a:gd name="T0" fmla="*/ 167 w 334"/>
              <a:gd name="T1" fmla="*/ 0 h 206"/>
              <a:gd name="T2" fmla="*/ 195 w 334"/>
              <a:gd name="T3" fmla="*/ 12 h 206"/>
              <a:gd name="T4" fmla="*/ 318 w 334"/>
              <a:gd name="T5" fmla="*/ 134 h 206"/>
              <a:gd name="T6" fmla="*/ 318 w 334"/>
              <a:gd name="T7" fmla="*/ 191 h 206"/>
              <a:gd name="T8" fmla="*/ 261 w 334"/>
              <a:gd name="T9" fmla="*/ 191 h 206"/>
              <a:gd name="T10" fmla="*/ 167 w 334"/>
              <a:gd name="T11" fmla="*/ 96 h 206"/>
              <a:gd name="T12" fmla="*/ 73 w 334"/>
              <a:gd name="T13" fmla="*/ 191 h 206"/>
              <a:gd name="T14" fmla="*/ 16 w 334"/>
              <a:gd name="T15" fmla="*/ 191 h 206"/>
              <a:gd name="T16" fmla="*/ 16 w 334"/>
              <a:gd name="T17" fmla="*/ 134 h 206"/>
              <a:gd name="T18" fmla="*/ 139 w 334"/>
              <a:gd name="T19" fmla="*/ 12 h 206"/>
              <a:gd name="T20" fmla="*/ 167 w 334"/>
              <a:gd name="T21" fmla="*/ 0 h 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34" h="206">
                <a:moveTo>
                  <a:pt x="167" y="0"/>
                </a:moveTo>
                <a:cubicBezTo>
                  <a:pt x="177" y="0"/>
                  <a:pt x="188" y="4"/>
                  <a:pt x="195" y="12"/>
                </a:cubicBezTo>
                <a:cubicBezTo>
                  <a:pt x="318" y="134"/>
                  <a:pt x="318" y="134"/>
                  <a:pt x="318" y="134"/>
                </a:cubicBezTo>
                <a:cubicBezTo>
                  <a:pt x="334" y="150"/>
                  <a:pt x="334" y="175"/>
                  <a:pt x="318" y="191"/>
                </a:cubicBezTo>
                <a:cubicBezTo>
                  <a:pt x="302" y="206"/>
                  <a:pt x="277" y="206"/>
                  <a:pt x="261" y="191"/>
                </a:cubicBezTo>
                <a:cubicBezTo>
                  <a:pt x="167" y="96"/>
                  <a:pt x="167" y="96"/>
                  <a:pt x="167" y="96"/>
                </a:cubicBezTo>
                <a:cubicBezTo>
                  <a:pt x="73" y="191"/>
                  <a:pt x="73" y="191"/>
                  <a:pt x="73" y="191"/>
                </a:cubicBezTo>
                <a:cubicBezTo>
                  <a:pt x="57" y="206"/>
                  <a:pt x="32" y="206"/>
                  <a:pt x="16" y="191"/>
                </a:cubicBezTo>
                <a:cubicBezTo>
                  <a:pt x="0" y="175"/>
                  <a:pt x="0" y="150"/>
                  <a:pt x="16" y="134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47" y="4"/>
                  <a:pt x="157" y="0"/>
                  <a:pt x="167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cxnSp>
        <p:nvCxnSpPr>
          <p:cNvPr id="33" name="Straight Connector 32"/>
          <p:cNvCxnSpPr/>
          <p:nvPr/>
        </p:nvCxnSpPr>
        <p:spPr>
          <a:xfrm>
            <a:off x="3911211" y="5519172"/>
            <a:ext cx="0" cy="71720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485775" y="374650"/>
            <a:ext cx="2885440" cy="551180"/>
            <a:chOff x="449" y="450"/>
            <a:chExt cx="4544" cy="868"/>
          </a:xfrm>
        </p:grpSpPr>
        <p:grpSp>
          <p:nvGrpSpPr>
            <p:cNvPr id="4" name="组合 3"/>
            <p:cNvGrpSpPr/>
            <p:nvPr/>
          </p:nvGrpSpPr>
          <p:grpSpPr>
            <a:xfrm>
              <a:off x="449" y="450"/>
              <a:ext cx="887" cy="869"/>
              <a:chOff x="257122" y="251474"/>
              <a:chExt cx="563036" cy="551755"/>
            </a:xfrm>
          </p:grpSpPr>
          <p:sp>
            <p:nvSpPr>
              <p:cNvPr id="5" name="椭圆 4"/>
              <p:cNvSpPr/>
              <p:nvPr/>
            </p:nvSpPr>
            <p:spPr>
              <a:xfrm>
                <a:off x="689634" y="705466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6" name="椭圆 5"/>
              <p:cNvSpPr/>
              <p:nvPr/>
            </p:nvSpPr>
            <p:spPr>
              <a:xfrm>
                <a:off x="257122" y="538113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14" name="椭圆 13"/>
              <p:cNvSpPr/>
              <p:nvPr/>
            </p:nvSpPr>
            <p:spPr>
              <a:xfrm>
                <a:off x="289926" y="272997"/>
                <a:ext cx="530232" cy="530232"/>
              </a:xfrm>
              <a:prstGeom prst="ellipse">
                <a:avLst/>
              </a:prstGeom>
              <a:noFill/>
              <a:ln w="3175">
                <a:solidFill>
                  <a:srgbClr val="2BA89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15" name="椭圆 14"/>
              <p:cNvSpPr/>
              <p:nvPr/>
            </p:nvSpPr>
            <p:spPr>
              <a:xfrm>
                <a:off x="620885" y="251474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</p:grpSp>
        <p:sp>
          <p:nvSpPr>
            <p:cNvPr id="16" name="文本框 15"/>
            <p:cNvSpPr txBox="1"/>
            <p:nvPr/>
          </p:nvSpPr>
          <p:spPr>
            <a:xfrm>
              <a:off x="1477" y="576"/>
              <a:ext cx="3517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000" b="1">
                  <a:solidFill>
                    <a:srgbClr val="2BA89C"/>
                  </a:solidFill>
                  <a:latin typeface="Arial"/>
                  <a:ea typeface="微软雅黑"/>
                  <a:cs typeface="+mn-ea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2BA89C"/>
                  </a:solidFill>
                  <a:effectLst/>
                  <a:uLnTx/>
                  <a:uFillTx/>
                  <a:latin typeface="微软雅黑"/>
                  <a:ea typeface="微软雅黑"/>
                  <a:sym typeface="+mn-lt"/>
                </a:rPr>
                <a:t>项目简介</a:t>
              </a:r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88EF9C89-A627-C3AD-D3D6-4AFF0CF47346}"/>
              </a:ext>
            </a:extLst>
          </p:cNvPr>
          <p:cNvSpPr txBox="1"/>
          <p:nvPr/>
        </p:nvSpPr>
        <p:spPr>
          <a:xfrm>
            <a:off x="4145671" y="5642613"/>
            <a:ext cx="89627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面向智能客服的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AI Agent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血糖管理自进化系统</a:t>
            </a:r>
            <a:endParaRPr kumimoji="0" lang="zh-CN" altLang="en-US" sz="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A576D38-3716-A6DD-57A8-B569753B2543}"/>
              </a:ext>
            </a:extLst>
          </p:cNvPr>
          <p:cNvSpPr txBox="1"/>
          <p:nvPr/>
        </p:nvSpPr>
        <p:spPr>
          <a:xfrm>
            <a:off x="1946031" y="5642613"/>
            <a:ext cx="16718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项目名称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2DB9BB18-0AE4-EEC5-590E-DE66366FC841}"/>
              </a:ext>
            </a:extLst>
          </p:cNvPr>
          <p:cNvGrpSpPr/>
          <p:nvPr/>
        </p:nvGrpSpPr>
        <p:grpSpPr>
          <a:xfrm>
            <a:off x="1621137" y="2378198"/>
            <a:ext cx="4579144" cy="1048345"/>
            <a:chOff x="1621639" y="2495841"/>
            <a:chExt cx="4579144" cy="1048345"/>
          </a:xfrm>
        </p:grpSpPr>
        <p:sp>
          <p:nvSpPr>
            <p:cNvPr id="10" name="Shape 4">
              <a:extLst>
                <a:ext uri="{FF2B5EF4-FFF2-40B4-BE49-F238E27FC236}">
                  <a16:creationId xmlns:a16="http://schemas.microsoft.com/office/drawing/2014/main" id="{DCB3D5BA-448B-29B3-48DC-9EFCAACF16DB}"/>
                </a:ext>
              </a:extLst>
            </p:cNvPr>
            <p:cNvSpPr/>
            <p:nvPr/>
          </p:nvSpPr>
          <p:spPr>
            <a:xfrm>
              <a:off x="1621639" y="2495841"/>
              <a:ext cx="285750" cy="285750"/>
            </a:xfrm>
            <a:prstGeom prst="rect">
              <a:avLst/>
            </a:prstGeom>
            <a:solidFill>
              <a:srgbClr val="FFC700">
                <a:alpha val="15000"/>
              </a:srgbClr>
            </a:solidFill>
            <a:ln>
              <a:solidFill>
                <a:schemeClr val="bg1"/>
              </a:solidFill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pic>
          <p:nvPicPr>
            <p:cNvPr id="12" name="Image 2" descr="preencoded.png">
              <a:extLst>
                <a:ext uri="{FF2B5EF4-FFF2-40B4-BE49-F238E27FC236}">
                  <a16:creationId xmlns:a16="http://schemas.microsoft.com/office/drawing/2014/main" id="{84BB660E-1B62-5A6A-710D-8D2B0E76C9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biLevel thresh="50000"/>
            </a:blip>
            <a:stretch>
              <a:fillRect/>
            </a:stretch>
          </p:blipFill>
          <p:spPr>
            <a:xfrm>
              <a:off x="1693077" y="2567278"/>
              <a:ext cx="142875" cy="142875"/>
            </a:xfrm>
            <a:prstGeom prst="rect">
              <a:avLst/>
            </a:prstGeom>
          </p:spPr>
        </p:pic>
        <p:sp>
          <p:nvSpPr>
            <p:cNvPr id="13" name="Text 5">
              <a:extLst>
                <a:ext uri="{FF2B5EF4-FFF2-40B4-BE49-F238E27FC236}">
                  <a16:creationId xmlns:a16="http://schemas.microsoft.com/office/drawing/2014/main" id="{DB3E85CE-E81A-AFED-256A-57BA9698A061}"/>
                </a:ext>
              </a:extLst>
            </p:cNvPr>
            <p:cNvSpPr/>
            <p:nvPr/>
          </p:nvSpPr>
          <p:spPr>
            <a:xfrm>
              <a:off x="2007402" y="2538703"/>
              <a:ext cx="1087282" cy="242888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Helvetica Neue" pitchFamily="34" charset="-122"/>
                  <a:cs typeface="Helvetica Neue" pitchFamily="34" charset="-120"/>
                </a:rPr>
                <a:t>糖尿病现状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微软雅黑"/>
                <a:cs typeface="+mn-cs"/>
              </a:endParaRPr>
            </a:p>
          </p:txBody>
        </p:sp>
        <p:sp>
          <p:nvSpPr>
            <p:cNvPr id="18" name="Text 6">
              <a:extLst>
                <a:ext uri="{FF2B5EF4-FFF2-40B4-BE49-F238E27FC236}">
                  <a16:creationId xmlns:a16="http://schemas.microsoft.com/office/drawing/2014/main" id="{13954F34-D7D8-FBE8-2160-BCEB32343965}"/>
                </a:ext>
              </a:extLst>
            </p:cNvPr>
            <p:cNvSpPr/>
            <p:nvPr/>
          </p:nvSpPr>
          <p:spPr>
            <a:xfrm>
              <a:off x="1621639" y="2867316"/>
              <a:ext cx="4579144" cy="457200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marL="0" marR="0" lvl="0" indent="0" algn="l" defTabSz="914400" rtl="0" eaLnBrk="1" fontAlgn="auto" latinLnBrk="0" hangingPunct="1">
                <a:lnSpc>
                  <a:spcPts val="3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FE93AA"/>
                  </a:solidFill>
                  <a:effectLst/>
                  <a:uLnTx/>
                  <a:uFillTx/>
                  <a:latin typeface="Calibri" panose="020F0502020204030204"/>
                  <a:ea typeface="Helvetica Neue" pitchFamily="34" charset="-122"/>
                  <a:cs typeface="Helvetica Neue" pitchFamily="34" charset="-120"/>
                </a:rPr>
                <a:t>1.4亿</a:t>
              </a: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Helvetica Neue" pitchFamily="34" charset="-122"/>
                  <a:cs typeface="Helvetica Neue" pitchFamily="34" charset="-120"/>
                </a:rPr>
                <a:t> </a:t>
              </a: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0E0E0"/>
                  </a:solidFill>
                  <a:effectLst/>
                  <a:uLnTx/>
                  <a:uFillTx/>
                  <a:latin typeface="Calibri" panose="020F0502020204030204"/>
                  <a:ea typeface="Helvetica Neue" pitchFamily="34" charset="-122"/>
                  <a:cs typeface="Helvetica Neue" pitchFamily="34" charset="-120"/>
                </a:rPr>
                <a:t>患者</a:t>
              </a:r>
              <a:endPara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/>
                <a:cs typeface="+mn-cs"/>
              </a:endParaRPr>
            </a:p>
          </p:txBody>
        </p:sp>
        <p:sp>
          <p:nvSpPr>
            <p:cNvPr id="19" name="Text 7">
              <a:extLst>
                <a:ext uri="{FF2B5EF4-FFF2-40B4-BE49-F238E27FC236}">
                  <a16:creationId xmlns:a16="http://schemas.microsoft.com/office/drawing/2014/main" id="{00EEB8E1-C0F0-2ABD-02AD-2BA59E9D158B}"/>
                </a:ext>
              </a:extLst>
            </p:cNvPr>
            <p:cNvSpPr/>
            <p:nvPr/>
          </p:nvSpPr>
          <p:spPr>
            <a:xfrm>
              <a:off x="1621639" y="3379880"/>
              <a:ext cx="4579144" cy="164306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marL="0" marR="0" lvl="0" indent="0" algn="l" defTabSz="914400" rtl="0" eaLnBrk="1" fontAlgn="auto" latinLnBrk="0" hangingPunct="1">
                <a:lnSpc>
                  <a:spcPts val="1266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Helvetica Neue" pitchFamily="34" charset="-122"/>
                  <a:cs typeface="Helvetica Neue" pitchFamily="34" charset="-120"/>
                </a:rPr>
                <a:t>我国糖尿病患者数量庞大，血糖管理需求巨大且迫切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微软雅黑"/>
                <a:cs typeface="+mn-cs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D2018E2D-BF7F-AA80-AC12-DA6AF53C51AC}"/>
              </a:ext>
            </a:extLst>
          </p:cNvPr>
          <p:cNvGrpSpPr/>
          <p:nvPr/>
        </p:nvGrpSpPr>
        <p:grpSpPr>
          <a:xfrm>
            <a:off x="8627055" y="2378198"/>
            <a:ext cx="3337463" cy="1038010"/>
            <a:chOff x="8235996" y="2026556"/>
            <a:chExt cx="3337463" cy="1038010"/>
          </a:xfrm>
        </p:grpSpPr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426A2DEE-4093-9932-DD65-383432A6358F}"/>
                </a:ext>
              </a:extLst>
            </p:cNvPr>
            <p:cNvGrpSpPr/>
            <p:nvPr/>
          </p:nvGrpSpPr>
          <p:grpSpPr>
            <a:xfrm>
              <a:off x="8235996" y="2026556"/>
              <a:ext cx="3337463" cy="1038010"/>
              <a:chOff x="8383778" y="2129449"/>
              <a:chExt cx="3337463" cy="1038010"/>
            </a:xfrm>
          </p:grpSpPr>
          <p:sp>
            <p:nvSpPr>
              <p:cNvPr id="20" name="Shape 18">
                <a:extLst>
                  <a:ext uri="{FF2B5EF4-FFF2-40B4-BE49-F238E27FC236}">
                    <a16:creationId xmlns:a16="http://schemas.microsoft.com/office/drawing/2014/main" id="{086EC741-7D1B-ED80-E905-C920FFD28666}"/>
                  </a:ext>
                </a:extLst>
              </p:cNvPr>
              <p:cNvSpPr/>
              <p:nvPr/>
            </p:nvSpPr>
            <p:spPr>
              <a:xfrm>
                <a:off x="8383779" y="2129449"/>
                <a:ext cx="257175" cy="257175"/>
              </a:xfrm>
              <a:prstGeom prst="rect">
                <a:avLst/>
              </a:prstGeom>
              <a:solidFill>
                <a:srgbClr val="FFFFFF">
                  <a:alpha val="10000"/>
                </a:srgbClr>
              </a:solid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endParaRPr>
              </a:p>
            </p:txBody>
          </p:sp>
          <p:sp>
            <p:nvSpPr>
              <p:cNvPr id="22" name="Text 19">
                <a:extLst>
                  <a:ext uri="{FF2B5EF4-FFF2-40B4-BE49-F238E27FC236}">
                    <a16:creationId xmlns:a16="http://schemas.microsoft.com/office/drawing/2014/main" id="{9CEA3B76-4796-D32B-B8ED-F184C7A177A6}"/>
                  </a:ext>
                </a:extLst>
              </p:cNvPr>
              <p:cNvSpPr/>
              <p:nvPr/>
            </p:nvSpPr>
            <p:spPr>
              <a:xfrm>
                <a:off x="8726679" y="2168739"/>
                <a:ext cx="1150144" cy="156707"/>
              </a:xfrm>
              <a:prstGeom prst="rect">
                <a:avLst/>
              </a:prstGeom>
              <a:ln/>
            </p:spPr>
            <p:txBody>
              <a:bodyPr wrap="square" lIns="0" tIns="0" rIns="0" bIns="0" rtlCol="0" anchor="t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Helvetica Neue" pitchFamily="34" charset="-122"/>
                    <a:cs typeface="Helvetica Neue" pitchFamily="34" charset="-120"/>
                  </a:rPr>
                  <a:t>智能客服趋势</a:t>
                </a: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微软雅黑"/>
                  <a:cs typeface="+mn-cs"/>
                </a:endParaRPr>
              </a:p>
            </p:txBody>
          </p:sp>
          <p:sp>
            <p:nvSpPr>
              <p:cNvPr id="23" name="Text 20">
                <a:extLst>
                  <a:ext uri="{FF2B5EF4-FFF2-40B4-BE49-F238E27FC236}">
                    <a16:creationId xmlns:a16="http://schemas.microsoft.com/office/drawing/2014/main" id="{2E2942AA-51C0-3700-1633-19078A4A8239}"/>
                  </a:ext>
                </a:extLst>
              </p:cNvPr>
              <p:cNvSpPr/>
              <p:nvPr/>
            </p:nvSpPr>
            <p:spPr>
              <a:xfrm>
                <a:off x="8383778" y="2478211"/>
                <a:ext cx="2986087" cy="250031"/>
              </a:xfrm>
              <a:prstGeom prst="rect">
                <a:avLst/>
              </a:prstGeom>
              <a:ln/>
            </p:spPr>
            <p:txBody>
              <a:bodyPr wrap="square" lIns="0" tIns="0" rIns="0" bIns="0" rtlCol="0" anchor="t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45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279C97"/>
                    </a:solidFill>
                    <a:effectLst/>
                    <a:uLnTx/>
                    <a:uFillTx/>
                    <a:latin typeface="Calibri" panose="020F0502020204030204"/>
                    <a:ea typeface="Helvetica Neue" pitchFamily="34" charset="-122"/>
                    <a:cs typeface="Helvetica Neue" pitchFamily="34" charset="-120"/>
                  </a:rPr>
                  <a:t>AI Agent</a:t>
                </a:r>
                <a:endPara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279C97"/>
                  </a:solidFill>
                  <a:effectLst/>
                  <a:uLnTx/>
                  <a:uFillTx/>
                  <a:latin typeface="Calibri" panose="020F0502020204030204"/>
                  <a:ea typeface="微软雅黑"/>
                  <a:cs typeface="+mn-cs"/>
                </a:endParaRPr>
              </a:p>
            </p:txBody>
          </p:sp>
          <p:sp>
            <p:nvSpPr>
              <p:cNvPr id="26" name="Text 21">
                <a:extLst>
                  <a:ext uri="{FF2B5EF4-FFF2-40B4-BE49-F238E27FC236}">
                    <a16:creationId xmlns:a16="http://schemas.microsoft.com/office/drawing/2014/main" id="{DD2FDCA6-0464-8613-3B9E-4FC29E5D969E}"/>
                  </a:ext>
                </a:extLst>
              </p:cNvPr>
              <p:cNvSpPr/>
              <p:nvPr/>
            </p:nvSpPr>
            <p:spPr>
              <a:xfrm>
                <a:off x="8383778" y="2989239"/>
                <a:ext cx="3337463" cy="178220"/>
              </a:xfrm>
              <a:prstGeom prst="rect">
                <a:avLst/>
              </a:prstGeom>
              <a:ln/>
            </p:spPr>
            <p:txBody>
              <a:bodyPr wrap="square" lIns="0" tIns="0" rIns="0" bIns="0" rtlCol="0" anchor="t"/>
              <a:lstStyle/>
              <a:p>
                <a:pPr marL="0" marR="0" lvl="0" indent="0" algn="l" defTabSz="914400" rtl="0" eaLnBrk="1" fontAlgn="auto" latinLnBrk="0" hangingPunct="1">
                  <a:lnSpc>
                    <a:spcPts val="126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Helvetica Neue" pitchFamily="34" charset="-122"/>
                    <a:cs typeface="+mn-cs"/>
                  </a:rPr>
                  <a:t>“</a:t>
                </a:r>
                <a:r>
                  <a:rPr kumimoji="0" lang="en-US" altLang="zh-C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Helvetica Neue" pitchFamily="34" charset="-122"/>
                    <a:cs typeface="+mn-cs"/>
                  </a:rPr>
                  <a:t>Multi Agent</a:t>
                </a: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Helvetica Neue" pitchFamily="34" charset="-122"/>
                    <a:cs typeface="+mn-cs"/>
                  </a:rPr>
                  <a:t>”不是炫技，⽽是场景驱动</a:t>
                </a:r>
                <a:endPara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Helvetica Neue" pitchFamily="34" charset="-122"/>
                  <a:cs typeface="+mn-cs"/>
                </a:endParaRPr>
              </a:p>
            </p:txBody>
          </p:sp>
        </p:grpSp>
        <p:pic>
          <p:nvPicPr>
            <p:cNvPr id="29" name="Image 4" descr="preencoded.png">
              <a:extLst>
                <a:ext uri="{FF2B5EF4-FFF2-40B4-BE49-F238E27FC236}">
                  <a16:creationId xmlns:a16="http://schemas.microsoft.com/office/drawing/2014/main" id="{6C870602-C27C-F541-1703-F6C64D9979D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281515" y="2093965"/>
              <a:ext cx="164306" cy="128588"/>
            </a:xfrm>
            <a:prstGeom prst="rect">
              <a:avLst/>
            </a:prstGeom>
          </p:spPr>
        </p:pic>
      </p:grpSp>
      <p:sp>
        <p:nvSpPr>
          <p:cNvPr id="38" name="Shape 9">
            <a:extLst>
              <a:ext uri="{FF2B5EF4-FFF2-40B4-BE49-F238E27FC236}">
                <a16:creationId xmlns:a16="http://schemas.microsoft.com/office/drawing/2014/main" id="{0FCDEE03-D144-52C3-DB4D-1374BFD9D994}"/>
              </a:ext>
            </a:extLst>
          </p:cNvPr>
          <p:cNvSpPr/>
          <p:nvPr/>
        </p:nvSpPr>
        <p:spPr>
          <a:xfrm>
            <a:off x="4820840" y="1156748"/>
            <a:ext cx="285750" cy="285750"/>
          </a:xfrm>
          <a:prstGeom prst="rect">
            <a:avLst/>
          </a:prstGeom>
          <a:solidFill>
            <a:srgbClr val="FFC700">
              <a:alpha val="15000"/>
            </a:srgbClr>
          </a:solidFill>
          <a:ln>
            <a:solidFill>
              <a:schemeClr val="bg1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pic>
        <p:nvPicPr>
          <p:cNvPr id="39" name="Image 3" descr="preencoded.png">
            <a:extLst>
              <a:ext uri="{FF2B5EF4-FFF2-40B4-BE49-F238E27FC236}">
                <a16:creationId xmlns:a16="http://schemas.microsoft.com/office/drawing/2014/main" id="{AFFDCE03-EE14-72DC-7AB0-36B82A5B6303}"/>
              </a:ext>
            </a:extLst>
          </p:cNvPr>
          <p:cNvPicPr>
            <a:picLocks noChangeAspect="1"/>
          </p:cNvPicPr>
          <p:nvPr/>
        </p:nvPicPr>
        <p:blipFill>
          <a:blip r:embed="rId6">
            <a:biLevel thresh="75000"/>
          </a:blip>
          <a:stretch>
            <a:fillRect/>
          </a:stretch>
        </p:blipFill>
        <p:spPr>
          <a:xfrm>
            <a:off x="4892278" y="1228185"/>
            <a:ext cx="142875" cy="142875"/>
          </a:xfrm>
          <a:prstGeom prst="rect">
            <a:avLst/>
          </a:prstGeom>
        </p:spPr>
      </p:pic>
      <p:sp>
        <p:nvSpPr>
          <p:cNvPr id="40" name="Text 10">
            <a:extLst>
              <a:ext uri="{FF2B5EF4-FFF2-40B4-BE49-F238E27FC236}">
                <a16:creationId xmlns:a16="http://schemas.microsoft.com/office/drawing/2014/main" id="{C4780A18-43A7-3E5D-CE1C-59425E7D43AD}"/>
              </a:ext>
            </a:extLst>
          </p:cNvPr>
          <p:cNvSpPr/>
          <p:nvPr/>
        </p:nvSpPr>
        <p:spPr>
          <a:xfrm>
            <a:off x="5206603" y="1199610"/>
            <a:ext cx="812879" cy="19215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Helvetica Neue" pitchFamily="34" charset="-122"/>
                <a:cs typeface="Helvetica Neue" pitchFamily="34" charset="-120"/>
              </a:rPr>
              <a:t>现有问题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微软雅黑"/>
              <a:cs typeface="+mn-cs"/>
            </a:endParaRPr>
          </a:p>
        </p:txBody>
      </p:sp>
      <p:sp>
        <p:nvSpPr>
          <p:cNvPr id="41" name="Shape 11">
            <a:extLst>
              <a:ext uri="{FF2B5EF4-FFF2-40B4-BE49-F238E27FC236}">
                <a16:creationId xmlns:a16="http://schemas.microsoft.com/office/drawing/2014/main" id="{01FEEDB8-A26D-5883-ED13-8BD12772953D}"/>
              </a:ext>
            </a:extLst>
          </p:cNvPr>
          <p:cNvSpPr/>
          <p:nvPr/>
        </p:nvSpPr>
        <p:spPr>
          <a:xfrm>
            <a:off x="6019482" y="1060767"/>
            <a:ext cx="42863" cy="42863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42" name="Text 12">
            <a:extLst>
              <a:ext uri="{FF2B5EF4-FFF2-40B4-BE49-F238E27FC236}">
                <a16:creationId xmlns:a16="http://schemas.microsoft.com/office/drawing/2014/main" id="{FBEA09A7-2DAC-A105-EA7D-7A1CD3631D62}"/>
              </a:ext>
            </a:extLst>
          </p:cNvPr>
          <p:cNvSpPr/>
          <p:nvPr/>
        </p:nvSpPr>
        <p:spPr>
          <a:xfrm>
            <a:off x="6148070" y="1007188"/>
            <a:ext cx="2298920" cy="11485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26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Helvetica Neue" pitchFamily="34" charset="-122"/>
                <a:cs typeface="+mn-cs"/>
              </a:rPr>
              <a:t>专家资源稀缺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Helvetica Neue" pitchFamily="34" charset="-122"/>
              <a:cs typeface="+mn-cs"/>
            </a:endParaRPr>
          </a:p>
        </p:txBody>
      </p:sp>
      <p:sp>
        <p:nvSpPr>
          <p:cNvPr id="43" name="Shape 13">
            <a:extLst>
              <a:ext uri="{FF2B5EF4-FFF2-40B4-BE49-F238E27FC236}">
                <a16:creationId xmlns:a16="http://schemas.microsoft.com/office/drawing/2014/main" id="{AE903104-C8BB-5093-37F9-5E13BA1B1437}"/>
              </a:ext>
            </a:extLst>
          </p:cNvPr>
          <p:cNvSpPr/>
          <p:nvPr/>
        </p:nvSpPr>
        <p:spPr>
          <a:xfrm>
            <a:off x="6019482" y="1282223"/>
            <a:ext cx="42863" cy="42863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44" name="Text 14">
            <a:extLst>
              <a:ext uri="{FF2B5EF4-FFF2-40B4-BE49-F238E27FC236}">
                <a16:creationId xmlns:a16="http://schemas.microsoft.com/office/drawing/2014/main" id="{C631562F-2073-8236-FA6E-840258DAEDAA}"/>
              </a:ext>
            </a:extLst>
          </p:cNvPr>
          <p:cNvSpPr/>
          <p:nvPr/>
        </p:nvSpPr>
        <p:spPr>
          <a:xfrm>
            <a:off x="6148070" y="1228645"/>
            <a:ext cx="2571057" cy="23501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Helvetica Neue" pitchFamily="34" charset="-122"/>
                <a:cs typeface="+mn-cs"/>
              </a:rPr>
              <a:t>传统模式无法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Helvetica Neue" pitchFamily="34" charset="-122"/>
                <a:cs typeface="+mn-cs"/>
              </a:rPr>
              <a:t>7×24 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Helvetica Neue" pitchFamily="34" charset="-122"/>
                <a:cs typeface="+mn-cs"/>
              </a:rPr>
              <a:t>实时响应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Helvetica Neue" pitchFamily="34" charset="-122"/>
              <a:cs typeface="+mn-cs"/>
            </a:endParaRPr>
          </a:p>
        </p:txBody>
      </p:sp>
      <p:sp>
        <p:nvSpPr>
          <p:cNvPr id="45" name="Shape 15">
            <a:extLst>
              <a:ext uri="{FF2B5EF4-FFF2-40B4-BE49-F238E27FC236}">
                <a16:creationId xmlns:a16="http://schemas.microsoft.com/office/drawing/2014/main" id="{92A8B4B5-FFF2-A6D4-0D4A-2C83116F9A4C}"/>
              </a:ext>
            </a:extLst>
          </p:cNvPr>
          <p:cNvSpPr/>
          <p:nvPr/>
        </p:nvSpPr>
        <p:spPr>
          <a:xfrm>
            <a:off x="6019482" y="1503679"/>
            <a:ext cx="42863" cy="42863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46" name="Text 16">
            <a:extLst>
              <a:ext uri="{FF2B5EF4-FFF2-40B4-BE49-F238E27FC236}">
                <a16:creationId xmlns:a16="http://schemas.microsoft.com/office/drawing/2014/main" id="{8B04DF6B-5069-1E9D-EA1F-A28DB1AE32A5}"/>
              </a:ext>
            </a:extLst>
          </p:cNvPr>
          <p:cNvSpPr/>
          <p:nvPr/>
        </p:nvSpPr>
        <p:spPr>
          <a:xfrm>
            <a:off x="6148070" y="1450101"/>
            <a:ext cx="1887566" cy="1500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26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Helvetica Neue" pitchFamily="34" charset="-122"/>
                <a:cs typeface="+mn-cs"/>
              </a:rPr>
              <a:t>两次门诊之间管理不连续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Helvetica Neue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 advTm="2000"/>
    </mc:Choice>
    <mc:Fallback>
      <p:transition advClick="0" advTm="2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/>
          <p:cNvGrpSpPr/>
          <p:nvPr/>
        </p:nvGrpSpPr>
        <p:grpSpPr>
          <a:xfrm>
            <a:off x="485775" y="374650"/>
            <a:ext cx="2885440" cy="551180"/>
            <a:chOff x="449" y="450"/>
            <a:chExt cx="4544" cy="868"/>
          </a:xfrm>
        </p:grpSpPr>
        <p:grpSp>
          <p:nvGrpSpPr>
            <p:cNvPr id="9" name="组合 8"/>
            <p:cNvGrpSpPr/>
            <p:nvPr/>
          </p:nvGrpSpPr>
          <p:grpSpPr>
            <a:xfrm>
              <a:off x="449" y="450"/>
              <a:ext cx="887" cy="869"/>
              <a:chOff x="257122" y="251474"/>
              <a:chExt cx="563036" cy="551755"/>
            </a:xfrm>
          </p:grpSpPr>
          <p:sp>
            <p:nvSpPr>
              <p:cNvPr id="10" name="椭圆 9"/>
              <p:cNvSpPr/>
              <p:nvPr/>
            </p:nvSpPr>
            <p:spPr>
              <a:xfrm>
                <a:off x="689634" y="705466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11" name="椭圆 10"/>
              <p:cNvSpPr/>
              <p:nvPr/>
            </p:nvSpPr>
            <p:spPr>
              <a:xfrm>
                <a:off x="257122" y="538113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12" name="椭圆 11"/>
              <p:cNvSpPr/>
              <p:nvPr/>
            </p:nvSpPr>
            <p:spPr>
              <a:xfrm>
                <a:off x="289926" y="272997"/>
                <a:ext cx="530232" cy="530232"/>
              </a:xfrm>
              <a:prstGeom prst="ellipse">
                <a:avLst/>
              </a:prstGeom>
              <a:noFill/>
              <a:ln w="3175">
                <a:solidFill>
                  <a:srgbClr val="2BA89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13" name="椭圆 12"/>
              <p:cNvSpPr/>
              <p:nvPr/>
            </p:nvSpPr>
            <p:spPr>
              <a:xfrm>
                <a:off x="620885" y="251474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</p:grpSp>
        <p:sp>
          <p:nvSpPr>
            <p:cNvPr id="14" name="文本框 13"/>
            <p:cNvSpPr txBox="1"/>
            <p:nvPr/>
          </p:nvSpPr>
          <p:spPr>
            <a:xfrm>
              <a:off x="1477" y="576"/>
              <a:ext cx="3517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2BA89C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rPr>
                <a:t>项目框架图</a:t>
              </a:r>
            </a:p>
          </p:txBody>
        </p:sp>
      </p:grpSp>
      <p:sp>
        <p:nvSpPr>
          <p:cNvPr id="75" name="文本框 74">
            <a:extLst>
              <a:ext uri="{FF2B5EF4-FFF2-40B4-BE49-F238E27FC236}">
                <a16:creationId xmlns:a16="http://schemas.microsoft.com/office/drawing/2014/main" id="{1E89BC8F-A1AF-69AB-ED26-1CE1756A0490}"/>
              </a:ext>
            </a:extLst>
          </p:cNvPr>
          <p:cNvSpPr txBox="1"/>
          <p:nvPr/>
        </p:nvSpPr>
        <p:spPr>
          <a:xfrm>
            <a:off x="4783906" y="1777239"/>
            <a:ext cx="890980" cy="25945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algn="ctr"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MCP tools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61998B81-31D9-D17E-BECF-789305240E03}"/>
              </a:ext>
            </a:extLst>
          </p:cNvPr>
          <p:cNvSpPr/>
          <p:nvPr/>
        </p:nvSpPr>
        <p:spPr>
          <a:xfrm>
            <a:off x="5833639" y="1313583"/>
            <a:ext cx="1903609" cy="1154032"/>
          </a:xfrm>
          <a:prstGeom prst="rect">
            <a:avLst/>
          </a:prstGeom>
          <a:solidFill>
            <a:srgbClr val="D5E8D4">
              <a:alpha val="36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10132962-2F58-6DC3-FACC-0D502E6DDE53}"/>
              </a:ext>
            </a:extLst>
          </p:cNvPr>
          <p:cNvSpPr/>
          <p:nvPr/>
        </p:nvSpPr>
        <p:spPr>
          <a:xfrm>
            <a:off x="5151470" y="3097518"/>
            <a:ext cx="4407242" cy="715422"/>
          </a:xfrm>
          <a:prstGeom prst="rect">
            <a:avLst/>
          </a:prstGeom>
          <a:noFill/>
          <a:ln w="28575" cap="flat" cmpd="sng" algn="ctr">
            <a:solidFill>
              <a:srgbClr val="E7E6E6">
                <a:lumMod val="75000"/>
              </a:srgb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36305480-9E14-B3CE-AD7F-DA46305137FB}"/>
              </a:ext>
            </a:extLst>
          </p:cNvPr>
          <p:cNvSpPr txBox="1"/>
          <p:nvPr/>
        </p:nvSpPr>
        <p:spPr>
          <a:xfrm>
            <a:off x="5291512" y="3258544"/>
            <a:ext cx="1508445" cy="400110"/>
          </a:xfrm>
          <a:prstGeom prst="rect">
            <a:avLst/>
          </a:prstGeom>
          <a:solidFill>
            <a:srgbClr val="238A87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algn="ctr"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Ledger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append-only JSONL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269D9D8A-412F-5CD6-C883-C1E7A34189D4}"/>
              </a:ext>
            </a:extLst>
          </p:cNvPr>
          <p:cNvSpPr txBox="1"/>
          <p:nvPr/>
        </p:nvSpPr>
        <p:spPr>
          <a:xfrm>
            <a:off x="9801597" y="5675688"/>
            <a:ext cx="2426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项目整体框架</a:t>
            </a: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BCF089F3-2E9D-8EEF-1E04-25A94CAD68B6}"/>
              </a:ext>
            </a:extLst>
          </p:cNvPr>
          <p:cNvSpPr/>
          <p:nvPr/>
        </p:nvSpPr>
        <p:spPr>
          <a:xfrm>
            <a:off x="6231672" y="2887146"/>
            <a:ext cx="1874298" cy="242475"/>
          </a:xfrm>
          <a:prstGeom prst="rect">
            <a:avLst/>
          </a:prstGeom>
          <a:solidFill>
            <a:srgbClr val="AFABA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Daemon · single writer</a:t>
            </a: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1AD98AC8-7683-88E5-2E79-2B017E7678D1}"/>
              </a:ext>
            </a:extLst>
          </p:cNvPr>
          <p:cNvSpPr txBox="1"/>
          <p:nvPr/>
        </p:nvSpPr>
        <p:spPr>
          <a:xfrm>
            <a:off x="6940000" y="3272960"/>
            <a:ext cx="822864" cy="400110"/>
          </a:xfrm>
          <a:prstGeom prst="rect">
            <a:avLst/>
          </a:prstGeom>
          <a:solidFill>
            <a:srgbClr val="238A87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Actor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Manager</a:t>
            </a: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96140094-5876-A7FF-4CFE-B5B497062843}"/>
              </a:ext>
            </a:extLst>
          </p:cNvPr>
          <p:cNvSpPr txBox="1"/>
          <p:nvPr/>
        </p:nvSpPr>
        <p:spPr>
          <a:xfrm>
            <a:off x="7892680" y="3272960"/>
            <a:ext cx="1534226" cy="400110"/>
          </a:xfrm>
          <a:prstGeom prst="rect">
            <a:avLst/>
          </a:prstGeom>
          <a:solidFill>
            <a:srgbClr val="238A87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Automation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Rules · Nudge · Cron</a:t>
            </a: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365707AE-6FB9-F240-E34A-EDCE3623DB2C}"/>
              </a:ext>
            </a:extLst>
          </p:cNvPr>
          <p:cNvSpPr/>
          <p:nvPr/>
        </p:nvSpPr>
        <p:spPr>
          <a:xfrm>
            <a:off x="6252567" y="5429155"/>
            <a:ext cx="1874298" cy="242475"/>
          </a:xfrm>
          <a:prstGeom prst="rect">
            <a:avLst/>
          </a:prstGeom>
          <a:solidFill>
            <a:srgbClr val="AFABA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IM Bridges</a:t>
            </a: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6F0CF03C-EB09-F514-D167-DD4DEC9A9499}"/>
              </a:ext>
            </a:extLst>
          </p:cNvPr>
          <p:cNvSpPr/>
          <p:nvPr/>
        </p:nvSpPr>
        <p:spPr>
          <a:xfrm>
            <a:off x="5444527" y="5651916"/>
            <a:ext cx="3650242" cy="909875"/>
          </a:xfrm>
          <a:prstGeom prst="rect">
            <a:avLst/>
          </a:prstGeom>
          <a:noFill/>
          <a:ln w="28575" cap="flat" cmpd="sng" algn="ctr">
            <a:solidFill>
              <a:srgbClr val="E7E6E6">
                <a:lumMod val="75000"/>
              </a:srgb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2426A062-5E83-E1F9-4F28-DD19DA2C34DE}"/>
              </a:ext>
            </a:extLst>
          </p:cNvPr>
          <p:cNvSpPr txBox="1"/>
          <p:nvPr/>
        </p:nvSpPr>
        <p:spPr>
          <a:xfrm>
            <a:off x="6779491" y="5789724"/>
            <a:ext cx="983836" cy="259960"/>
          </a:xfrm>
          <a:prstGeom prst="rect">
            <a:avLst/>
          </a:prstGeom>
          <a:solidFill>
            <a:srgbClr val="D5E8D4">
              <a:alpha val="36000"/>
            </a:srgb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Slack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90" name="直接箭头连接符 89">
            <a:extLst>
              <a:ext uri="{FF2B5EF4-FFF2-40B4-BE49-F238E27FC236}">
                <a16:creationId xmlns:a16="http://schemas.microsoft.com/office/drawing/2014/main" id="{03552F60-BC4D-C96D-A8E4-A4A4D6139728}"/>
              </a:ext>
            </a:extLst>
          </p:cNvPr>
          <p:cNvCxnSpPr>
            <a:cxnSpLocks/>
          </p:cNvCxnSpPr>
          <p:nvPr/>
        </p:nvCxnSpPr>
        <p:spPr>
          <a:xfrm>
            <a:off x="7175825" y="2479692"/>
            <a:ext cx="0" cy="387790"/>
          </a:xfrm>
          <a:prstGeom prst="straightConnector1">
            <a:avLst/>
          </a:prstGeom>
          <a:noFill/>
          <a:ln w="22225" cap="flat" cmpd="sng" algn="ctr">
            <a:solidFill>
              <a:srgbClr val="AFABAB"/>
            </a:solidFill>
            <a:prstDash val="solid"/>
            <a:miter lim="800000"/>
            <a:headEnd type="triangle"/>
            <a:tailEnd type="triangle"/>
          </a:ln>
          <a:effectLst/>
        </p:spPr>
      </p:cxnSp>
      <p:sp>
        <p:nvSpPr>
          <p:cNvPr id="91" name="矩形 90">
            <a:extLst>
              <a:ext uri="{FF2B5EF4-FFF2-40B4-BE49-F238E27FC236}">
                <a16:creationId xmlns:a16="http://schemas.microsoft.com/office/drawing/2014/main" id="{1EED6256-0354-F6DF-7DF1-B65302C7EBCC}"/>
              </a:ext>
            </a:extLst>
          </p:cNvPr>
          <p:cNvSpPr/>
          <p:nvPr/>
        </p:nvSpPr>
        <p:spPr>
          <a:xfrm>
            <a:off x="6238676" y="4204050"/>
            <a:ext cx="1874298" cy="242475"/>
          </a:xfrm>
          <a:prstGeom prst="rect">
            <a:avLst/>
          </a:prstGeom>
          <a:solidFill>
            <a:srgbClr val="AFABA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Control Plane</a:t>
            </a: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9D72F979-7B81-5FA4-D3CA-F111C30C7DA9}"/>
              </a:ext>
            </a:extLst>
          </p:cNvPr>
          <p:cNvSpPr/>
          <p:nvPr/>
        </p:nvSpPr>
        <p:spPr>
          <a:xfrm>
            <a:off x="5705516" y="1206084"/>
            <a:ext cx="2800230" cy="1401768"/>
          </a:xfrm>
          <a:prstGeom prst="rect">
            <a:avLst/>
          </a:prstGeom>
          <a:noFill/>
          <a:ln w="28575" cap="flat" cmpd="sng" algn="ctr">
            <a:solidFill>
              <a:srgbClr val="E7E6E6">
                <a:lumMod val="75000"/>
              </a:srgb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03377A80-56B5-378B-13CF-7A3D5125BA0F}"/>
              </a:ext>
            </a:extLst>
          </p:cNvPr>
          <p:cNvSpPr/>
          <p:nvPr/>
        </p:nvSpPr>
        <p:spPr>
          <a:xfrm>
            <a:off x="6096000" y="977194"/>
            <a:ext cx="1874298" cy="242475"/>
          </a:xfrm>
          <a:prstGeom prst="rect">
            <a:avLst/>
          </a:prstGeom>
          <a:solidFill>
            <a:srgbClr val="AFABA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Actor</a:t>
            </a: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08AD5716-8807-9172-516E-2F19BFFC7212}"/>
              </a:ext>
            </a:extLst>
          </p:cNvPr>
          <p:cNvSpPr txBox="1"/>
          <p:nvPr/>
        </p:nvSpPr>
        <p:spPr>
          <a:xfrm>
            <a:off x="5927266" y="1483924"/>
            <a:ext cx="827108" cy="242475"/>
          </a:xfrm>
          <a:prstGeom prst="rect">
            <a:avLst/>
          </a:prstGeom>
          <a:solidFill>
            <a:srgbClr val="238A87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主治医生</a:t>
            </a: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024FB784-663B-9A49-C6B5-92303386CB9F}"/>
              </a:ext>
            </a:extLst>
          </p:cNvPr>
          <p:cNvSpPr txBox="1"/>
          <p:nvPr/>
        </p:nvSpPr>
        <p:spPr>
          <a:xfrm>
            <a:off x="5911800" y="2130405"/>
            <a:ext cx="711224" cy="235058"/>
          </a:xfrm>
          <a:prstGeom prst="rect">
            <a:avLst/>
          </a:prstGeom>
          <a:solidFill>
            <a:srgbClr val="238A87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药剂师</a:t>
            </a: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0634B9B4-B06A-BB87-119C-D849F93D4544}"/>
              </a:ext>
            </a:extLst>
          </p:cNvPr>
          <p:cNvSpPr txBox="1"/>
          <p:nvPr/>
        </p:nvSpPr>
        <p:spPr>
          <a:xfrm>
            <a:off x="7991696" y="1303859"/>
            <a:ext cx="411883" cy="833551"/>
          </a:xfrm>
          <a:prstGeom prst="rect">
            <a:avLst/>
          </a:prstGeom>
          <a:solidFill>
            <a:srgbClr val="D5E8D4">
              <a:alpha val="36000"/>
            </a:srgb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记忆管理</a:t>
            </a: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EC4DE8FE-EE27-FFF3-F65E-65A82EC0F158}"/>
              </a:ext>
            </a:extLst>
          </p:cNvPr>
          <p:cNvSpPr txBox="1"/>
          <p:nvPr/>
        </p:nvSpPr>
        <p:spPr>
          <a:xfrm>
            <a:off x="5927266" y="1811628"/>
            <a:ext cx="676091" cy="237498"/>
          </a:xfrm>
          <a:prstGeom prst="rect">
            <a:avLst/>
          </a:prstGeom>
          <a:solidFill>
            <a:srgbClr val="238A87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营养师</a:t>
            </a:r>
          </a:p>
        </p:txBody>
      </p:sp>
      <p:sp>
        <p:nvSpPr>
          <p:cNvPr id="98" name="右大括号 97">
            <a:extLst>
              <a:ext uri="{FF2B5EF4-FFF2-40B4-BE49-F238E27FC236}">
                <a16:creationId xmlns:a16="http://schemas.microsoft.com/office/drawing/2014/main" id="{40E58138-3214-0C4E-3D22-57C6DA0890AE}"/>
              </a:ext>
            </a:extLst>
          </p:cNvPr>
          <p:cNvSpPr/>
          <p:nvPr/>
        </p:nvSpPr>
        <p:spPr>
          <a:xfrm>
            <a:off x="7735634" y="1375559"/>
            <a:ext cx="267469" cy="925799"/>
          </a:xfrm>
          <a:prstGeom prst="rightBrace">
            <a:avLst>
              <a:gd name="adj1" fmla="val 0"/>
              <a:gd name="adj2" fmla="val 50000"/>
            </a:avLst>
          </a:prstGeom>
          <a:noFill/>
          <a:ln w="6350" cap="flat" cmpd="sng" algn="ctr">
            <a:solidFill>
              <a:srgbClr val="AFABAB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01921A49-9A50-E357-24CD-51F8C652442F}"/>
              </a:ext>
            </a:extLst>
          </p:cNvPr>
          <p:cNvSpPr txBox="1"/>
          <p:nvPr/>
        </p:nvSpPr>
        <p:spPr>
          <a:xfrm>
            <a:off x="6707020" y="1811628"/>
            <a:ext cx="950099" cy="237498"/>
          </a:xfrm>
          <a:prstGeom prst="rect">
            <a:avLst/>
          </a:prstGeom>
          <a:solidFill>
            <a:srgbClr val="238A87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代谢病医生</a:t>
            </a: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C4B9BDAF-F915-6711-CD2D-5DFA5F4E2523}"/>
              </a:ext>
            </a:extLst>
          </p:cNvPr>
          <p:cNvSpPr txBox="1"/>
          <p:nvPr/>
        </p:nvSpPr>
        <p:spPr>
          <a:xfrm>
            <a:off x="6810647" y="1485954"/>
            <a:ext cx="827108" cy="242475"/>
          </a:xfrm>
          <a:prstGeom prst="rect">
            <a:avLst/>
          </a:prstGeom>
          <a:solidFill>
            <a:srgbClr val="238A87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科普老师</a:t>
            </a:r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AE5DBD4B-2AFC-369E-A0C0-07F076102534}"/>
              </a:ext>
            </a:extLst>
          </p:cNvPr>
          <p:cNvSpPr/>
          <p:nvPr/>
        </p:nvSpPr>
        <p:spPr>
          <a:xfrm>
            <a:off x="9819844" y="1246952"/>
            <a:ext cx="1846735" cy="2730372"/>
          </a:xfrm>
          <a:prstGeom prst="rect">
            <a:avLst/>
          </a:prstGeom>
          <a:noFill/>
          <a:ln w="28575" cap="flat" cmpd="sng" algn="ctr">
            <a:solidFill>
              <a:srgbClr val="238A87"/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D3D13E5E-64AE-478B-CFE0-539FFC7C5A30}"/>
              </a:ext>
            </a:extLst>
          </p:cNvPr>
          <p:cNvCxnSpPr>
            <a:cxnSpLocks/>
          </p:cNvCxnSpPr>
          <p:nvPr/>
        </p:nvCxnSpPr>
        <p:spPr>
          <a:xfrm>
            <a:off x="7189716" y="3862100"/>
            <a:ext cx="0" cy="299999"/>
          </a:xfrm>
          <a:prstGeom prst="straightConnector1">
            <a:avLst/>
          </a:prstGeom>
          <a:noFill/>
          <a:ln w="22225" cap="flat" cmpd="sng" algn="ctr">
            <a:solidFill>
              <a:srgbClr val="AFABAB"/>
            </a:solidFill>
            <a:prstDash val="solid"/>
            <a:miter lim="800000"/>
            <a:headEnd type="triangle"/>
            <a:tailEnd type="triangle"/>
          </a:ln>
          <a:effectLst/>
        </p:spPr>
      </p:cxnSp>
      <p:sp>
        <p:nvSpPr>
          <p:cNvPr id="103" name="矩形 102">
            <a:extLst>
              <a:ext uri="{FF2B5EF4-FFF2-40B4-BE49-F238E27FC236}">
                <a16:creationId xmlns:a16="http://schemas.microsoft.com/office/drawing/2014/main" id="{19821EDC-FD55-EA9A-0213-244AF369C72D}"/>
              </a:ext>
            </a:extLst>
          </p:cNvPr>
          <p:cNvSpPr/>
          <p:nvPr/>
        </p:nvSpPr>
        <p:spPr>
          <a:xfrm>
            <a:off x="5151470" y="4419752"/>
            <a:ext cx="4407242" cy="675817"/>
          </a:xfrm>
          <a:prstGeom prst="rect">
            <a:avLst/>
          </a:prstGeom>
          <a:noFill/>
          <a:ln w="28575" cap="flat" cmpd="sng" algn="ctr">
            <a:solidFill>
              <a:srgbClr val="E7E6E6">
                <a:lumMod val="75000"/>
              </a:srgb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90EB66B8-A800-FAA3-C926-627FBC319ACD}"/>
              </a:ext>
            </a:extLst>
          </p:cNvPr>
          <p:cNvSpPr txBox="1"/>
          <p:nvPr/>
        </p:nvSpPr>
        <p:spPr>
          <a:xfrm>
            <a:off x="5291512" y="4580778"/>
            <a:ext cx="1508445" cy="400110"/>
          </a:xfrm>
          <a:prstGeom prst="rect">
            <a:avLst/>
          </a:prstGeom>
          <a:solidFill>
            <a:srgbClr val="D5E8D4">
              <a:alpha val="36000"/>
            </a:srgb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algn="ctr"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Web UI:8848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CE655959-6FED-82A1-DF57-D980400872F1}"/>
              </a:ext>
            </a:extLst>
          </p:cNvPr>
          <p:cNvSpPr txBox="1"/>
          <p:nvPr/>
        </p:nvSpPr>
        <p:spPr>
          <a:xfrm>
            <a:off x="6940000" y="4595194"/>
            <a:ext cx="822864" cy="400110"/>
          </a:xfrm>
          <a:prstGeom prst="rect">
            <a:avLst/>
          </a:prstGeom>
          <a:solidFill>
            <a:srgbClr val="D5E8D4">
              <a:alpha val="36000"/>
            </a:srgb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CLI</a:t>
            </a:r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CF09E1FD-0C76-A546-6675-3AA10C202F18}"/>
              </a:ext>
            </a:extLst>
          </p:cNvPr>
          <p:cNvSpPr txBox="1"/>
          <p:nvPr/>
        </p:nvSpPr>
        <p:spPr>
          <a:xfrm>
            <a:off x="7892680" y="4595194"/>
            <a:ext cx="1534226" cy="400110"/>
          </a:xfrm>
          <a:prstGeom prst="rect">
            <a:avLst/>
          </a:prstGeom>
          <a:solidFill>
            <a:srgbClr val="D5E8D4">
              <a:alpha val="36000"/>
            </a:srgb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MCP(</a:t>
            </a:r>
            <a:r>
              <a:rPr kumimoji="0" lang="en-US" altLang="zh-CN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stdio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)</a:t>
            </a:r>
          </a:p>
        </p:txBody>
      </p:sp>
      <p:cxnSp>
        <p:nvCxnSpPr>
          <p:cNvPr id="107" name="直接箭头连接符 106">
            <a:extLst>
              <a:ext uri="{FF2B5EF4-FFF2-40B4-BE49-F238E27FC236}">
                <a16:creationId xmlns:a16="http://schemas.microsoft.com/office/drawing/2014/main" id="{48724D41-3A3E-DFBB-F86F-A6B7DBC74DAE}"/>
              </a:ext>
            </a:extLst>
          </p:cNvPr>
          <p:cNvCxnSpPr>
            <a:cxnSpLocks/>
          </p:cNvCxnSpPr>
          <p:nvPr/>
        </p:nvCxnSpPr>
        <p:spPr>
          <a:xfrm>
            <a:off x="5099267" y="2352821"/>
            <a:ext cx="606249" cy="0"/>
          </a:xfrm>
          <a:prstGeom prst="straightConnector1">
            <a:avLst/>
          </a:prstGeom>
          <a:noFill/>
          <a:ln w="22225" cap="flat" cmpd="sng" algn="ctr">
            <a:solidFill>
              <a:srgbClr val="AFABAB"/>
            </a:solidFill>
            <a:prstDash val="solid"/>
            <a:miter lim="800000"/>
            <a:headEnd type="triangle"/>
            <a:tailEnd type="triangle"/>
          </a:ln>
          <a:effectLst/>
        </p:spPr>
      </p:cxnSp>
      <p:sp>
        <p:nvSpPr>
          <p:cNvPr id="108" name="矩形 107">
            <a:extLst>
              <a:ext uri="{FF2B5EF4-FFF2-40B4-BE49-F238E27FC236}">
                <a16:creationId xmlns:a16="http://schemas.microsoft.com/office/drawing/2014/main" id="{2DEAAEBD-B8A2-C31E-356A-9446563872F0}"/>
              </a:ext>
            </a:extLst>
          </p:cNvPr>
          <p:cNvSpPr/>
          <p:nvPr/>
        </p:nvSpPr>
        <p:spPr>
          <a:xfrm>
            <a:off x="2849958" y="1839469"/>
            <a:ext cx="1874298" cy="242475"/>
          </a:xfrm>
          <a:prstGeom prst="rect">
            <a:avLst/>
          </a:prstGeom>
          <a:solidFill>
            <a:srgbClr val="AFABA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Agent Runtimes</a:t>
            </a:r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E29E31A8-40E8-11D6-359B-B6C60BDB04A4}"/>
              </a:ext>
            </a:extLst>
          </p:cNvPr>
          <p:cNvSpPr/>
          <p:nvPr/>
        </p:nvSpPr>
        <p:spPr>
          <a:xfrm>
            <a:off x="2324918" y="2053816"/>
            <a:ext cx="2749173" cy="715422"/>
          </a:xfrm>
          <a:prstGeom prst="rect">
            <a:avLst/>
          </a:prstGeom>
          <a:noFill/>
          <a:ln w="28575" cap="flat" cmpd="sng" algn="ctr">
            <a:solidFill>
              <a:srgbClr val="E7E6E6">
                <a:lumMod val="75000"/>
              </a:srgb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476969CB-BE6A-296A-7141-1BC913FFC289}"/>
              </a:ext>
            </a:extLst>
          </p:cNvPr>
          <p:cNvSpPr txBox="1"/>
          <p:nvPr/>
        </p:nvSpPr>
        <p:spPr>
          <a:xfrm>
            <a:off x="2446915" y="2156178"/>
            <a:ext cx="1099351" cy="249685"/>
          </a:xfrm>
          <a:prstGeom prst="rect">
            <a:avLst/>
          </a:prstGeom>
          <a:solidFill>
            <a:srgbClr val="D5E8D4">
              <a:alpha val="36000"/>
            </a:srgb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Claude Code</a:t>
            </a:r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F8FCBBF7-54F7-D249-4FC2-F437E2306A0F}"/>
              </a:ext>
            </a:extLst>
          </p:cNvPr>
          <p:cNvSpPr txBox="1"/>
          <p:nvPr/>
        </p:nvSpPr>
        <p:spPr>
          <a:xfrm>
            <a:off x="3630381" y="2163389"/>
            <a:ext cx="1287256" cy="233776"/>
          </a:xfrm>
          <a:prstGeom prst="rect">
            <a:avLst/>
          </a:prstGeom>
          <a:solidFill>
            <a:srgbClr val="D5E8D4">
              <a:alpha val="36000"/>
            </a:srgb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Codex CLI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F93E9057-FD5C-8CC3-4EE6-9E2FC228E143}"/>
              </a:ext>
            </a:extLst>
          </p:cNvPr>
          <p:cNvSpPr txBox="1"/>
          <p:nvPr/>
        </p:nvSpPr>
        <p:spPr>
          <a:xfrm>
            <a:off x="2446915" y="2475682"/>
            <a:ext cx="893611" cy="242475"/>
          </a:xfrm>
          <a:prstGeom prst="rect">
            <a:avLst/>
          </a:prstGeom>
          <a:solidFill>
            <a:srgbClr val="D5E8D4">
              <a:alpha val="36000"/>
            </a:srgb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Gemini CLI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69D501C6-276E-F66E-C270-CCFAD6B0C717}"/>
              </a:ext>
            </a:extLst>
          </p:cNvPr>
          <p:cNvSpPr txBox="1"/>
          <p:nvPr/>
        </p:nvSpPr>
        <p:spPr>
          <a:xfrm>
            <a:off x="3430653" y="2473034"/>
            <a:ext cx="1486984" cy="233775"/>
          </a:xfrm>
          <a:prstGeom prst="rect">
            <a:avLst/>
          </a:prstGeom>
          <a:solidFill>
            <a:srgbClr val="D5E8D4">
              <a:alpha val="36000"/>
            </a:srgb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+ 5 more + custom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8CBCD34B-665C-B3F8-571D-CC670125D6A3}"/>
              </a:ext>
            </a:extLst>
          </p:cNvPr>
          <p:cNvSpPr/>
          <p:nvPr/>
        </p:nvSpPr>
        <p:spPr>
          <a:xfrm>
            <a:off x="9811948" y="1024630"/>
            <a:ext cx="1874298" cy="242475"/>
          </a:xfrm>
          <a:prstGeom prst="rect">
            <a:avLst/>
          </a:prstGeom>
          <a:solidFill>
            <a:srgbClr val="238A8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三层记忆管理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16" name="直接箭头连接符 115">
            <a:extLst>
              <a:ext uri="{FF2B5EF4-FFF2-40B4-BE49-F238E27FC236}">
                <a16:creationId xmlns:a16="http://schemas.microsoft.com/office/drawing/2014/main" id="{B28550C8-5238-C4B7-1C8D-E13D06947BE6}"/>
              </a:ext>
            </a:extLst>
          </p:cNvPr>
          <p:cNvCxnSpPr>
            <a:cxnSpLocks/>
          </p:cNvCxnSpPr>
          <p:nvPr/>
        </p:nvCxnSpPr>
        <p:spPr>
          <a:xfrm flipH="1">
            <a:off x="8381807" y="1720634"/>
            <a:ext cx="1633050" cy="0"/>
          </a:xfrm>
          <a:prstGeom prst="straightConnector1">
            <a:avLst/>
          </a:prstGeom>
          <a:noFill/>
          <a:ln w="22225" cap="flat" cmpd="sng" algn="ctr">
            <a:solidFill>
              <a:srgbClr val="AFABAB"/>
            </a:solidFill>
            <a:prstDash val="solid"/>
            <a:miter lim="800000"/>
            <a:headEnd type="oval"/>
            <a:tailEnd type="oval"/>
          </a:ln>
          <a:effectLst/>
        </p:spPr>
      </p:cxnSp>
      <p:sp>
        <p:nvSpPr>
          <p:cNvPr id="117" name="文本框 116">
            <a:extLst>
              <a:ext uri="{FF2B5EF4-FFF2-40B4-BE49-F238E27FC236}">
                <a16:creationId xmlns:a16="http://schemas.microsoft.com/office/drawing/2014/main" id="{162C694A-E954-9266-9F9E-A7A79701DA2A}"/>
              </a:ext>
            </a:extLst>
          </p:cNvPr>
          <p:cNvSpPr txBox="1"/>
          <p:nvPr/>
        </p:nvSpPr>
        <p:spPr>
          <a:xfrm>
            <a:off x="6707020" y="2127965"/>
            <a:ext cx="950099" cy="237498"/>
          </a:xfrm>
          <a:prstGeom prst="rect">
            <a:avLst/>
          </a:prstGeom>
          <a:solidFill>
            <a:srgbClr val="238A87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心理咨询师</a:t>
            </a:r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5F773707-8E63-4A45-BD65-D771CCFBA939}"/>
              </a:ext>
            </a:extLst>
          </p:cNvPr>
          <p:cNvSpPr txBox="1"/>
          <p:nvPr/>
        </p:nvSpPr>
        <p:spPr>
          <a:xfrm>
            <a:off x="5674886" y="5785487"/>
            <a:ext cx="983836" cy="259960"/>
          </a:xfrm>
          <a:prstGeom prst="rect">
            <a:avLst/>
          </a:prstGeom>
          <a:solidFill>
            <a:srgbClr val="D5E8D4">
              <a:alpha val="36000"/>
            </a:srgb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Telegram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9" name="文本框 118">
            <a:extLst>
              <a:ext uri="{FF2B5EF4-FFF2-40B4-BE49-F238E27FC236}">
                <a16:creationId xmlns:a16="http://schemas.microsoft.com/office/drawing/2014/main" id="{CF18E668-210A-5745-8379-D17F159EF219}"/>
              </a:ext>
            </a:extLst>
          </p:cNvPr>
          <p:cNvSpPr txBox="1"/>
          <p:nvPr/>
        </p:nvSpPr>
        <p:spPr>
          <a:xfrm>
            <a:off x="7884096" y="5797220"/>
            <a:ext cx="983836" cy="259960"/>
          </a:xfrm>
          <a:prstGeom prst="rect">
            <a:avLst/>
          </a:prstGeom>
          <a:solidFill>
            <a:srgbClr val="D5E8D4">
              <a:alpha val="36000"/>
            </a:srgb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Discord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83C29AD7-622C-B8AE-3A5E-1912D755F890}"/>
              </a:ext>
            </a:extLst>
          </p:cNvPr>
          <p:cNvSpPr txBox="1"/>
          <p:nvPr/>
        </p:nvSpPr>
        <p:spPr>
          <a:xfrm>
            <a:off x="5686194" y="6155522"/>
            <a:ext cx="983836" cy="259960"/>
          </a:xfrm>
          <a:prstGeom prst="rect">
            <a:avLst/>
          </a:prstGeom>
          <a:solidFill>
            <a:srgbClr val="D5E8D4">
              <a:alpha val="36000"/>
            </a:srgb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Feishu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FDA7F230-0618-978B-63F7-8ADFA76B202F}"/>
              </a:ext>
            </a:extLst>
          </p:cNvPr>
          <p:cNvSpPr txBox="1"/>
          <p:nvPr/>
        </p:nvSpPr>
        <p:spPr>
          <a:xfrm>
            <a:off x="6779491" y="6157336"/>
            <a:ext cx="983836" cy="259960"/>
          </a:xfrm>
          <a:prstGeom prst="rect">
            <a:avLst/>
          </a:prstGeom>
          <a:solidFill>
            <a:srgbClr val="D5E8D4">
              <a:alpha val="36000"/>
            </a:srgb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DingTalk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22" name="直接箭头连接符 121">
            <a:extLst>
              <a:ext uri="{FF2B5EF4-FFF2-40B4-BE49-F238E27FC236}">
                <a16:creationId xmlns:a16="http://schemas.microsoft.com/office/drawing/2014/main" id="{C0C4ADF0-7D86-88CA-EE28-CF70D6ECC9D6}"/>
              </a:ext>
            </a:extLst>
          </p:cNvPr>
          <p:cNvCxnSpPr>
            <a:cxnSpLocks/>
          </p:cNvCxnSpPr>
          <p:nvPr/>
        </p:nvCxnSpPr>
        <p:spPr>
          <a:xfrm>
            <a:off x="7165392" y="5125342"/>
            <a:ext cx="0" cy="299999"/>
          </a:xfrm>
          <a:prstGeom prst="straightConnector1">
            <a:avLst/>
          </a:prstGeom>
          <a:noFill/>
          <a:ln w="22225" cap="flat" cmpd="sng" algn="ctr">
            <a:solidFill>
              <a:srgbClr val="AFABAB"/>
            </a:solidFill>
            <a:prstDash val="solid"/>
            <a:miter lim="800000"/>
            <a:headEnd type="triangle"/>
            <a:tailEnd type="triangle"/>
          </a:ln>
          <a:effectLst/>
        </p:spPr>
      </p:cxnSp>
      <p:sp>
        <p:nvSpPr>
          <p:cNvPr id="129" name="矩形 128">
            <a:extLst>
              <a:ext uri="{FF2B5EF4-FFF2-40B4-BE49-F238E27FC236}">
                <a16:creationId xmlns:a16="http://schemas.microsoft.com/office/drawing/2014/main" id="{0F1FF495-0DA7-DD2F-6A58-8A323F75D2E2}"/>
              </a:ext>
            </a:extLst>
          </p:cNvPr>
          <p:cNvSpPr/>
          <p:nvPr/>
        </p:nvSpPr>
        <p:spPr>
          <a:xfrm>
            <a:off x="9948515" y="1379220"/>
            <a:ext cx="1616364" cy="2438853"/>
          </a:xfrm>
          <a:prstGeom prst="rect">
            <a:avLst/>
          </a:prstGeom>
          <a:solidFill>
            <a:srgbClr val="D5E8D4">
              <a:alpha val="36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0" name="文本框 129">
            <a:extLst>
              <a:ext uri="{FF2B5EF4-FFF2-40B4-BE49-F238E27FC236}">
                <a16:creationId xmlns:a16="http://schemas.microsoft.com/office/drawing/2014/main" id="{7A9A3ADA-244E-249D-3DFB-93448F2F9368}"/>
              </a:ext>
            </a:extLst>
          </p:cNvPr>
          <p:cNvSpPr txBox="1"/>
          <p:nvPr/>
        </p:nvSpPr>
        <p:spPr>
          <a:xfrm>
            <a:off x="10123752" y="1523536"/>
            <a:ext cx="1305536" cy="510843"/>
          </a:xfrm>
          <a:prstGeom prst="rect">
            <a:avLst/>
          </a:prstGeom>
          <a:solidFill>
            <a:srgbClr val="238A87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短期记忆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高活力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·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碎片化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1" name="文本框 130">
            <a:extLst>
              <a:ext uri="{FF2B5EF4-FFF2-40B4-BE49-F238E27FC236}">
                <a16:creationId xmlns:a16="http://schemas.microsoft.com/office/drawing/2014/main" id="{1621FE4B-5AB3-B9DA-8193-98B8A776F1D7}"/>
              </a:ext>
            </a:extLst>
          </p:cNvPr>
          <p:cNvSpPr txBox="1"/>
          <p:nvPr/>
        </p:nvSpPr>
        <p:spPr>
          <a:xfrm>
            <a:off x="10134149" y="2256701"/>
            <a:ext cx="1295140" cy="512537"/>
          </a:xfrm>
          <a:prstGeom prst="rect">
            <a:avLst/>
          </a:prstGeom>
          <a:solidFill>
            <a:srgbClr val="186A85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中期记忆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中等活力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·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已整合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F6D2E660-5B2D-5EE5-7CEB-44B7E4A5EAE7}"/>
              </a:ext>
            </a:extLst>
          </p:cNvPr>
          <p:cNvSpPr txBox="1"/>
          <p:nvPr/>
        </p:nvSpPr>
        <p:spPr>
          <a:xfrm>
            <a:off x="10134148" y="3015015"/>
            <a:ext cx="1295140" cy="572508"/>
          </a:xfrm>
          <a:prstGeom prst="rect">
            <a:avLst/>
          </a:prstGeom>
          <a:solidFill>
            <a:srgbClr val="0E4B7A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长期记忆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高活力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·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永久锁定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138" name="组合 137">
            <a:extLst>
              <a:ext uri="{FF2B5EF4-FFF2-40B4-BE49-F238E27FC236}">
                <a16:creationId xmlns:a16="http://schemas.microsoft.com/office/drawing/2014/main" id="{735DF963-DE1C-E001-AC60-CBCC27485EF2}"/>
              </a:ext>
            </a:extLst>
          </p:cNvPr>
          <p:cNvGrpSpPr/>
          <p:nvPr/>
        </p:nvGrpSpPr>
        <p:grpSpPr>
          <a:xfrm rot="5400000">
            <a:off x="765143" y="2820124"/>
            <a:ext cx="335714" cy="738576"/>
            <a:chOff x="334611" y="1353173"/>
            <a:chExt cx="653622" cy="1437977"/>
          </a:xfrm>
        </p:grpSpPr>
        <p:sp>
          <p:nvSpPr>
            <p:cNvPr id="134" name="Arrow: Chevron 30">
              <a:extLst>
                <a:ext uri="{FF2B5EF4-FFF2-40B4-BE49-F238E27FC236}">
                  <a16:creationId xmlns:a16="http://schemas.microsoft.com/office/drawing/2014/main" id="{AE504542-570C-0908-3CEE-37CCDEA5720E}"/>
                </a:ext>
              </a:extLst>
            </p:cNvPr>
            <p:cNvSpPr/>
            <p:nvPr/>
          </p:nvSpPr>
          <p:spPr>
            <a:xfrm rot="16200000">
              <a:off x="478706" y="1209078"/>
              <a:ext cx="365431" cy="653622"/>
            </a:xfrm>
            <a:prstGeom prst="chevron">
              <a:avLst/>
            </a:prstGeom>
            <a:gradFill>
              <a:gsLst>
                <a:gs pos="0">
                  <a:srgbClr val="2BA89C"/>
                </a:gs>
                <a:gs pos="83000">
                  <a:srgbClr val="0E4B7A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35" name="Arrow: Chevron 31">
              <a:extLst>
                <a:ext uri="{FF2B5EF4-FFF2-40B4-BE49-F238E27FC236}">
                  <a16:creationId xmlns:a16="http://schemas.microsoft.com/office/drawing/2014/main" id="{DF256C95-DBCA-4EAA-36D6-F0BB450A1EF9}"/>
                </a:ext>
              </a:extLst>
            </p:cNvPr>
            <p:cNvSpPr/>
            <p:nvPr/>
          </p:nvSpPr>
          <p:spPr>
            <a:xfrm rot="16200000">
              <a:off x="478706" y="1548988"/>
              <a:ext cx="365431" cy="653622"/>
            </a:xfrm>
            <a:prstGeom prst="chevron">
              <a:avLst/>
            </a:prstGeom>
            <a:gradFill>
              <a:gsLst>
                <a:gs pos="0">
                  <a:srgbClr val="2BA89C"/>
                </a:gs>
                <a:gs pos="83000">
                  <a:srgbClr val="0E4B7A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36" name="Arrow: Chevron 32">
              <a:extLst>
                <a:ext uri="{FF2B5EF4-FFF2-40B4-BE49-F238E27FC236}">
                  <a16:creationId xmlns:a16="http://schemas.microsoft.com/office/drawing/2014/main" id="{92E32C8A-5D85-DEB5-3BFE-DFFC54E57DDB}"/>
                </a:ext>
              </a:extLst>
            </p:cNvPr>
            <p:cNvSpPr/>
            <p:nvPr/>
          </p:nvSpPr>
          <p:spPr>
            <a:xfrm rot="16200000">
              <a:off x="478706" y="1914419"/>
              <a:ext cx="365431" cy="653622"/>
            </a:xfrm>
            <a:prstGeom prst="chevron">
              <a:avLst/>
            </a:prstGeom>
            <a:gradFill>
              <a:gsLst>
                <a:gs pos="0">
                  <a:srgbClr val="2BA89C"/>
                </a:gs>
                <a:gs pos="83000">
                  <a:srgbClr val="0E4B7A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37" name="Arrow: Chevron 33">
              <a:extLst>
                <a:ext uri="{FF2B5EF4-FFF2-40B4-BE49-F238E27FC236}">
                  <a16:creationId xmlns:a16="http://schemas.microsoft.com/office/drawing/2014/main" id="{EF14E828-84B1-82D9-B68D-8B88696C224F}"/>
                </a:ext>
              </a:extLst>
            </p:cNvPr>
            <p:cNvSpPr/>
            <p:nvPr/>
          </p:nvSpPr>
          <p:spPr>
            <a:xfrm rot="16200000">
              <a:off x="478706" y="2281624"/>
              <a:ext cx="365431" cy="653622"/>
            </a:xfrm>
            <a:prstGeom prst="chevron">
              <a:avLst/>
            </a:prstGeom>
            <a:gradFill>
              <a:gsLst>
                <a:gs pos="0">
                  <a:srgbClr val="2BA89C"/>
                </a:gs>
                <a:gs pos="83000">
                  <a:srgbClr val="0E4B7A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</p:grpSp>
      <p:sp>
        <p:nvSpPr>
          <p:cNvPr id="140" name="文本框 139">
            <a:extLst>
              <a:ext uri="{FF2B5EF4-FFF2-40B4-BE49-F238E27FC236}">
                <a16:creationId xmlns:a16="http://schemas.microsoft.com/office/drawing/2014/main" id="{BA78FC38-8207-ED3C-F1A8-161B14C48419}"/>
              </a:ext>
            </a:extLst>
          </p:cNvPr>
          <p:cNvSpPr txBox="1"/>
          <p:nvPr/>
        </p:nvSpPr>
        <p:spPr>
          <a:xfrm>
            <a:off x="1349466" y="3015015"/>
            <a:ext cx="80739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Architecture Layers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grpSp>
        <p:nvGrpSpPr>
          <p:cNvPr id="161" name="组合 160">
            <a:extLst>
              <a:ext uri="{FF2B5EF4-FFF2-40B4-BE49-F238E27FC236}">
                <a16:creationId xmlns:a16="http://schemas.microsoft.com/office/drawing/2014/main" id="{C38DD2C0-4605-9A85-C568-9CBCDFB0F0DF}"/>
              </a:ext>
            </a:extLst>
          </p:cNvPr>
          <p:cNvGrpSpPr/>
          <p:nvPr/>
        </p:nvGrpSpPr>
        <p:grpSpPr>
          <a:xfrm>
            <a:off x="212883" y="3581948"/>
            <a:ext cx="4639747" cy="3001060"/>
            <a:chOff x="99802" y="3388227"/>
            <a:chExt cx="4639747" cy="3104140"/>
          </a:xfrm>
        </p:grpSpPr>
        <p:sp>
          <p:nvSpPr>
            <p:cNvPr id="133" name="矩形 132">
              <a:extLst>
                <a:ext uri="{FF2B5EF4-FFF2-40B4-BE49-F238E27FC236}">
                  <a16:creationId xmlns:a16="http://schemas.microsoft.com/office/drawing/2014/main" id="{089515AA-3043-A05D-61A5-ED228C00EC16}"/>
                </a:ext>
              </a:extLst>
            </p:cNvPr>
            <p:cNvSpPr/>
            <p:nvPr/>
          </p:nvSpPr>
          <p:spPr>
            <a:xfrm>
              <a:off x="441247" y="3388227"/>
              <a:ext cx="4094833" cy="3104140"/>
            </a:xfrm>
            <a:prstGeom prst="rect">
              <a:avLst/>
            </a:prstGeom>
            <a:gradFill>
              <a:gsLst>
                <a:gs pos="0">
                  <a:srgbClr val="2BA89C"/>
                </a:gs>
                <a:gs pos="83000">
                  <a:srgbClr val="0E4B7A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cxnSp>
          <p:nvCxnSpPr>
            <p:cNvPr id="148" name="直接连接符 147">
              <a:extLst>
                <a:ext uri="{FF2B5EF4-FFF2-40B4-BE49-F238E27FC236}">
                  <a16:creationId xmlns:a16="http://schemas.microsoft.com/office/drawing/2014/main" id="{A73187B8-9DD8-7AB6-3BB3-3E1A47E6D4D9}"/>
                </a:ext>
              </a:extLst>
            </p:cNvPr>
            <p:cNvCxnSpPr/>
            <p:nvPr/>
          </p:nvCxnSpPr>
          <p:spPr>
            <a:xfrm>
              <a:off x="450631" y="4050123"/>
              <a:ext cx="4065993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A2FB6854-EA37-8640-13D6-457A6B4D07F0}"/>
                </a:ext>
              </a:extLst>
            </p:cNvPr>
            <p:cNvSpPr txBox="1"/>
            <p:nvPr/>
          </p:nvSpPr>
          <p:spPr>
            <a:xfrm>
              <a:off x="525706" y="3419286"/>
              <a:ext cx="4003841" cy="6136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Ports (Entry)                                               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Web UI (React)  │  CLI  │  IM Bridge  │  MCP Server 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154" name="文本框 153">
              <a:extLst>
                <a:ext uri="{FF2B5EF4-FFF2-40B4-BE49-F238E27FC236}">
                  <a16:creationId xmlns:a16="http://schemas.microsoft.com/office/drawing/2014/main" id="{946CB01A-BA66-9A36-99E7-6451B382DFA1}"/>
                </a:ext>
              </a:extLst>
            </p:cNvPr>
            <p:cNvSpPr txBox="1"/>
            <p:nvPr/>
          </p:nvSpPr>
          <p:spPr>
            <a:xfrm>
              <a:off x="99802" y="4172073"/>
              <a:ext cx="4639747" cy="6136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Daemon (</a:t>
              </a:r>
              <a:r>
                <a:rPr kumimoji="0" lang="en-US" altLang="zh-CN" sz="12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ccccd</a:t>
              </a: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)                       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   IPC Server  │  Delivery  │  Automation  │  Runners 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cxnSp>
          <p:nvCxnSpPr>
            <p:cNvPr id="155" name="直接连接符 154">
              <a:extLst>
                <a:ext uri="{FF2B5EF4-FFF2-40B4-BE49-F238E27FC236}">
                  <a16:creationId xmlns:a16="http://schemas.microsoft.com/office/drawing/2014/main" id="{277A8E23-FDF1-3E44-C01F-E5A81B696CFC}"/>
                </a:ext>
              </a:extLst>
            </p:cNvPr>
            <p:cNvCxnSpPr/>
            <p:nvPr/>
          </p:nvCxnSpPr>
          <p:spPr>
            <a:xfrm>
              <a:off x="441247" y="4886093"/>
              <a:ext cx="4065993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直接连接符 155">
              <a:extLst>
                <a:ext uri="{FF2B5EF4-FFF2-40B4-BE49-F238E27FC236}">
                  <a16:creationId xmlns:a16="http://schemas.microsoft.com/office/drawing/2014/main" id="{0A302755-AC33-03CB-D1FD-8C3EA5F7D9CD}"/>
                </a:ext>
              </a:extLst>
            </p:cNvPr>
            <p:cNvCxnSpPr/>
            <p:nvPr/>
          </p:nvCxnSpPr>
          <p:spPr>
            <a:xfrm>
              <a:off x="441246" y="5701533"/>
              <a:ext cx="4065993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8" name="文本框 157">
              <a:extLst>
                <a:ext uri="{FF2B5EF4-FFF2-40B4-BE49-F238E27FC236}">
                  <a16:creationId xmlns:a16="http://schemas.microsoft.com/office/drawing/2014/main" id="{0F7FF950-F7D1-F269-3E91-E679C55832B4}"/>
                </a:ext>
              </a:extLst>
            </p:cNvPr>
            <p:cNvSpPr txBox="1"/>
            <p:nvPr/>
          </p:nvSpPr>
          <p:spPr>
            <a:xfrm>
              <a:off x="470087" y="4977764"/>
              <a:ext cx="4118912" cy="6136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Kernel   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                       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Group  │  Actor  │  Ledger  │  Inbox  │  Permissions 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160" name="文本框 159">
              <a:extLst>
                <a:ext uri="{FF2B5EF4-FFF2-40B4-BE49-F238E27FC236}">
                  <a16:creationId xmlns:a16="http://schemas.microsoft.com/office/drawing/2014/main" id="{5F9E5CD9-A93C-4BFA-48EE-628E591E0514}"/>
                </a:ext>
              </a:extLst>
            </p:cNvPr>
            <p:cNvSpPr txBox="1"/>
            <p:nvPr/>
          </p:nvSpPr>
          <p:spPr>
            <a:xfrm>
              <a:off x="268052" y="5831513"/>
              <a:ext cx="4065994" cy="6136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        Contracts (v1)                        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  Event  │  Message  │  Actor  │  IPC 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80" name="文本框 79">
            <a:extLst>
              <a:ext uri="{FF2B5EF4-FFF2-40B4-BE49-F238E27FC236}">
                <a16:creationId xmlns:a16="http://schemas.microsoft.com/office/drawing/2014/main" id="{152C4A97-A155-1F7B-8124-15604A73F931}"/>
              </a:ext>
            </a:extLst>
          </p:cNvPr>
          <p:cNvSpPr txBox="1"/>
          <p:nvPr/>
        </p:nvSpPr>
        <p:spPr>
          <a:xfrm>
            <a:off x="4499177" y="400848"/>
            <a:ext cx="89627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面向智能客服的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AI Agent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血糖管理自进化系统</a:t>
            </a:r>
            <a:endParaRPr kumimoji="0" lang="zh-CN" altLang="en-US" sz="7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168" name="图片 167">
            <a:extLst>
              <a:ext uri="{FF2B5EF4-FFF2-40B4-BE49-F238E27FC236}">
                <a16:creationId xmlns:a16="http://schemas.microsoft.com/office/drawing/2014/main" id="{37F51E29-59BD-054A-7A67-0D74BF612A4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rgbClr val="5E759C">
                <a:shade val="45000"/>
                <a:satMod val="135000"/>
              </a:srgbClr>
              <a:prstClr val="white"/>
            </a:duotone>
          </a:blip>
          <a:stretch>
            <a:fillRect/>
          </a:stretch>
        </p:blipFill>
        <p:spPr>
          <a:xfrm>
            <a:off x="9785880" y="4495923"/>
            <a:ext cx="2077283" cy="20741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 advTm="2000"/>
    </mc:Choice>
    <mc:Fallback>
      <p:transition advClick="0" advTm="2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椭圆 42"/>
          <p:cNvSpPr/>
          <p:nvPr/>
        </p:nvSpPr>
        <p:spPr>
          <a:xfrm>
            <a:off x="11278507" y="2186214"/>
            <a:ext cx="144000" cy="144000"/>
          </a:xfrm>
          <a:prstGeom prst="ellipse">
            <a:avLst/>
          </a:prstGeom>
          <a:solidFill>
            <a:srgbClr val="A270A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4" name="椭圆 43"/>
          <p:cNvSpPr/>
          <p:nvPr/>
        </p:nvSpPr>
        <p:spPr>
          <a:xfrm>
            <a:off x="7611836" y="5510893"/>
            <a:ext cx="144000" cy="144000"/>
          </a:xfrm>
          <a:prstGeom prst="ellipse">
            <a:avLst/>
          </a:prstGeom>
          <a:solidFill>
            <a:srgbClr val="42A9B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5" name="椭圆 44"/>
          <p:cNvSpPr/>
          <p:nvPr/>
        </p:nvSpPr>
        <p:spPr>
          <a:xfrm>
            <a:off x="5210628" y="2271486"/>
            <a:ext cx="144000" cy="144000"/>
          </a:xfrm>
          <a:prstGeom prst="ellipse">
            <a:avLst/>
          </a:prstGeom>
          <a:solidFill>
            <a:srgbClr val="FF84A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6" name="椭圆 45"/>
          <p:cNvSpPr/>
          <p:nvPr/>
        </p:nvSpPr>
        <p:spPr>
          <a:xfrm>
            <a:off x="1703615" y="6437993"/>
            <a:ext cx="144000" cy="144000"/>
          </a:xfrm>
          <a:prstGeom prst="ellipse">
            <a:avLst/>
          </a:prstGeom>
          <a:solidFill>
            <a:srgbClr val="FF84A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7" name="椭圆 46"/>
          <p:cNvSpPr/>
          <p:nvPr/>
        </p:nvSpPr>
        <p:spPr>
          <a:xfrm>
            <a:off x="3200400" y="6172200"/>
            <a:ext cx="144000" cy="144000"/>
          </a:xfrm>
          <a:prstGeom prst="ellipse">
            <a:avLst/>
          </a:prstGeom>
          <a:solidFill>
            <a:srgbClr val="FF84A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8" name="椭圆 47"/>
          <p:cNvSpPr/>
          <p:nvPr/>
        </p:nvSpPr>
        <p:spPr>
          <a:xfrm>
            <a:off x="1861457" y="2530929"/>
            <a:ext cx="144000" cy="144000"/>
          </a:xfrm>
          <a:prstGeom prst="ellipse">
            <a:avLst/>
          </a:prstGeom>
          <a:solidFill>
            <a:srgbClr val="975F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9" name="椭圆 48"/>
          <p:cNvSpPr/>
          <p:nvPr/>
        </p:nvSpPr>
        <p:spPr>
          <a:xfrm>
            <a:off x="8210550" y="3962400"/>
            <a:ext cx="72000" cy="72000"/>
          </a:xfrm>
          <a:prstGeom prst="ellipse">
            <a:avLst/>
          </a:prstGeom>
          <a:solidFill>
            <a:srgbClr val="975F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0" name="椭圆 49"/>
          <p:cNvSpPr/>
          <p:nvPr/>
        </p:nvSpPr>
        <p:spPr>
          <a:xfrm>
            <a:off x="76200" y="4800600"/>
            <a:ext cx="108000" cy="108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1" name="椭圆 50"/>
          <p:cNvSpPr/>
          <p:nvPr/>
        </p:nvSpPr>
        <p:spPr>
          <a:xfrm>
            <a:off x="10058400" y="2305050"/>
            <a:ext cx="108000" cy="108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53" name="组合 52"/>
          <p:cNvGrpSpPr/>
          <p:nvPr/>
        </p:nvGrpSpPr>
        <p:grpSpPr>
          <a:xfrm>
            <a:off x="595085" y="1857830"/>
            <a:ext cx="10608224" cy="6820352"/>
            <a:chOff x="595085" y="1857830"/>
            <a:chExt cx="10608224" cy="6820352"/>
          </a:xfrm>
        </p:grpSpPr>
        <p:grpSp>
          <p:nvGrpSpPr>
            <p:cNvPr id="6" name="组合 5"/>
            <p:cNvGrpSpPr/>
            <p:nvPr/>
          </p:nvGrpSpPr>
          <p:grpSpPr>
            <a:xfrm>
              <a:off x="2359479" y="3216049"/>
              <a:ext cx="2160000" cy="5322887"/>
              <a:chOff x="2228850" y="2214563"/>
              <a:chExt cx="2160000" cy="5322887"/>
            </a:xfrm>
          </p:grpSpPr>
          <p:sp>
            <p:nvSpPr>
              <p:cNvPr id="3" name="菱形 2"/>
              <p:cNvSpPr/>
              <p:nvPr/>
            </p:nvSpPr>
            <p:spPr>
              <a:xfrm>
                <a:off x="2228850" y="2214563"/>
                <a:ext cx="2160000" cy="1143000"/>
              </a:xfrm>
              <a:prstGeom prst="diamond">
                <a:avLst/>
              </a:prstGeom>
              <a:gradFill flip="none" rotWithShape="1">
                <a:gsLst>
                  <a:gs pos="26000">
                    <a:srgbClr val="80508A"/>
                  </a:gs>
                  <a:gs pos="9000">
                    <a:srgbClr val="56365C"/>
                  </a:gs>
                  <a:gs pos="60000">
                    <a:srgbClr val="E57BA3"/>
                  </a:gs>
                  <a:gs pos="85458">
                    <a:srgbClr val="EE7EA3"/>
                  </a:gs>
                  <a:gs pos="41000">
                    <a:srgbClr val="975FA2"/>
                  </a:gs>
                  <a:gs pos="100000">
                    <a:srgbClr val="FF84A4"/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" name="平行四边形 3"/>
              <p:cNvSpPr/>
              <p:nvPr/>
            </p:nvSpPr>
            <p:spPr>
              <a:xfrm rot="16200000">
                <a:off x="394744" y="4610644"/>
                <a:ext cx="4748212" cy="1080000"/>
              </a:xfrm>
              <a:prstGeom prst="parallelogram">
                <a:avLst>
                  <a:gd name="adj" fmla="val 53093"/>
                </a:avLst>
              </a:prstGeom>
              <a:gradFill flip="none" rotWithShape="1">
                <a:gsLst>
                  <a:gs pos="22000">
                    <a:srgbClr val="80508A"/>
                  </a:gs>
                  <a:gs pos="8000">
                    <a:srgbClr val="56365C"/>
                  </a:gs>
                  <a:gs pos="60000">
                    <a:srgbClr val="E57BA3"/>
                  </a:gs>
                  <a:gs pos="85458">
                    <a:srgbClr val="EE7EA3"/>
                  </a:gs>
                  <a:gs pos="41000">
                    <a:srgbClr val="975FA2"/>
                  </a:gs>
                  <a:gs pos="100000">
                    <a:srgbClr val="FF84A4"/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" name="平行四边形 4"/>
              <p:cNvSpPr/>
              <p:nvPr/>
            </p:nvSpPr>
            <p:spPr>
              <a:xfrm rot="5400000" flipH="1">
                <a:off x="1473744" y="4623344"/>
                <a:ext cx="4748212" cy="1080000"/>
              </a:xfrm>
              <a:prstGeom prst="parallelogram">
                <a:avLst>
                  <a:gd name="adj" fmla="val 51917"/>
                </a:avLst>
              </a:prstGeom>
              <a:gradFill flip="none" rotWithShape="1">
                <a:gsLst>
                  <a:gs pos="29000">
                    <a:srgbClr val="80508A"/>
                  </a:gs>
                  <a:gs pos="12000">
                    <a:srgbClr val="56365C"/>
                  </a:gs>
                  <a:gs pos="71000">
                    <a:srgbClr val="E57BA3"/>
                  </a:gs>
                  <a:gs pos="90000">
                    <a:srgbClr val="EE7EA3"/>
                  </a:gs>
                  <a:gs pos="49000">
                    <a:srgbClr val="975FA2"/>
                  </a:gs>
                  <a:gs pos="100000">
                    <a:srgbClr val="FF84A4"/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等线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5712006" y="4833257"/>
              <a:ext cx="1240337" cy="2879492"/>
              <a:chOff x="2228850" y="2214564"/>
              <a:chExt cx="2160000" cy="4132312"/>
            </a:xfrm>
          </p:grpSpPr>
          <p:sp>
            <p:nvSpPr>
              <p:cNvPr id="8" name="菱形 7"/>
              <p:cNvSpPr/>
              <p:nvPr/>
            </p:nvSpPr>
            <p:spPr>
              <a:xfrm>
                <a:off x="2228850" y="2214564"/>
                <a:ext cx="2160000" cy="1041460"/>
              </a:xfrm>
              <a:prstGeom prst="diamond">
                <a:avLst/>
              </a:prstGeom>
              <a:gradFill flip="none" rotWithShape="1">
                <a:gsLst>
                  <a:gs pos="26000">
                    <a:srgbClr val="80508A"/>
                  </a:gs>
                  <a:gs pos="9000">
                    <a:srgbClr val="56365C"/>
                  </a:gs>
                  <a:gs pos="60000">
                    <a:srgbClr val="E57BA3"/>
                  </a:gs>
                  <a:gs pos="85458">
                    <a:srgbClr val="EE7EA3"/>
                  </a:gs>
                  <a:gs pos="41000">
                    <a:srgbClr val="975FA2"/>
                  </a:gs>
                  <a:gs pos="100000">
                    <a:srgbClr val="FF84A4"/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平行四边形 8"/>
              <p:cNvSpPr/>
              <p:nvPr/>
            </p:nvSpPr>
            <p:spPr>
              <a:xfrm rot="16200000">
                <a:off x="962853" y="4000878"/>
                <a:ext cx="3611995" cy="1080001"/>
              </a:xfrm>
              <a:prstGeom prst="parallelogram">
                <a:avLst>
                  <a:gd name="adj" fmla="val 60114"/>
                </a:avLst>
              </a:prstGeom>
              <a:gradFill flip="none" rotWithShape="1">
                <a:gsLst>
                  <a:gs pos="22000">
                    <a:srgbClr val="80508A"/>
                  </a:gs>
                  <a:gs pos="8000">
                    <a:srgbClr val="56365C"/>
                  </a:gs>
                  <a:gs pos="60000">
                    <a:srgbClr val="E57BA3"/>
                  </a:gs>
                  <a:gs pos="85458">
                    <a:srgbClr val="EE7EA3"/>
                  </a:gs>
                  <a:gs pos="41000">
                    <a:srgbClr val="975FA2"/>
                  </a:gs>
                  <a:gs pos="100000">
                    <a:srgbClr val="FF84A4"/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" name="平行四边形 9"/>
              <p:cNvSpPr/>
              <p:nvPr/>
            </p:nvSpPr>
            <p:spPr>
              <a:xfrm rot="5400000" flipH="1">
                <a:off x="2041851" y="3992748"/>
                <a:ext cx="3611995" cy="1080001"/>
              </a:xfrm>
              <a:prstGeom prst="parallelogram">
                <a:avLst>
                  <a:gd name="adj" fmla="val 58938"/>
                </a:avLst>
              </a:prstGeom>
              <a:gradFill flip="none" rotWithShape="1">
                <a:gsLst>
                  <a:gs pos="29000">
                    <a:srgbClr val="80508A"/>
                  </a:gs>
                  <a:gs pos="12000">
                    <a:srgbClr val="56365C"/>
                  </a:gs>
                  <a:gs pos="71000">
                    <a:srgbClr val="E57BA3"/>
                  </a:gs>
                  <a:gs pos="90000">
                    <a:srgbClr val="EE7EA3"/>
                  </a:gs>
                  <a:gs pos="49000">
                    <a:srgbClr val="975FA2"/>
                  </a:gs>
                  <a:gs pos="100000">
                    <a:srgbClr val="FF84A4"/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等线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11" name="组合 10"/>
            <p:cNvGrpSpPr/>
            <p:nvPr/>
          </p:nvGrpSpPr>
          <p:grpSpPr>
            <a:xfrm>
              <a:off x="7982854" y="1857830"/>
              <a:ext cx="892629" cy="5530086"/>
              <a:chOff x="2228850" y="2579171"/>
              <a:chExt cx="2160000" cy="4790279"/>
            </a:xfrm>
          </p:grpSpPr>
          <p:sp>
            <p:nvSpPr>
              <p:cNvPr id="12" name="菱形 11"/>
              <p:cNvSpPr/>
              <p:nvPr/>
            </p:nvSpPr>
            <p:spPr>
              <a:xfrm>
                <a:off x="2228850" y="2579171"/>
                <a:ext cx="2160000" cy="402321"/>
              </a:xfrm>
              <a:prstGeom prst="diamond">
                <a:avLst/>
              </a:prstGeom>
              <a:gradFill flip="none" rotWithShape="1">
                <a:gsLst>
                  <a:gs pos="26000">
                    <a:srgbClr val="80508A"/>
                  </a:gs>
                  <a:gs pos="9000">
                    <a:srgbClr val="56365C"/>
                  </a:gs>
                  <a:gs pos="60000">
                    <a:srgbClr val="E57BA3"/>
                  </a:gs>
                  <a:gs pos="85458">
                    <a:srgbClr val="EE7EA3"/>
                  </a:gs>
                  <a:gs pos="41000">
                    <a:srgbClr val="975FA2"/>
                  </a:gs>
                  <a:gs pos="100000">
                    <a:srgbClr val="FF84A4"/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" name="平行四边形 12"/>
              <p:cNvSpPr/>
              <p:nvPr/>
            </p:nvSpPr>
            <p:spPr>
              <a:xfrm rot="16200000">
                <a:off x="472458" y="4532929"/>
                <a:ext cx="4592786" cy="1080001"/>
              </a:xfrm>
              <a:prstGeom prst="parallelogram">
                <a:avLst>
                  <a:gd name="adj" fmla="val 53093"/>
                </a:avLst>
              </a:prstGeom>
              <a:gradFill flip="none" rotWithShape="1">
                <a:gsLst>
                  <a:gs pos="22000">
                    <a:srgbClr val="80508A"/>
                  </a:gs>
                  <a:gs pos="8000">
                    <a:srgbClr val="56365C"/>
                  </a:gs>
                  <a:gs pos="60000">
                    <a:srgbClr val="E57BA3"/>
                  </a:gs>
                  <a:gs pos="85458">
                    <a:srgbClr val="EE7EA3"/>
                  </a:gs>
                  <a:gs pos="41000">
                    <a:srgbClr val="975FA2"/>
                  </a:gs>
                  <a:gs pos="100000">
                    <a:srgbClr val="FF84A4"/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4" name="平行四边形 13"/>
              <p:cNvSpPr/>
              <p:nvPr/>
            </p:nvSpPr>
            <p:spPr>
              <a:xfrm rot="5400000" flipH="1">
                <a:off x="1551452" y="4533056"/>
                <a:ext cx="4592786" cy="1080001"/>
              </a:xfrm>
              <a:prstGeom prst="parallelogram">
                <a:avLst>
                  <a:gd name="adj" fmla="val 51917"/>
                </a:avLst>
              </a:prstGeom>
              <a:gradFill flip="none" rotWithShape="1">
                <a:gsLst>
                  <a:gs pos="29000">
                    <a:srgbClr val="80508A"/>
                  </a:gs>
                  <a:gs pos="12000">
                    <a:srgbClr val="56365C"/>
                  </a:gs>
                  <a:gs pos="71000">
                    <a:srgbClr val="E57BA3"/>
                  </a:gs>
                  <a:gs pos="90000">
                    <a:srgbClr val="EE7EA3"/>
                  </a:gs>
                  <a:gs pos="49000">
                    <a:srgbClr val="975FA2"/>
                  </a:gs>
                  <a:gs pos="100000">
                    <a:srgbClr val="FF84A4"/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等线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15" name="组合 14"/>
            <p:cNvGrpSpPr/>
            <p:nvPr/>
          </p:nvGrpSpPr>
          <p:grpSpPr>
            <a:xfrm>
              <a:off x="9043309" y="2134960"/>
              <a:ext cx="2160000" cy="6543222"/>
              <a:chOff x="2228850" y="2214563"/>
              <a:chExt cx="2160000" cy="5162564"/>
            </a:xfrm>
          </p:grpSpPr>
          <p:sp>
            <p:nvSpPr>
              <p:cNvPr id="16" name="菱形 15"/>
              <p:cNvSpPr/>
              <p:nvPr/>
            </p:nvSpPr>
            <p:spPr>
              <a:xfrm>
                <a:off x="2228850" y="2214563"/>
                <a:ext cx="2160000" cy="847424"/>
              </a:xfrm>
              <a:prstGeom prst="diamond">
                <a:avLst/>
              </a:prstGeom>
              <a:gradFill flip="none" rotWithShape="1">
                <a:gsLst>
                  <a:gs pos="26000">
                    <a:srgbClr val="80508A"/>
                  </a:gs>
                  <a:gs pos="9000">
                    <a:srgbClr val="56365C"/>
                  </a:gs>
                  <a:gs pos="60000">
                    <a:srgbClr val="E57BA3"/>
                  </a:gs>
                  <a:gs pos="85458">
                    <a:srgbClr val="EE7EA3"/>
                  </a:gs>
                  <a:gs pos="41000">
                    <a:srgbClr val="975FA2"/>
                  </a:gs>
                  <a:gs pos="100000">
                    <a:srgbClr val="FF84A4"/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7" name="平行四边形 16"/>
              <p:cNvSpPr/>
              <p:nvPr/>
            </p:nvSpPr>
            <p:spPr>
              <a:xfrm rot="16200000">
                <a:off x="394744" y="4450324"/>
                <a:ext cx="4748212" cy="1080000"/>
              </a:xfrm>
              <a:prstGeom prst="parallelogram">
                <a:avLst>
                  <a:gd name="adj" fmla="val 53093"/>
                </a:avLst>
              </a:prstGeom>
              <a:gradFill flip="none" rotWithShape="1">
                <a:gsLst>
                  <a:gs pos="22000">
                    <a:srgbClr val="80508A"/>
                  </a:gs>
                  <a:gs pos="8000">
                    <a:srgbClr val="56365C"/>
                  </a:gs>
                  <a:gs pos="60000">
                    <a:srgbClr val="E57BA3"/>
                  </a:gs>
                  <a:gs pos="85458">
                    <a:srgbClr val="EE7EA3"/>
                  </a:gs>
                  <a:gs pos="41000">
                    <a:srgbClr val="975FA2"/>
                  </a:gs>
                  <a:gs pos="100000">
                    <a:srgbClr val="FF84A4"/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8" name="平行四边形 17"/>
              <p:cNvSpPr/>
              <p:nvPr/>
            </p:nvSpPr>
            <p:spPr>
              <a:xfrm rot="5400000" flipH="1">
                <a:off x="1473744" y="4463021"/>
                <a:ext cx="4748212" cy="1080000"/>
              </a:xfrm>
              <a:prstGeom prst="parallelogram">
                <a:avLst>
                  <a:gd name="adj" fmla="val 51917"/>
                </a:avLst>
              </a:prstGeom>
              <a:gradFill flip="none" rotWithShape="1">
                <a:gsLst>
                  <a:gs pos="29000">
                    <a:srgbClr val="80508A"/>
                  </a:gs>
                  <a:gs pos="12000">
                    <a:srgbClr val="56365C"/>
                  </a:gs>
                  <a:gs pos="71000">
                    <a:srgbClr val="E57BA3"/>
                  </a:gs>
                  <a:gs pos="90000">
                    <a:srgbClr val="EE7EA3"/>
                  </a:gs>
                  <a:gs pos="49000">
                    <a:srgbClr val="975FA2"/>
                  </a:gs>
                  <a:gs pos="100000">
                    <a:srgbClr val="FF84A4"/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等线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19" name="组合 18"/>
            <p:cNvGrpSpPr/>
            <p:nvPr/>
          </p:nvGrpSpPr>
          <p:grpSpPr>
            <a:xfrm>
              <a:off x="595085" y="2394858"/>
              <a:ext cx="1485995" cy="5316764"/>
              <a:chOff x="2228850" y="2242598"/>
              <a:chExt cx="2160000" cy="5134529"/>
            </a:xfrm>
          </p:grpSpPr>
          <p:sp>
            <p:nvSpPr>
              <p:cNvPr id="20" name="菱形 19"/>
              <p:cNvSpPr/>
              <p:nvPr/>
            </p:nvSpPr>
            <p:spPr>
              <a:xfrm>
                <a:off x="2228850" y="2242598"/>
                <a:ext cx="2160000" cy="770924"/>
              </a:xfrm>
              <a:prstGeom prst="diamond">
                <a:avLst/>
              </a:prstGeom>
              <a:noFill/>
              <a:ln>
                <a:solidFill>
                  <a:srgbClr val="56365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1" name="平行四边形 20"/>
              <p:cNvSpPr/>
              <p:nvPr/>
            </p:nvSpPr>
            <p:spPr>
              <a:xfrm rot="16200000">
                <a:off x="394744" y="4450324"/>
                <a:ext cx="4748212" cy="1080000"/>
              </a:xfrm>
              <a:prstGeom prst="parallelogram">
                <a:avLst>
                  <a:gd name="adj" fmla="val 53093"/>
                </a:avLst>
              </a:prstGeom>
              <a:noFill/>
              <a:ln>
                <a:solidFill>
                  <a:srgbClr val="56365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2" name="平行四边形 21"/>
              <p:cNvSpPr/>
              <p:nvPr/>
            </p:nvSpPr>
            <p:spPr>
              <a:xfrm rot="5400000" flipH="1">
                <a:off x="1473744" y="4463021"/>
                <a:ext cx="4748212" cy="1080000"/>
              </a:xfrm>
              <a:prstGeom prst="parallelogram">
                <a:avLst>
                  <a:gd name="adj" fmla="val 51917"/>
                </a:avLst>
              </a:prstGeom>
              <a:noFill/>
              <a:ln>
                <a:solidFill>
                  <a:srgbClr val="56365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等线" panose="02010600030101010101" pitchFamily="2" charset="-122"/>
                  <a:cs typeface="+mn-cs"/>
                </a:endParaRPr>
              </a:p>
            </p:txBody>
          </p:sp>
        </p:grpSp>
      </p:grpSp>
      <p:grpSp>
        <p:nvGrpSpPr>
          <p:cNvPr id="31" name="组合 30"/>
          <p:cNvGrpSpPr/>
          <p:nvPr/>
        </p:nvGrpSpPr>
        <p:grpSpPr>
          <a:xfrm>
            <a:off x="2136430" y="1171633"/>
            <a:ext cx="2881243" cy="914043"/>
            <a:chOff x="2136430" y="1171633"/>
            <a:chExt cx="2881243" cy="914043"/>
          </a:xfrm>
        </p:grpSpPr>
        <p:sp>
          <p:nvSpPr>
            <p:cNvPr id="23" name="文本框 22"/>
            <p:cNvSpPr txBox="1"/>
            <p:nvPr/>
          </p:nvSpPr>
          <p:spPr>
            <a:xfrm>
              <a:off x="2136430" y="1777899"/>
              <a:ext cx="288124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自进化系统整体框架的初步搭建</a:t>
              </a: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2326399" y="1171633"/>
              <a:ext cx="2501307" cy="4589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自进化系统</a:t>
              </a: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3048001" y="2540000"/>
            <a:ext cx="936000" cy="936000"/>
            <a:chOff x="3077029" y="2540000"/>
            <a:chExt cx="936000" cy="936000"/>
          </a:xfrm>
        </p:grpSpPr>
        <p:sp>
          <p:nvSpPr>
            <p:cNvPr id="25" name="泪滴形 24"/>
            <p:cNvSpPr/>
            <p:nvPr/>
          </p:nvSpPr>
          <p:spPr>
            <a:xfrm rot="8163337">
              <a:off x="3077029" y="2540000"/>
              <a:ext cx="936000" cy="936000"/>
            </a:xfrm>
            <a:prstGeom prst="teardrop">
              <a:avLst/>
            </a:prstGeom>
            <a:gradFill flip="none" rotWithShape="1">
              <a:gsLst>
                <a:gs pos="29000">
                  <a:srgbClr val="80508A"/>
                </a:gs>
                <a:gs pos="12000">
                  <a:srgbClr val="56365C"/>
                </a:gs>
                <a:gs pos="71000">
                  <a:srgbClr val="E57BA3"/>
                </a:gs>
                <a:gs pos="90000">
                  <a:srgbClr val="EE7EA3"/>
                </a:gs>
                <a:gs pos="49000">
                  <a:srgbClr val="975FA2"/>
                </a:gs>
                <a:gs pos="100000">
                  <a:srgbClr val="FF84A4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6" name="椭圆 25"/>
            <p:cNvSpPr/>
            <p:nvPr/>
          </p:nvSpPr>
          <p:spPr>
            <a:xfrm>
              <a:off x="3265716" y="2759507"/>
              <a:ext cx="540000" cy="54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6074003" y="4455885"/>
            <a:ext cx="540000" cy="540000"/>
            <a:chOff x="3077029" y="2540000"/>
            <a:chExt cx="936000" cy="936000"/>
          </a:xfrm>
        </p:grpSpPr>
        <p:sp>
          <p:nvSpPr>
            <p:cNvPr id="29" name="泪滴形 28"/>
            <p:cNvSpPr/>
            <p:nvPr/>
          </p:nvSpPr>
          <p:spPr>
            <a:xfrm rot="8163337">
              <a:off x="3077029" y="2540000"/>
              <a:ext cx="936000" cy="936000"/>
            </a:xfrm>
            <a:prstGeom prst="teardrop">
              <a:avLst/>
            </a:prstGeom>
            <a:gradFill flip="none" rotWithShape="1">
              <a:gsLst>
                <a:gs pos="29000">
                  <a:srgbClr val="80508A"/>
                </a:gs>
                <a:gs pos="12000">
                  <a:srgbClr val="56365C"/>
                </a:gs>
                <a:gs pos="71000">
                  <a:srgbClr val="E57BA3"/>
                </a:gs>
                <a:gs pos="90000">
                  <a:srgbClr val="EE7EA3"/>
                </a:gs>
                <a:gs pos="49000">
                  <a:srgbClr val="975FA2"/>
                </a:gs>
                <a:gs pos="100000">
                  <a:srgbClr val="FF84A4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3265716" y="2759507"/>
              <a:ext cx="540000" cy="54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4915917" y="2852082"/>
            <a:ext cx="2881243" cy="783271"/>
            <a:chOff x="2136431" y="1171633"/>
            <a:chExt cx="2881243" cy="783271"/>
          </a:xfrm>
        </p:grpSpPr>
        <p:sp>
          <p:nvSpPr>
            <p:cNvPr id="33" name="文本框 32"/>
            <p:cNvSpPr txBox="1"/>
            <p:nvPr/>
          </p:nvSpPr>
          <p:spPr>
            <a:xfrm>
              <a:off x="2136431" y="1647127"/>
              <a:ext cx="288124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多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Agent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架构及代码实现</a:t>
              </a: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2326399" y="1171633"/>
              <a:ext cx="2501307" cy="4589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Multi Agent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9789888" y="1705789"/>
            <a:ext cx="720000" cy="720000"/>
            <a:chOff x="3077029" y="2540000"/>
            <a:chExt cx="936000" cy="936000"/>
          </a:xfrm>
        </p:grpSpPr>
        <p:sp>
          <p:nvSpPr>
            <p:cNvPr id="36" name="泪滴形 35"/>
            <p:cNvSpPr/>
            <p:nvPr/>
          </p:nvSpPr>
          <p:spPr>
            <a:xfrm rot="8163337">
              <a:off x="3077029" y="2540000"/>
              <a:ext cx="936000" cy="936000"/>
            </a:xfrm>
            <a:prstGeom prst="teardrop">
              <a:avLst/>
            </a:prstGeom>
            <a:gradFill flip="none" rotWithShape="1">
              <a:gsLst>
                <a:gs pos="29000">
                  <a:srgbClr val="80508A"/>
                </a:gs>
                <a:gs pos="12000">
                  <a:srgbClr val="56365C"/>
                </a:gs>
                <a:gs pos="71000">
                  <a:srgbClr val="E57BA3"/>
                </a:gs>
                <a:gs pos="90000">
                  <a:srgbClr val="EE7EA3"/>
                </a:gs>
                <a:gs pos="49000">
                  <a:srgbClr val="975FA2"/>
                </a:gs>
                <a:gs pos="100000">
                  <a:srgbClr val="FF84A4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7" name="椭圆 36"/>
            <p:cNvSpPr/>
            <p:nvPr/>
          </p:nvSpPr>
          <p:spPr>
            <a:xfrm>
              <a:off x="3265716" y="2759507"/>
              <a:ext cx="540000" cy="54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8725919" y="464480"/>
            <a:ext cx="2881243" cy="783271"/>
            <a:chOff x="2136431" y="1171633"/>
            <a:chExt cx="2881243" cy="783271"/>
          </a:xfrm>
        </p:grpSpPr>
        <p:sp>
          <p:nvSpPr>
            <p:cNvPr id="39" name="文本框 38"/>
            <p:cNvSpPr txBox="1"/>
            <p:nvPr/>
          </p:nvSpPr>
          <p:spPr>
            <a:xfrm>
              <a:off x="2136431" y="1647127"/>
              <a:ext cx="288124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三层记忆架构设计及初步配置</a:t>
              </a: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2326399" y="1171633"/>
              <a:ext cx="2501307" cy="4589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记忆管理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D8A85E8A-D768-004A-877F-F08E2AAC3FA6}"/>
              </a:ext>
            </a:extLst>
          </p:cNvPr>
          <p:cNvGrpSpPr/>
          <p:nvPr/>
        </p:nvGrpSpPr>
        <p:grpSpPr>
          <a:xfrm>
            <a:off x="485775" y="374650"/>
            <a:ext cx="2885440" cy="551180"/>
            <a:chOff x="449" y="450"/>
            <a:chExt cx="4544" cy="868"/>
          </a:xfrm>
        </p:grpSpPr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64DC5CCB-E0B8-CB23-9F92-AAC203690F92}"/>
                </a:ext>
              </a:extLst>
            </p:cNvPr>
            <p:cNvGrpSpPr/>
            <p:nvPr/>
          </p:nvGrpSpPr>
          <p:grpSpPr>
            <a:xfrm>
              <a:off x="449" y="450"/>
              <a:ext cx="887" cy="869"/>
              <a:chOff x="257122" y="251474"/>
              <a:chExt cx="563036" cy="551755"/>
            </a:xfrm>
          </p:grpSpPr>
          <p:sp>
            <p:nvSpPr>
              <p:cNvPr id="55" name="椭圆 54">
                <a:extLst>
                  <a:ext uri="{FF2B5EF4-FFF2-40B4-BE49-F238E27FC236}">
                    <a16:creationId xmlns:a16="http://schemas.microsoft.com/office/drawing/2014/main" id="{EFD90FFA-60F6-B606-CDB5-302152DD7B06}"/>
                  </a:ext>
                </a:extLst>
              </p:cNvPr>
              <p:cNvSpPr/>
              <p:nvPr/>
            </p:nvSpPr>
            <p:spPr>
              <a:xfrm>
                <a:off x="689634" y="705466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等线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56" name="椭圆 55">
                <a:extLst>
                  <a:ext uri="{FF2B5EF4-FFF2-40B4-BE49-F238E27FC236}">
                    <a16:creationId xmlns:a16="http://schemas.microsoft.com/office/drawing/2014/main" id="{24C272C0-546F-4B02-FF10-E0E55A1579E3}"/>
                  </a:ext>
                </a:extLst>
              </p:cNvPr>
              <p:cNvSpPr/>
              <p:nvPr/>
            </p:nvSpPr>
            <p:spPr>
              <a:xfrm>
                <a:off x="257122" y="538113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等线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36A3F18F-7F74-B4EC-36D3-F573E591342D}"/>
                  </a:ext>
                </a:extLst>
              </p:cNvPr>
              <p:cNvSpPr/>
              <p:nvPr/>
            </p:nvSpPr>
            <p:spPr>
              <a:xfrm>
                <a:off x="289926" y="272997"/>
                <a:ext cx="530232" cy="530232"/>
              </a:xfrm>
              <a:prstGeom prst="ellipse">
                <a:avLst/>
              </a:prstGeom>
              <a:noFill/>
              <a:ln w="3175">
                <a:solidFill>
                  <a:srgbClr val="2BA89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等线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717B7F0B-95EC-42F1-86E2-86BB9815EAE9}"/>
                  </a:ext>
                </a:extLst>
              </p:cNvPr>
              <p:cNvSpPr/>
              <p:nvPr/>
            </p:nvSpPr>
            <p:spPr>
              <a:xfrm>
                <a:off x="620885" y="251474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等线" panose="02010600030101010101" pitchFamily="2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D7E0C401-C68D-A2CF-617F-01BC5638420F}"/>
                </a:ext>
              </a:extLst>
            </p:cNvPr>
            <p:cNvSpPr txBox="1"/>
            <p:nvPr/>
          </p:nvSpPr>
          <p:spPr>
            <a:xfrm>
              <a:off x="1477" y="576"/>
              <a:ext cx="3517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000" b="1">
                  <a:solidFill>
                    <a:srgbClr val="2BA89C"/>
                  </a:solidFill>
                  <a:latin typeface="Arial"/>
                  <a:ea typeface="微软雅黑"/>
                  <a:cs typeface="+mn-ea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2BA89C"/>
                  </a:solidFill>
                  <a:effectLst/>
                  <a:uLnTx/>
                  <a:uFillTx/>
                  <a:latin typeface="Calibri"/>
                  <a:ea typeface="等线" panose="02010600030101010101" pitchFamily="2" charset="-122"/>
                  <a:sym typeface="+mn-lt"/>
                </a:rPr>
                <a:t>项目进展</a:t>
              </a:r>
            </a:p>
          </p:txBody>
        </p:sp>
      </p:grpSp>
      <p:sp>
        <p:nvSpPr>
          <p:cNvPr id="59" name="Rectangle 10">
            <a:extLst>
              <a:ext uri="{FF2B5EF4-FFF2-40B4-BE49-F238E27FC236}">
                <a16:creationId xmlns:a16="http://schemas.microsoft.com/office/drawing/2014/main" id="{B4949FCA-125A-DB34-B720-0C3101CF0402}"/>
              </a:ext>
            </a:extLst>
          </p:cNvPr>
          <p:cNvSpPr/>
          <p:nvPr/>
        </p:nvSpPr>
        <p:spPr>
          <a:xfrm>
            <a:off x="0" y="6141575"/>
            <a:ext cx="12191999" cy="716424"/>
          </a:xfrm>
          <a:prstGeom prst="rect">
            <a:avLst/>
          </a:prstGeom>
          <a:gradFill>
            <a:gsLst>
              <a:gs pos="0">
                <a:srgbClr val="2BA89C"/>
              </a:gs>
              <a:gs pos="83000">
                <a:srgbClr val="0E4B7A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+mn-lt"/>
            </a:endParaRPr>
          </a:p>
        </p:txBody>
      </p:sp>
      <p:sp>
        <p:nvSpPr>
          <p:cNvPr id="60" name="Freeform 15">
            <a:extLst>
              <a:ext uri="{FF2B5EF4-FFF2-40B4-BE49-F238E27FC236}">
                <a16:creationId xmlns:a16="http://schemas.microsoft.com/office/drawing/2014/main" id="{81CF381A-6ACB-815B-770C-A9C98DFB6045}"/>
              </a:ext>
            </a:extLst>
          </p:cNvPr>
          <p:cNvSpPr/>
          <p:nvPr/>
        </p:nvSpPr>
        <p:spPr bwMode="auto">
          <a:xfrm rot="5400000">
            <a:off x="11658276" y="6409809"/>
            <a:ext cx="321489" cy="200149"/>
          </a:xfrm>
          <a:custGeom>
            <a:avLst/>
            <a:gdLst>
              <a:gd name="T0" fmla="*/ 167 w 334"/>
              <a:gd name="T1" fmla="*/ 0 h 206"/>
              <a:gd name="T2" fmla="*/ 195 w 334"/>
              <a:gd name="T3" fmla="*/ 12 h 206"/>
              <a:gd name="T4" fmla="*/ 318 w 334"/>
              <a:gd name="T5" fmla="*/ 134 h 206"/>
              <a:gd name="T6" fmla="*/ 318 w 334"/>
              <a:gd name="T7" fmla="*/ 191 h 206"/>
              <a:gd name="T8" fmla="*/ 261 w 334"/>
              <a:gd name="T9" fmla="*/ 191 h 206"/>
              <a:gd name="T10" fmla="*/ 167 w 334"/>
              <a:gd name="T11" fmla="*/ 96 h 206"/>
              <a:gd name="T12" fmla="*/ 73 w 334"/>
              <a:gd name="T13" fmla="*/ 191 h 206"/>
              <a:gd name="T14" fmla="*/ 16 w 334"/>
              <a:gd name="T15" fmla="*/ 191 h 206"/>
              <a:gd name="T16" fmla="*/ 16 w 334"/>
              <a:gd name="T17" fmla="*/ 134 h 206"/>
              <a:gd name="T18" fmla="*/ 139 w 334"/>
              <a:gd name="T19" fmla="*/ 12 h 206"/>
              <a:gd name="T20" fmla="*/ 167 w 334"/>
              <a:gd name="T21" fmla="*/ 0 h 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34" h="206">
                <a:moveTo>
                  <a:pt x="167" y="0"/>
                </a:moveTo>
                <a:cubicBezTo>
                  <a:pt x="177" y="0"/>
                  <a:pt x="188" y="4"/>
                  <a:pt x="195" y="12"/>
                </a:cubicBezTo>
                <a:cubicBezTo>
                  <a:pt x="318" y="134"/>
                  <a:pt x="318" y="134"/>
                  <a:pt x="318" y="134"/>
                </a:cubicBezTo>
                <a:cubicBezTo>
                  <a:pt x="334" y="150"/>
                  <a:pt x="334" y="175"/>
                  <a:pt x="318" y="191"/>
                </a:cubicBezTo>
                <a:cubicBezTo>
                  <a:pt x="302" y="206"/>
                  <a:pt x="277" y="206"/>
                  <a:pt x="261" y="191"/>
                </a:cubicBezTo>
                <a:cubicBezTo>
                  <a:pt x="167" y="96"/>
                  <a:pt x="167" y="96"/>
                  <a:pt x="167" y="96"/>
                </a:cubicBezTo>
                <a:cubicBezTo>
                  <a:pt x="73" y="191"/>
                  <a:pt x="73" y="191"/>
                  <a:pt x="73" y="191"/>
                </a:cubicBezTo>
                <a:cubicBezTo>
                  <a:pt x="57" y="206"/>
                  <a:pt x="32" y="206"/>
                  <a:pt x="16" y="191"/>
                </a:cubicBezTo>
                <a:cubicBezTo>
                  <a:pt x="0" y="175"/>
                  <a:pt x="0" y="150"/>
                  <a:pt x="16" y="134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47" y="4"/>
                  <a:pt x="157" y="0"/>
                  <a:pt x="167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Calibri"/>
              <a:ea typeface="+mn-ea"/>
              <a:cs typeface="+mn-cs"/>
              <a:sym typeface="+mn-lt"/>
            </a:endParaRPr>
          </a:p>
        </p:txBody>
      </p:sp>
      <p:sp>
        <p:nvSpPr>
          <p:cNvPr id="61" name="Freeform 15">
            <a:extLst>
              <a:ext uri="{FF2B5EF4-FFF2-40B4-BE49-F238E27FC236}">
                <a16:creationId xmlns:a16="http://schemas.microsoft.com/office/drawing/2014/main" id="{0F0CD724-81AA-3114-995B-B12AC952F336}"/>
              </a:ext>
            </a:extLst>
          </p:cNvPr>
          <p:cNvSpPr/>
          <p:nvPr/>
        </p:nvSpPr>
        <p:spPr bwMode="auto">
          <a:xfrm rot="16200000">
            <a:off x="183412" y="6409809"/>
            <a:ext cx="321489" cy="200149"/>
          </a:xfrm>
          <a:custGeom>
            <a:avLst/>
            <a:gdLst>
              <a:gd name="T0" fmla="*/ 167 w 334"/>
              <a:gd name="T1" fmla="*/ 0 h 206"/>
              <a:gd name="T2" fmla="*/ 195 w 334"/>
              <a:gd name="T3" fmla="*/ 12 h 206"/>
              <a:gd name="T4" fmla="*/ 318 w 334"/>
              <a:gd name="T5" fmla="*/ 134 h 206"/>
              <a:gd name="T6" fmla="*/ 318 w 334"/>
              <a:gd name="T7" fmla="*/ 191 h 206"/>
              <a:gd name="T8" fmla="*/ 261 w 334"/>
              <a:gd name="T9" fmla="*/ 191 h 206"/>
              <a:gd name="T10" fmla="*/ 167 w 334"/>
              <a:gd name="T11" fmla="*/ 96 h 206"/>
              <a:gd name="T12" fmla="*/ 73 w 334"/>
              <a:gd name="T13" fmla="*/ 191 h 206"/>
              <a:gd name="T14" fmla="*/ 16 w 334"/>
              <a:gd name="T15" fmla="*/ 191 h 206"/>
              <a:gd name="T16" fmla="*/ 16 w 334"/>
              <a:gd name="T17" fmla="*/ 134 h 206"/>
              <a:gd name="T18" fmla="*/ 139 w 334"/>
              <a:gd name="T19" fmla="*/ 12 h 206"/>
              <a:gd name="T20" fmla="*/ 167 w 334"/>
              <a:gd name="T21" fmla="*/ 0 h 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34" h="206">
                <a:moveTo>
                  <a:pt x="167" y="0"/>
                </a:moveTo>
                <a:cubicBezTo>
                  <a:pt x="177" y="0"/>
                  <a:pt x="188" y="4"/>
                  <a:pt x="195" y="12"/>
                </a:cubicBezTo>
                <a:cubicBezTo>
                  <a:pt x="318" y="134"/>
                  <a:pt x="318" y="134"/>
                  <a:pt x="318" y="134"/>
                </a:cubicBezTo>
                <a:cubicBezTo>
                  <a:pt x="334" y="150"/>
                  <a:pt x="334" y="175"/>
                  <a:pt x="318" y="191"/>
                </a:cubicBezTo>
                <a:cubicBezTo>
                  <a:pt x="302" y="206"/>
                  <a:pt x="277" y="206"/>
                  <a:pt x="261" y="191"/>
                </a:cubicBezTo>
                <a:cubicBezTo>
                  <a:pt x="167" y="96"/>
                  <a:pt x="167" y="96"/>
                  <a:pt x="167" y="96"/>
                </a:cubicBezTo>
                <a:cubicBezTo>
                  <a:pt x="73" y="191"/>
                  <a:pt x="73" y="191"/>
                  <a:pt x="73" y="191"/>
                </a:cubicBezTo>
                <a:cubicBezTo>
                  <a:pt x="57" y="206"/>
                  <a:pt x="32" y="206"/>
                  <a:pt x="16" y="191"/>
                </a:cubicBezTo>
                <a:cubicBezTo>
                  <a:pt x="0" y="175"/>
                  <a:pt x="0" y="150"/>
                  <a:pt x="16" y="134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47" y="4"/>
                  <a:pt x="157" y="0"/>
                  <a:pt x="167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Calibri"/>
              <a:ea typeface="+mn-ea"/>
              <a:cs typeface="+mn-cs"/>
              <a:sym typeface="+mn-lt"/>
            </a:endParaRPr>
          </a:p>
        </p:txBody>
      </p:sp>
      <p:sp>
        <p:nvSpPr>
          <p:cNvPr id="62" name="Rectangle 8">
            <a:extLst>
              <a:ext uri="{FF2B5EF4-FFF2-40B4-BE49-F238E27FC236}">
                <a16:creationId xmlns:a16="http://schemas.microsoft.com/office/drawing/2014/main" id="{1633D3AC-3F81-3142-7D82-5F0146248CA9}"/>
              </a:ext>
            </a:extLst>
          </p:cNvPr>
          <p:cNvSpPr/>
          <p:nvPr/>
        </p:nvSpPr>
        <p:spPr>
          <a:xfrm>
            <a:off x="0" y="5915874"/>
            <a:ext cx="12191999" cy="225701"/>
          </a:xfrm>
          <a:prstGeom prst="rect">
            <a:avLst/>
          </a:prstGeom>
          <a:solidFill>
            <a:schemeClr val="bg1"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+mn-lt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B0646FD6-6CB5-0943-1A6D-13745C65E0E6}"/>
              </a:ext>
            </a:extLst>
          </p:cNvPr>
          <p:cNvSpPr txBox="1"/>
          <p:nvPr/>
        </p:nvSpPr>
        <p:spPr>
          <a:xfrm>
            <a:off x="3718567" y="6307823"/>
            <a:ext cx="89627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面向智能客服的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AI Agent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血糖管理自进化系统</a:t>
            </a:r>
            <a:endParaRPr kumimoji="0" lang="zh-CN" altLang="en-US" sz="7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64" name="图片 63">
            <a:extLst>
              <a:ext uri="{FF2B5EF4-FFF2-40B4-BE49-F238E27FC236}">
                <a16:creationId xmlns:a16="http://schemas.microsoft.com/office/drawing/2014/main" id="{49520722-C506-3829-A1C3-60DEBDA78C7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lum bright="70000" contrast="-70000"/>
          </a:blip>
          <a:srcRect/>
          <a:stretch>
            <a:fillRect/>
          </a:stretch>
        </p:blipFill>
        <p:spPr>
          <a:xfrm>
            <a:off x="3027355" y="6411765"/>
            <a:ext cx="329019" cy="340455"/>
          </a:xfrm>
          <a:prstGeom prst="rect">
            <a:avLst/>
          </a:prstGeom>
        </p:spPr>
      </p:pic>
      <p:pic>
        <p:nvPicPr>
          <p:cNvPr id="65" name="图片 64">
            <a:extLst>
              <a:ext uri="{FF2B5EF4-FFF2-40B4-BE49-F238E27FC236}">
                <a16:creationId xmlns:a16="http://schemas.microsoft.com/office/drawing/2014/main" id="{34CEA293-4FF3-59CC-2888-F4DA02FD042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lum bright="70000" contrast="-70000"/>
          </a:blip>
          <a:srcRect/>
          <a:stretch>
            <a:fillRect/>
          </a:stretch>
        </p:blipFill>
        <p:spPr>
          <a:xfrm>
            <a:off x="2606185" y="6211574"/>
            <a:ext cx="532232" cy="550732"/>
          </a:xfrm>
          <a:prstGeom prst="rect">
            <a:avLst/>
          </a:prstGeom>
        </p:spPr>
      </p:pic>
      <p:pic>
        <p:nvPicPr>
          <p:cNvPr id="66" name="图片 65">
            <a:extLst>
              <a:ext uri="{FF2B5EF4-FFF2-40B4-BE49-F238E27FC236}">
                <a16:creationId xmlns:a16="http://schemas.microsoft.com/office/drawing/2014/main" id="{E9B5FE27-BE62-8414-F733-AA80B29B522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lum bright="70000" contrast="-70000"/>
          </a:blip>
          <a:srcRect/>
          <a:stretch>
            <a:fillRect/>
          </a:stretch>
        </p:blipFill>
        <p:spPr>
          <a:xfrm>
            <a:off x="1673392" y="6398159"/>
            <a:ext cx="329019" cy="3404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em0canir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第一PPT，www.1ppt.com">
  <a:themeElements>
    <a:clrScheme name="自定义 2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3E3E3E"/>
      </a:accent1>
      <a:accent2>
        <a:srgbClr val="4D4D4D"/>
      </a:accent2>
      <a:accent3>
        <a:srgbClr val="717171"/>
      </a:accent3>
      <a:accent4>
        <a:srgbClr val="919191"/>
      </a:accent4>
      <a:accent5>
        <a:srgbClr val="A5A5A5"/>
      </a:accent5>
      <a:accent6>
        <a:srgbClr val="D7D7D7"/>
      </a:accent6>
      <a:hlink>
        <a:srgbClr val="3E3E3E"/>
      </a:hlink>
      <a:folHlink>
        <a:srgbClr val="BFBFBF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主题5">
  <a:themeElements>
    <a:clrScheme name="自定义 36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D1B64D"/>
      </a:accent1>
      <a:accent2>
        <a:srgbClr val="AAA38E"/>
      </a:accent2>
      <a:accent3>
        <a:srgbClr val="857D64"/>
      </a:accent3>
      <a:accent4>
        <a:srgbClr val="5E759C"/>
      </a:accent4>
      <a:accent5>
        <a:srgbClr val="8496B0"/>
      </a:accent5>
      <a:accent6>
        <a:srgbClr val="44546A"/>
      </a:accent6>
      <a:hlink>
        <a:srgbClr val="0563C1"/>
      </a:hlink>
      <a:folHlink>
        <a:srgbClr val="954F72"/>
      </a:folHlink>
    </a:clrScheme>
    <a:fontScheme name="em0canir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自定义 2">
    <a:dk1>
      <a:srgbClr val="000000"/>
    </a:dk1>
    <a:lt1>
      <a:srgbClr val="FFFFFF"/>
    </a:lt1>
    <a:dk2>
      <a:srgbClr val="768395"/>
    </a:dk2>
    <a:lt2>
      <a:srgbClr val="F0F0F0"/>
    </a:lt2>
    <a:accent1>
      <a:srgbClr val="3E3E3E"/>
    </a:accent1>
    <a:accent2>
      <a:srgbClr val="4D4D4D"/>
    </a:accent2>
    <a:accent3>
      <a:srgbClr val="717171"/>
    </a:accent3>
    <a:accent4>
      <a:srgbClr val="919191"/>
    </a:accent4>
    <a:accent5>
      <a:srgbClr val="A5A5A5"/>
    </a:accent5>
    <a:accent6>
      <a:srgbClr val="D7D7D7"/>
    </a:accent6>
    <a:hlink>
      <a:srgbClr val="3E3E3E"/>
    </a:hlink>
    <a:folHlink>
      <a:srgbClr val="BFBFB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332</Words>
  <Application>Microsoft Office PowerPoint</Application>
  <PresentationFormat>宽屏</PresentationFormat>
  <Paragraphs>99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6</vt:i4>
      </vt:variant>
    </vt:vector>
  </HeadingPairs>
  <TitlesOfParts>
    <vt:vector size="18" baseType="lpstr">
      <vt:lpstr>Lato Hairline</vt:lpstr>
      <vt:lpstr>Lato Regular</vt:lpstr>
      <vt:lpstr>等线</vt:lpstr>
      <vt:lpstr>宋体</vt:lpstr>
      <vt:lpstr>微软雅黑</vt:lpstr>
      <vt:lpstr>Arial</vt:lpstr>
      <vt:lpstr>Calibri</vt:lpstr>
      <vt:lpstr>Lato Light</vt:lpstr>
      <vt:lpstr>OCR A Extended</vt:lpstr>
      <vt:lpstr>第一PPT，www.1ppt.com</vt:lpstr>
      <vt:lpstr>1_第一PPT，www.1ppt.com</vt:lpstr>
      <vt:lpstr>主题5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孺 舒</dc:creator>
  <cp:lastModifiedBy>孺 舒</cp:lastModifiedBy>
  <cp:revision>1</cp:revision>
  <dcterms:created xsi:type="dcterms:W3CDTF">2026-03-25T16:40:25Z</dcterms:created>
  <dcterms:modified xsi:type="dcterms:W3CDTF">2026-03-25T16:41:33Z</dcterms:modified>
</cp:coreProperties>
</file>