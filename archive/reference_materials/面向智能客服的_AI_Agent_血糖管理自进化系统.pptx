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43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479256" y="0"/>
            <a:ext cx="7144" cy="514350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5" name="Text 2"/>
          <p:cNvSpPr/>
          <p:nvPr/>
        </p:nvSpPr>
        <p:spPr>
          <a:xfrm>
            <a:off x="571500" y="714375"/>
            <a:ext cx="2032397" cy="292894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kern="0" spc="2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天津大学宣怀学院 · 课程项目</a:t>
            </a:r>
            <a:endParaRPr lang="en-US" sz="835" dirty="0"/>
          </a:p>
        </p:txBody>
      </p:sp>
      <p:sp>
        <p:nvSpPr>
          <p:cNvPr id="6" name="Text 3"/>
          <p:cNvSpPr/>
          <p:nvPr/>
        </p:nvSpPr>
        <p:spPr>
          <a:xfrm>
            <a:off x="571500" y="1178719"/>
            <a:ext cx="4343400" cy="16458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面向智能客服的</a:t>
            </a:r>
            <a:r>
              <a:rPr lang="en-US" sz="32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329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</a:t>
            </a:r>
            <a:r>
              <a:rPr lang="en-US" sz="32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329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血糖管理自进化系统</a:t>
            </a:r>
            <a:endParaRPr lang="en-US" sz="3295" dirty="0"/>
          </a:p>
        </p:txBody>
      </p:sp>
      <p:sp>
        <p:nvSpPr>
          <p:cNvPr id="7" name="Text 4"/>
          <p:cNvSpPr/>
          <p:nvPr/>
        </p:nvSpPr>
        <p:spPr>
          <a:xfrm>
            <a:off x="571500" y="3053172"/>
            <a:ext cx="4343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阶段汇报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4004072"/>
            <a:ext cx="434340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2026-03-27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571500" y="4259461"/>
            <a:ext cx="434340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Report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1" name="Shape 8"/>
          <p:cNvSpPr/>
          <p:nvPr/>
        </p:nvSpPr>
        <p:spPr>
          <a:xfrm>
            <a:off x="6243638" y="1500188"/>
            <a:ext cx="2143125" cy="2143125"/>
          </a:xfrm>
          <a:prstGeom prst="ellipse">
            <a:avLst/>
          </a:prstGeom>
          <a:solidFill>
            <a:srgbClr val="3B82F6">
              <a:alpha val="5000"/>
            </a:srgbClr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572250" y="1828800"/>
            <a:ext cx="1428750" cy="1428750"/>
          </a:xfrm>
          <a:prstGeom prst="ellipse">
            <a:avLst/>
          </a:prstGeom>
          <a:solidFill>
            <a:srgbClr val="10B981">
              <a:alpha val="5000"/>
            </a:srgbClr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3725" y="2200275"/>
            <a:ext cx="714375" cy="714375"/>
          </a:xfrm>
          <a:prstGeom prst="ellipse">
            <a:avLst/>
          </a:prstGeom>
          <a:solidFill>
            <a:srgbClr val="111827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4" name="Text 1"/>
          <p:cNvSpPr/>
          <p:nvPr/>
        </p:nvSpPr>
        <p:spPr>
          <a:xfrm>
            <a:off x="428625" y="571500"/>
            <a:ext cx="2343150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kern="0" spc="2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AGENDA</a:t>
            </a:r>
            <a:endParaRPr lang="en-US" sz="835" dirty="0"/>
          </a:p>
        </p:txBody>
      </p:sp>
      <p:sp>
        <p:nvSpPr>
          <p:cNvPr id="5" name="Text 2"/>
          <p:cNvSpPr/>
          <p:nvPr/>
        </p:nvSpPr>
        <p:spPr>
          <a:xfrm>
            <a:off x="428625" y="892969"/>
            <a:ext cx="2343150" cy="4114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</a:t>
            </a:r>
            <a:r>
              <a:rPr lang="en-US" sz="243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提纲</a:t>
            </a:r>
            <a:endParaRPr lang="en-US" sz="2435" dirty="0"/>
          </a:p>
        </p:txBody>
      </p:sp>
      <p:sp>
        <p:nvSpPr>
          <p:cNvPr id="6" name="Text 3"/>
          <p:cNvSpPr/>
          <p:nvPr/>
        </p:nvSpPr>
        <p:spPr>
          <a:xfrm>
            <a:off x="3771900" y="1228725"/>
            <a:ext cx="571500" cy="3018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705" dirty="0"/>
          </a:p>
        </p:txBody>
      </p:sp>
      <p:sp>
        <p:nvSpPr>
          <p:cNvPr id="7" name="Text 4"/>
          <p:cNvSpPr/>
          <p:nvPr/>
        </p:nvSpPr>
        <p:spPr>
          <a:xfrm>
            <a:off x="4343400" y="1214438"/>
            <a:ext cx="2057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项目背景与选题理由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71900" y="2023467"/>
            <a:ext cx="571500" cy="3018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705" dirty="0"/>
          </a:p>
        </p:txBody>
      </p:sp>
      <p:sp>
        <p:nvSpPr>
          <p:cNvPr id="9" name="Text 6"/>
          <p:cNvSpPr/>
          <p:nvPr/>
        </p:nvSpPr>
        <p:spPr>
          <a:xfrm>
            <a:off x="4343400" y="2009180"/>
            <a:ext cx="2057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系统架构与角色设计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71900" y="2818209"/>
            <a:ext cx="571500" cy="3018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705" dirty="0"/>
          </a:p>
        </p:txBody>
      </p:sp>
      <p:sp>
        <p:nvSpPr>
          <p:cNvPr id="11" name="Text 8"/>
          <p:cNvSpPr/>
          <p:nvPr/>
        </p:nvSpPr>
        <p:spPr>
          <a:xfrm>
            <a:off x="4343400" y="2803922"/>
            <a:ext cx="34290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核心创新：记忆管理与自进化路线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71900" y="3612952"/>
            <a:ext cx="571500" cy="3018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1705" dirty="0"/>
          </a:p>
        </p:txBody>
      </p:sp>
      <p:sp>
        <p:nvSpPr>
          <p:cNvPr id="13" name="Text 10"/>
          <p:cNvSpPr/>
          <p:nvPr/>
        </p:nvSpPr>
        <p:spPr>
          <a:xfrm>
            <a:off x="4343400" y="3598664"/>
            <a:ext cx="22860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当前进展与下阶段计划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0904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901898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337542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285750"/>
            <a:ext cx="36576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项目背景：为什么选择血糖管理场景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8625" y="1187648"/>
            <a:ext cx="1485621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1.4</a:t>
            </a:r>
            <a:r>
              <a:rPr lang="en-US" sz="243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亿</a:t>
            </a:r>
            <a:r>
              <a:rPr lang="en-US" sz="243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</a:t>
            </a:r>
            <a:endParaRPr lang="en-US" sz="4145" dirty="0"/>
          </a:p>
        </p:txBody>
      </p:sp>
      <p:sp>
        <p:nvSpPr>
          <p:cNvPr id="8" name="Text 5"/>
          <p:cNvSpPr/>
          <p:nvPr/>
        </p:nvSpPr>
        <p:spPr>
          <a:xfrm>
            <a:off x="2142846" y="1437680"/>
            <a:ext cx="3364985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中国糖尿病患者数量</a:t>
            </a:r>
            <a:r>
              <a:rPr lang="en-US" sz="10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血糖管理需求巨大且迫切，传统医疗模式面临严峻挑</a:t>
            </a:r>
            <a:r>
              <a:rPr lang="en-US" sz="105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42875" y="2694980"/>
            <a:ext cx="285750" cy="285750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42875" y="269498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P1</a:t>
            </a:r>
            <a:endParaRPr lang="en-US" sz="785" dirty="0"/>
          </a:p>
        </p:txBody>
      </p:sp>
      <p:sp>
        <p:nvSpPr>
          <p:cNvPr id="11" name="Text 8"/>
          <p:cNvSpPr/>
          <p:nvPr/>
        </p:nvSpPr>
        <p:spPr>
          <a:xfrm>
            <a:off x="142875" y="3123605"/>
            <a:ext cx="1688297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专家资源稀缺</a:t>
            </a:r>
            <a:endParaRPr lang="en-US" sz="985" dirty="0"/>
          </a:p>
        </p:txBody>
      </p:sp>
      <p:sp>
        <p:nvSpPr>
          <p:cNvPr id="12" name="Text 9"/>
          <p:cNvSpPr/>
          <p:nvPr/>
        </p:nvSpPr>
        <p:spPr>
          <a:xfrm>
            <a:off x="142875" y="3445073"/>
            <a:ext cx="1688297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内分泌科医生、营养师、药剂师数量有限，无法覆盖海量患者的日常高频咨询需求。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2124066" y="2694980"/>
            <a:ext cx="285750" cy="285750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124066" y="269498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P2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2124066" y="3123605"/>
            <a:ext cx="1688297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响应不及时</a:t>
            </a:r>
            <a:endParaRPr lang="en-US" sz="985" dirty="0"/>
          </a:p>
        </p:txBody>
      </p:sp>
      <p:sp>
        <p:nvSpPr>
          <p:cNvPr id="16" name="Text 13"/>
          <p:cNvSpPr/>
          <p:nvPr/>
        </p:nvSpPr>
        <p:spPr>
          <a:xfrm>
            <a:off x="2124066" y="3445073"/>
            <a:ext cx="1688297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患者的血糖波动、饮食疑问往往发生在非门诊时间，传统模式难以提供持续及时的响应。</a:t>
            </a:r>
            <a:endParaRPr lang="en-US" sz="835" dirty="0"/>
          </a:p>
        </p:txBody>
      </p:sp>
      <p:sp>
        <p:nvSpPr>
          <p:cNvPr id="17" name="Shape 14"/>
          <p:cNvSpPr/>
          <p:nvPr/>
        </p:nvSpPr>
        <p:spPr>
          <a:xfrm>
            <a:off x="4105256" y="2694980"/>
            <a:ext cx="285750" cy="285750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105256" y="269498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P3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4105256" y="3123605"/>
            <a:ext cx="1688297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管理不连续</a:t>
            </a:r>
            <a:endParaRPr lang="en-US" sz="985" dirty="0"/>
          </a:p>
        </p:txBody>
      </p:sp>
      <p:sp>
        <p:nvSpPr>
          <p:cNvPr id="20" name="Text 17"/>
          <p:cNvSpPr/>
          <p:nvPr/>
        </p:nvSpPr>
        <p:spPr>
          <a:xfrm>
            <a:off x="4105256" y="3445073"/>
            <a:ext cx="1688297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两次门诊之间缺乏持续的专业指导，患者的历史信息难以被有效追踪和动态利用。</a:t>
            </a:r>
            <a:endParaRPr lang="en-US" sz="835" dirty="0"/>
          </a:p>
        </p:txBody>
      </p:sp>
      <p:sp>
        <p:nvSpPr>
          <p:cNvPr id="21" name="Shape 18"/>
          <p:cNvSpPr/>
          <p:nvPr/>
        </p:nvSpPr>
        <p:spPr>
          <a:xfrm>
            <a:off x="5943600" y="901898"/>
            <a:ext cx="3200400" cy="4241602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22" name="Text 19"/>
          <p:cNvSpPr/>
          <p:nvPr/>
        </p:nvSpPr>
        <p:spPr>
          <a:xfrm>
            <a:off x="6229350" y="1155948"/>
            <a:ext cx="642938" cy="244673"/>
          </a:xfrm>
          <a:prstGeom prst="rect">
            <a:avLst/>
          </a:prstGeom>
          <a:noFill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2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选题逻辑</a:t>
            </a:r>
            <a:endParaRPr lang="en-US" sz="725" dirty="0"/>
          </a:p>
        </p:txBody>
      </p:sp>
      <p:sp>
        <p:nvSpPr>
          <p:cNvPr id="23" name="Text 20"/>
          <p:cNvSpPr/>
          <p:nvPr/>
        </p:nvSpPr>
        <p:spPr>
          <a:xfrm>
            <a:off x="6229350" y="1572071"/>
            <a:ext cx="2628900" cy="19801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血糖管理不是一次性问答，而是</a:t>
            </a: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</a:t>
            </a:r>
            <a:r>
              <a:rPr lang="en-US" sz="109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连续管理问题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这个场景天然需要：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长期上下文记忆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多角色专业协作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6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历史信息动态调用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6229350" y="3723652"/>
            <a:ext cx="2628900" cy="1165771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6229350" y="3723652"/>
            <a:ext cx="28575" cy="1165771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Text 23"/>
          <p:cNvSpPr/>
          <p:nvPr/>
        </p:nvSpPr>
        <p:spPr>
          <a:xfrm>
            <a:off x="6229350" y="3723652"/>
            <a:ext cx="2628900" cy="1165771"/>
          </a:xfrm>
          <a:prstGeom prst="rect">
            <a:avLst/>
          </a:prstGeom>
          <a:noFill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一句话核心：</a:t>
            </a:r>
            <a:r>
              <a:rPr lang="en-US" sz="94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4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我们选择血糖管理，不是为了炫技，而</a:t>
            </a:r>
            <a:r>
              <a:rPr lang="en-US" sz="94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是因为这个场景天然适合用多 Agent 协</a:t>
            </a:r>
            <a:r>
              <a:rPr lang="en-US" sz="94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作和长期记忆管理来解决。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0904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901898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337542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285750"/>
            <a:ext cx="306645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系统设计：多 Agent 协作架构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4313" y="1059061"/>
            <a:ext cx="1143000" cy="266105"/>
          </a:xfrm>
          <a:prstGeom prst="rect">
            <a:avLst/>
          </a:prstGeom>
          <a:noFill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角色</a:t>
            </a:r>
            <a:endParaRPr lang="en-US" sz="685" dirty="0"/>
          </a:p>
        </p:txBody>
      </p:sp>
      <p:sp>
        <p:nvSpPr>
          <p:cNvPr id="8" name="Text 5"/>
          <p:cNvSpPr/>
          <p:nvPr/>
        </p:nvSpPr>
        <p:spPr>
          <a:xfrm>
            <a:off x="1357313" y="1059061"/>
            <a:ext cx="857250" cy="266105"/>
          </a:xfrm>
          <a:prstGeom prst="rect">
            <a:avLst/>
          </a:prstGeom>
          <a:noFill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685" dirty="0"/>
          </a:p>
        </p:txBody>
      </p:sp>
      <p:sp>
        <p:nvSpPr>
          <p:cNvPr id="9" name="Text 6"/>
          <p:cNvSpPr/>
          <p:nvPr/>
        </p:nvSpPr>
        <p:spPr>
          <a:xfrm>
            <a:off x="2214563" y="1059061"/>
            <a:ext cx="3507581" cy="266105"/>
          </a:xfrm>
          <a:prstGeom prst="rect">
            <a:avLst/>
          </a:prstGeom>
          <a:noFill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核心职责</a:t>
            </a:r>
            <a:endParaRPr lang="en-US" sz="685" dirty="0"/>
          </a:p>
        </p:txBody>
      </p:sp>
      <p:sp>
        <p:nvSpPr>
          <p:cNvPr id="10" name="Text 7"/>
          <p:cNvSpPr/>
          <p:nvPr/>
        </p:nvSpPr>
        <p:spPr>
          <a:xfrm>
            <a:off x="614363" y="1396603"/>
            <a:ext cx="342900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主治医生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345579" y="1516596"/>
            <a:ext cx="880467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Primary / Foreman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1357313" y="1418369"/>
            <a:ext cx="557213" cy="196453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57313" y="1418369"/>
            <a:ext cx="557213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主要决策者</a:t>
            </a:r>
            <a:endParaRPr lang="en-US" sz="585" dirty="0"/>
          </a:p>
        </p:txBody>
      </p:sp>
      <p:sp>
        <p:nvSpPr>
          <p:cNvPr id="14" name="Text 11"/>
          <p:cNvSpPr/>
          <p:nvPr/>
        </p:nvSpPr>
        <p:spPr>
          <a:xfrm>
            <a:off x="2214563" y="1325166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统筹全局，综合专家意见，做出最终决策与输出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657225" y="1786607"/>
            <a:ext cx="257175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药剂师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526852" y="1906600"/>
            <a:ext cx="517922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Pharmacist</a:t>
            </a: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1357313" y="1808373"/>
            <a:ext cx="471488" cy="19645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57313" y="1808373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辅助决策</a:t>
            </a:r>
            <a:endParaRPr lang="en-US" sz="585" dirty="0"/>
          </a:p>
        </p:txBody>
      </p:sp>
      <p:sp>
        <p:nvSpPr>
          <p:cNvPr id="19" name="Text 16"/>
          <p:cNvSpPr/>
          <p:nvPr/>
        </p:nvSpPr>
        <p:spPr>
          <a:xfrm>
            <a:off x="2214563" y="1715170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分析用药方案，评估药物风险，提供调整建议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657225" y="2176611"/>
            <a:ext cx="257175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营养师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475059" y="2296604"/>
            <a:ext cx="621506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Nutritionist</a:t>
            </a:r>
            <a:endParaRPr lang="en-US" sz="620" dirty="0"/>
          </a:p>
        </p:txBody>
      </p:sp>
      <p:sp>
        <p:nvSpPr>
          <p:cNvPr id="22" name="Shape 19"/>
          <p:cNvSpPr/>
          <p:nvPr/>
        </p:nvSpPr>
        <p:spPr>
          <a:xfrm>
            <a:off x="1357313" y="2198377"/>
            <a:ext cx="471488" cy="19645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57313" y="2198377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辅助决策</a:t>
            </a:r>
            <a:endParaRPr lang="en-US" sz="585" dirty="0"/>
          </a:p>
        </p:txBody>
      </p:sp>
      <p:sp>
        <p:nvSpPr>
          <p:cNvPr id="24" name="Text 21"/>
          <p:cNvSpPr/>
          <p:nvPr/>
        </p:nvSpPr>
        <p:spPr>
          <a:xfrm>
            <a:off x="2214563" y="2105174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分析血糖数据，提供餐食搭配，预估血糖影响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571500" y="2566615"/>
            <a:ext cx="428625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代谢病医生</a:t>
            </a:r>
            <a:endParaRPr lang="en-US" sz="620" dirty="0"/>
          </a:p>
        </p:txBody>
      </p:sp>
      <p:sp>
        <p:nvSpPr>
          <p:cNvPr id="26" name="Text 23"/>
          <p:cNvSpPr/>
          <p:nvPr/>
        </p:nvSpPr>
        <p:spPr>
          <a:xfrm>
            <a:off x="630436" y="2686608"/>
            <a:ext cx="310753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Doctor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1357313" y="2588382"/>
            <a:ext cx="471488" cy="19645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357313" y="2588382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辅助决策</a:t>
            </a:r>
            <a:endParaRPr lang="en-US" sz="585" dirty="0"/>
          </a:p>
        </p:txBody>
      </p:sp>
      <p:sp>
        <p:nvSpPr>
          <p:cNvPr id="29" name="Text 26"/>
          <p:cNvSpPr/>
          <p:nvPr/>
        </p:nvSpPr>
        <p:spPr>
          <a:xfrm>
            <a:off x="2214563" y="2495178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评估代谢控制状况，识别并发症风险，给出诊疗建议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614363" y="2956620"/>
            <a:ext cx="342900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科普老师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578644" y="3076612"/>
            <a:ext cx="414338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Educator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1357313" y="2978386"/>
            <a:ext cx="471488" cy="196453"/>
          </a:xfrm>
          <a:prstGeom prst="rect">
            <a:avLst/>
          </a:prstGeom>
          <a:solidFill>
            <a:srgbClr val="6B7280">
              <a:alpha val="10000"/>
            </a:srgbClr>
          </a:solidFill>
          <a:ln w="9144">
            <a:solidFill>
              <a:srgbClr val="6B728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57313" y="2978386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拓展角色</a:t>
            </a:r>
            <a:endParaRPr lang="en-US" sz="585" dirty="0"/>
          </a:p>
        </p:txBody>
      </p:sp>
      <p:sp>
        <p:nvSpPr>
          <p:cNvPr id="34" name="Text 31"/>
          <p:cNvSpPr/>
          <p:nvPr/>
        </p:nvSpPr>
        <p:spPr>
          <a:xfrm>
            <a:off x="2214563" y="2885182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生成患者教育内容，提供健康知识支持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571500" y="3346624"/>
            <a:ext cx="428625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心理咨询师</a:t>
            </a:r>
            <a:endParaRPr lang="en-US" sz="620" dirty="0"/>
          </a:p>
        </p:txBody>
      </p:sp>
      <p:sp>
        <p:nvSpPr>
          <p:cNvPr id="36" name="Text 33"/>
          <p:cNvSpPr/>
          <p:nvPr/>
        </p:nvSpPr>
        <p:spPr>
          <a:xfrm>
            <a:off x="552748" y="3466616"/>
            <a:ext cx="466130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Counselor</a:t>
            </a:r>
            <a:endParaRPr lang="en-US" sz="620" dirty="0"/>
          </a:p>
        </p:txBody>
      </p:sp>
      <p:sp>
        <p:nvSpPr>
          <p:cNvPr id="37" name="Shape 34"/>
          <p:cNvSpPr/>
          <p:nvPr/>
        </p:nvSpPr>
        <p:spPr>
          <a:xfrm>
            <a:off x="1357313" y="3368390"/>
            <a:ext cx="471488" cy="196453"/>
          </a:xfrm>
          <a:prstGeom prst="rect">
            <a:avLst/>
          </a:prstGeom>
          <a:solidFill>
            <a:srgbClr val="6B7280">
              <a:alpha val="10000"/>
            </a:srgbClr>
          </a:solidFill>
          <a:ln w="9144">
            <a:solidFill>
              <a:srgbClr val="6B728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57313" y="3368390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拓展角色</a:t>
            </a:r>
            <a:endParaRPr lang="en-US" sz="585" dirty="0"/>
          </a:p>
        </p:txBody>
      </p:sp>
      <p:sp>
        <p:nvSpPr>
          <p:cNvPr id="39" name="Text 36"/>
          <p:cNvSpPr/>
          <p:nvPr/>
        </p:nvSpPr>
        <p:spPr>
          <a:xfrm>
            <a:off x="2214563" y="3275186"/>
            <a:ext cx="3507581" cy="390004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关注患者心理状态，发起心理干预或转诊建议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14363" y="3736628"/>
            <a:ext cx="342900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记忆管理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475059" y="3856620"/>
            <a:ext cx="621506" cy="11999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Memory Agent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1357313" y="3758394"/>
            <a:ext cx="471488" cy="196453"/>
          </a:xfrm>
          <a:prstGeom prst="rect">
            <a:avLst/>
          </a:prstGeom>
          <a:solidFill>
            <a:srgbClr val="111827">
              <a:alpha val="10000"/>
            </a:srgbClr>
          </a:solidFill>
          <a:ln w="9144">
            <a:solidFill>
              <a:srgbClr val="11182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57313" y="3758394"/>
            <a:ext cx="471488" cy="196453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系统治理</a:t>
            </a:r>
            <a:endParaRPr lang="en-US" sz="585" dirty="0"/>
          </a:p>
        </p:txBody>
      </p:sp>
      <p:sp>
        <p:nvSpPr>
          <p:cNvPr id="44" name="Text 41"/>
          <p:cNvSpPr/>
          <p:nvPr/>
        </p:nvSpPr>
        <p:spPr>
          <a:xfrm>
            <a:off x="2214563" y="3665190"/>
            <a:ext cx="3507581" cy="382860"/>
          </a:xfrm>
          <a:prstGeom prst="rect">
            <a:avLst/>
          </a:prstGeom>
          <a:noFill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统一管理三层记忆，负责上下文读取与关键事实写回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5943600" y="901898"/>
            <a:ext cx="3200400" cy="4241602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46" name="Text 43"/>
          <p:cNvSpPr/>
          <p:nvPr/>
        </p:nvSpPr>
        <p:spPr>
          <a:xfrm>
            <a:off x="6115050" y="1073348"/>
            <a:ext cx="2857500" cy="698609"/>
          </a:xfrm>
          <a:prstGeom prst="rect">
            <a:avLst/>
          </a:prstGeom>
          <a:noFill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系统由主治医生统筹全局，多位专家分工协作，记忆管理 Agent 独立负责上下文治理。角色之间有明确的主次分工与权限边界，不是简单的"角色堆砌"。</a:t>
            </a:r>
            <a:endParaRPr lang="en-US" sz="835" dirty="0"/>
          </a:p>
        </p:txBody>
      </p:sp>
      <p:sp>
        <p:nvSpPr>
          <p:cNvPr id="47" name="Text 44"/>
          <p:cNvSpPr/>
          <p:nvPr/>
        </p:nvSpPr>
        <p:spPr>
          <a:xfrm>
            <a:off x="6115050" y="1914832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Foreman 唯一</a:t>
            </a:r>
            <a:endParaRPr lang="en-US" sz="785" dirty="0"/>
          </a:p>
        </p:txBody>
      </p:sp>
      <p:sp>
        <p:nvSpPr>
          <p:cNvPr id="48" name="Text 45"/>
          <p:cNvSpPr/>
          <p:nvPr/>
        </p:nvSpPr>
        <p:spPr>
          <a:xfrm>
            <a:off x="6115050" y="2122001"/>
            <a:ext cx="2857500" cy="160734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确保治疗决策有明确最终责任人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6115050" y="2397035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辅助决策可质疑</a:t>
            </a:r>
            <a:endParaRPr lang="en-US" sz="785" dirty="0"/>
          </a:p>
        </p:txBody>
      </p:sp>
      <p:sp>
        <p:nvSpPr>
          <p:cNvPr id="50" name="Text 47"/>
          <p:cNvSpPr/>
          <p:nvPr/>
        </p:nvSpPr>
        <p:spPr>
          <a:xfrm>
            <a:off x="6115050" y="2604204"/>
            <a:ext cx="2857500" cy="160734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体现多学科协作中的制衡机制，提高决策质量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6115050" y="2879238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记忆 Agent 独立</a:t>
            </a:r>
            <a:endParaRPr lang="en-US" sz="785" dirty="0"/>
          </a:p>
        </p:txBody>
      </p:sp>
      <p:sp>
        <p:nvSpPr>
          <p:cNvPr id="52" name="Text 49"/>
          <p:cNvSpPr/>
          <p:nvPr/>
        </p:nvSpPr>
        <p:spPr>
          <a:xfrm>
            <a:off x="6115050" y="3086407"/>
            <a:ext cx="2857500" cy="160734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专注上下文治理，是系统的"记忆管家"而非业务专家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6115050" y="4194860"/>
            <a:ext cx="2857500" cy="77719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6115050" y="4194860"/>
            <a:ext cx="28575" cy="77719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5" name="Text 52"/>
          <p:cNvSpPr/>
          <p:nvPr/>
        </p:nvSpPr>
        <p:spPr>
          <a:xfrm>
            <a:off x="6115050" y="4194860"/>
            <a:ext cx="2857500" cy="777190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一句话核心：</a:t>
            </a:r>
            <a:r>
              <a:rPr lang="en-US" sz="835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5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我们的系统不是多个 Agent 并排放着，而是一个有</a:t>
            </a:r>
            <a:r>
              <a:rPr lang="en-US" sz="835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主次分工、有记忆治理的协作体系。</a:t>
            </a:r>
            <a:endParaRPr lang="en-US" sz="8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66167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266105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214313"/>
            <a:ext cx="398085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业务流程：记忆如何参与多 Agent 决策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759023"/>
            <a:ext cx="9144000" cy="480417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0" y="1232297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9" name="Text 6"/>
          <p:cNvSpPr/>
          <p:nvPr/>
        </p:nvSpPr>
        <p:spPr>
          <a:xfrm>
            <a:off x="0" y="759023"/>
            <a:ext cx="9144000" cy="480417"/>
          </a:xfrm>
          <a:prstGeom prst="rect">
            <a:avLst/>
          </a:prstGeom>
          <a:noFill/>
        </p:spPr>
        <p:txBody>
          <a:bodyPr wrap="square" lIns="510286" tIns="170053" rIns="510286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一次完整的血糖咨询，经历 7 个关键步骤。记忆模块在协作前提供上下文、在协作后写回关键事实，是整个流程的核心支撑。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214313" y="1403747"/>
            <a:ext cx="185023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01</a:t>
            </a:r>
            <a:endParaRPr lang="en-US" sz="685" dirty="0"/>
          </a:p>
        </p:txBody>
      </p:sp>
      <p:sp>
        <p:nvSpPr>
          <p:cNvPr id="11" name="Text 8"/>
          <p:cNvSpPr/>
          <p:nvPr/>
        </p:nvSpPr>
        <p:spPr>
          <a:xfrm>
            <a:off x="214313" y="1621631"/>
            <a:ext cx="1850231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用户发起咨询</a:t>
            </a:r>
            <a:endParaRPr lang="en-US" sz="985" dirty="0"/>
          </a:p>
        </p:txBody>
      </p:sp>
      <p:sp>
        <p:nvSpPr>
          <p:cNvPr id="12" name="Text 9"/>
          <p:cNvSpPr/>
          <p:nvPr/>
        </p:nvSpPr>
        <p:spPr>
          <a:xfrm>
            <a:off x="214313" y="1893094"/>
            <a:ext cx="18502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患者提交血糖相关问题、症状、饮食、用药或管理需求。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2286000" y="1232297"/>
            <a:ext cx="2286000" cy="1690390"/>
          </a:xfrm>
          <a:prstGeom prst="rect">
            <a:avLst/>
          </a:prstGeom>
          <a:solidFill>
            <a:srgbClr val="10B981">
              <a:alpha val="2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4564856" y="1232297"/>
            <a:ext cx="7144" cy="1690390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15" name="Shape 12"/>
          <p:cNvSpPr/>
          <p:nvPr/>
        </p:nvSpPr>
        <p:spPr>
          <a:xfrm>
            <a:off x="2286000" y="2915543"/>
            <a:ext cx="2286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16" name="Text 13"/>
          <p:cNvSpPr/>
          <p:nvPr/>
        </p:nvSpPr>
        <p:spPr>
          <a:xfrm>
            <a:off x="2500313" y="1403747"/>
            <a:ext cx="18573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02</a:t>
            </a:r>
            <a:endParaRPr lang="en-US" sz="685" dirty="0"/>
          </a:p>
        </p:txBody>
      </p:sp>
      <p:sp>
        <p:nvSpPr>
          <p:cNvPr id="17" name="Text 14"/>
          <p:cNvSpPr/>
          <p:nvPr/>
        </p:nvSpPr>
        <p:spPr>
          <a:xfrm>
            <a:off x="2500313" y="1621631"/>
            <a:ext cx="185737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读取三层记忆</a:t>
            </a:r>
            <a:endParaRPr lang="en-US" sz="985" dirty="0"/>
          </a:p>
        </p:txBody>
      </p:sp>
      <p:sp>
        <p:nvSpPr>
          <p:cNvPr id="18" name="Text 15"/>
          <p:cNvSpPr/>
          <p:nvPr/>
        </p:nvSpPr>
        <p:spPr>
          <a:xfrm>
            <a:off x="2500313" y="1893094"/>
            <a:ext cx="18573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主治医生向 Memory Agent 请求患者相关记忆：短期、中期、长期。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2500313" y="2567285"/>
            <a:ext cx="778669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00313" y="2567285"/>
            <a:ext cx="778669" cy="183952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Memory Agent</a:t>
            </a:r>
            <a:endParaRPr lang="en-US" sz="585" dirty="0"/>
          </a:p>
        </p:txBody>
      </p:sp>
      <p:sp>
        <p:nvSpPr>
          <p:cNvPr id="21" name="Shape 18"/>
          <p:cNvSpPr/>
          <p:nvPr/>
        </p:nvSpPr>
        <p:spPr>
          <a:xfrm>
            <a:off x="3321844" y="2567285"/>
            <a:ext cx="519708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21844" y="2567285"/>
            <a:ext cx="519708" cy="183952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Context</a:t>
            </a:r>
            <a:endParaRPr lang="en-US" sz="585" dirty="0"/>
          </a:p>
        </p:txBody>
      </p:sp>
      <p:sp>
        <p:nvSpPr>
          <p:cNvPr id="23" name="Shape 20"/>
          <p:cNvSpPr/>
          <p:nvPr/>
        </p:nvSpPr>
        <p:spPr>
          <a:xfrm>
            <a:off x="4572000" y="1232297"/>
            <a:ext cx="2286000" cy="1690390"/>
          </a:xfrm>
          <a:prstGeom prst="rect">
            <a:avLst/>
          </a:prstGeom>
          <a:solidFill>
            <a:srgbClr val="3B82F6">
              <a:alpha val="2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6850856" y="1232297"/>
            <a:ext cx="7144" cy="1690390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25" name="Shape 22"/>
          <p:cNvSpPr/>
          <p:nvPr/>
        </p:nvSpPr>
        <p:spPr>
          <a:xfrm>
            <a:off x="4572000" y="2915543"/>
            <a:ext cx="2286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26" name="Text 23"/>
          <p:cNvSpPr/>
          <p:nvPr/>
        </p:nvSpPr>
        <p:spPr>
          <a:xfrm>
            <a:off x="4786313" y="1403747"/>
            <a:ext cx="18573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03</a:t>
            </a:r>
            <a:endParaRPr lang="en-US" sz="685" dirty="0"/>
          </a:p>
        </p:txBody>
      </p:sp>
      <p:sp>
        <p:nvSpPr>
          <p:cNvPr id="27" name="Text 24"/>
          <p:cNvSpPr/>
          <p:nvPr/>
        </p:nvSpPr>
        <p:spPr>
          <a:xfrm>
            <a:off x="4786313" y="1621631"/>
            <a:ext cx="185737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并行咨询三位专家</a:t>
            </a:r>
            <a:endParaRPr lang="en-US" sz="985" dirty="0"/>
          </a:p>
        </p:txBody>
      </p:sp>
      <p:sp>
        <p:nvSpPr>
          <p:cNvPr id="28" name="Text 25"/>
          <p:cNvSpPr/>
          <p:nvPr/>
        </p:nvSpPr>
        <p:spPr>
          <a:xfrm>
            <a:off x="4786313" y="1893094"/>
            <a:ext cx="18573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三路并行推进，分析用药风险、提供餐食建议、评估控制状况。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4786313" y="2551212"/>
            <a:ext cx="414338" cy="196453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86313" y="2551212"/>
            <a:ext cx="414338" cy="196453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药剂师</a:t>
            </a:r>
            <a:endParaRPr lang="en-US" sz="585" dirty="0"/>
          </a:p>
        </p:txBody>
      </p:sp>
      <p:sp>
        <p:nvSpPr>
          <p:cNvPr id="31" name="Shape 28"/>
          <p:cNvSpPr/>
          <p:nvPr/>
        </p:nvSpPr>
        <p:spPr>
          <a:xfrm>
            <a:off x="5243513" y="2551212"/>
            <a:ext cx="414338" cy="196453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43513" y="2551212"/>
            <a:ext cx="414338" cy="196453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营养师</a:t>
            </a:r>
            <a:endParaRPr lang="en-US" sz="585" dirty="0"/>
          </a:p>
        </p:txBody>
      </p:sp>
      <p:sp>
        <p:nvSpPr>
          <p:cNvPr id="33" name="Shape 30"/>
          <p:cNvSpPr/>
          <p:nvPr/>
        </p:nvSpPr>
        <p:spPr>
          <a:xfrm>
            <a:off x="5700713" y="2551212"/>
            <a:ext cx="585788" cy="196453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00713" y="2551212"/>
            <a:ext cx="585788" cy="196453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代谢病医生</a:t>
            </a:r>
            <a:endParaRPr lang="en-US" sz="585" dirty="0"/>
          </a:p>
        </p:txBody>
      </p:sp>
      <p:sp>
        <p:nvSpPr>
          <p:cNvPr id="35" name="Text 32"/>
          <p:cNvSpPr/>
          <p:nvPr/>
        </p:nvSpPr>
        <p:spPr>
          <a:xfrm>
            <a:off x="7072313" y="1403747"/>
            <a:ext cx="18573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04</a:t>
            </a:r>
            <a:endParaRPr lang="en-US" sz="685" dirty="0"/>
          </a:p>
        </p:txBody>
      </p:sp>
      <p:sp>
        <p:nvSpPr>
          <p:cNvPr id="36" name="Text 33"/>
          <p:cNvSpPr/>
          <p:nvPr/>
        </p:nvSpPr>
        <p:spPr>
          <a:xfrm>
            <a:off x="7072313" y="1621631"/>
            <a:ext cx="185737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主治医生综合输出</a:t>
            </a:r>
            <a:endParaRPr lang="en-US" sz="985" dirty="0"/>
          </a:p>
        </p:txBody>
      </p:sp>
      <p:sp>
        <p:nvSpPr>
          <p:cNvPr id="37" name="Text 34"/>
          <p:cNvSpPr/>
          <p:nvPr/>
        </p:nvSpPr>
        <p:spPr>
          <a:xfrm>
            <a:off x="7072313" y="1893094"/>
            <a:ext cx="18573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整合专家意见，用患者可理解的语言表达，不暴露内部分工细节。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214313" y="3083421"/>
            <a:ext cx="185023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05</a:t>
            </a:r>
            <a:endParaRPr lang="en-US" sz="685" dirty="0"/>
          </a:p>
        </p:txBody>
      </p:sp>
      <p:sp>
        <p:nvSpPr>
          <p:cNvPr id="39" name="Text 36"/>
          <p:cNvSpPr/>
          <p:nvPr/>
        </p:nvSpPr>
        <p:spPr>
          <a:xfrm>
            <a:off x="214313" y="3301305"/>
            <a:ext cx="1850231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输出给用户</a:t>
            </a:r>
            <a:endParaRPr lang="en-US" sz="985" dirty="0"/>
          </a:p>
        </p:txBody>
      </p:sp>
      <p:sp>
        <p:nvSpPr>
          <p:cNvPr id="40" name="Text 37"/>
          <p:cNvSpPr/>
          <p:nvPr/>
        </p:nvSpPr>
        <p:spPr>
          <a:xfrm>
            <a:off x="214313" y="3572768"/>
            <a:ext cx="18502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向患者提供综合建议与特别提醒，完成本轮直接交互。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2286000" y="2911971"/>
            <a:ext cx="2286000" cy="1681460"/>
          </a:xfrm>
          <a:prstGeom prst="rect">
            <a:avLst/>
          </a:prstGeom>
          <a:solidFill>
            <a:srgbClr val="10B981">
              <a:alpha val="2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4564856" y="2911971"/>
            <a:ext cx="7144" cy="1681460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43" name="Text 40"/>
          <p:cNvSpPr/>
          <p:nvPr/>
        </p:nvSpPr>
        <p:spPr>
          <a:xfrm>
            <a:off x="2500313" y="3083421"/>
            <a:ext cx="18573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06</a:t>
            </a:r>
            <a:endParaRPr lang="en-US" sz="685" dirty="0"/>
          </a:p>
        </p:txBody>
      </p:sp>
      <p:sp>
        <p:nvSpPr>
          <p:cNvPr id="44" name="Text 41"/>
          <p:cNvSpPr/>
          <p:nvPr/>
        </p:nvSpPr>
        <p:spPr>
          <a:xfrm>
            <a:off x="2500313" y="3301305"/>
            <a:ext cx="1857375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写回关键事实</a:t>
            </a:r>
            <a:endParaRPr lang="en-US" sz="985" dirty="0"/>
          </a:p>
        </p:txBody>
      </p:sp>
      <p:sp>
        <p:nvSpPr>
          <p:cNvPr id="45" name="Text 42"/>
          <p:cNvSpPr/>
          <p:nvPr/>
        </p:nvSpPr>
        <p:spPr>
          <a:xfrm>
            <a:off x="2500313" y="3572768"/>
            <a:ext cx="1857375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提取本轮对话关键信息，写入记忆系统，为后续连续服务做准备。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2500313" y="4238030"/>
            <a:ext cx="778669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00313" y="4238030"/>
            <a:ext cx="778669" cy="183952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Memory Agent</a:t>
            </a:r>
            <a:endParaRPr lang="en-US" sz="585" dirty="0"/>
          </a:p>
        </p:txBody>
      </p:sp>
      <p:sp>
        <p:nvSpPr>
          <p:cNvPr id="48" name="Shape 45"/>
          <p:cNvSpPr/>
          <p:nvPr/>
        </p:nvSpPr>
        <p:spPr>
          <a:xfrm>
            <a:off x="3321844" y="4238030"/>
            <a:ext cx="467916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321844" y="4238030"/>
            <a:ext cx="467916" cy="183952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Update</a:t>
            </a:r>
            <a:endParaRPr lang="en-US" sz="585" dirty="0"/>
          </a:p>
        </p:txBody>
      </p:sp>
      <p:sp>
        <p:nvSpPr>
          <p:cNvPr id="50" name="Text 47"/>
          <p:cNvSpPr/>
          <p:nvPr/>
        </p:nvSpPr>
        <p:spPr>
          <a:xfrm>
            <a:off x="4786313" y="3090565"/>
            <a:ext cx="185023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1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07</a:t>
            </a:r>
            <a:endParaRPr lang="en-US" sz="685" dirty="0"/>
          </a:p>
        </p:txBody>
      </p:sp>
      <p:sp>
        <p:nvSpPr>
          <p:cNvPr id="51" name="Text 48"/>
          <p:cNvSpPr/>
          <p:nvPr/>
        </p:nvSpPr>
        <p:spPr>
          <a:xfrm>
            <a:off x="4786313" y="3308449"/>
            <a:ext cx="1850231" cy="1857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满足条件时触发评测</a:t>
            </a:r>
            <a:endParaRPr lang="en-US" sz="985" dirty="0"/>
          </a:p>
        </p:txBody>
      </p:sp>
      <p:sp>
        <p:nvSpPr>
          <p:cNvPr id="52" name="Text 49"/>
          <p:cNvSpPr/>
          <p:nvPr/>
        </p:nvSpPr>
        <p:spPr>
          <a:xfrm>
            <a:off x="4786313" y="3579912"/>
            <a:ext cx="18502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 5 轮对话或评分低于阈值时，进入评测与优化流程。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0" y="4593431"/>
            <a:ext cx="9144000" cy="550069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54" name="Text 51"/>
          <p:cNvSpPr/>
          <p:nvPr/>
        </p:nvSpPr>
        <p:spPr>
          <a:xfrm>
            <a:off x="428625" y="4764881"/>
            <a:ext cx="9001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kern="0" spc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一句话核心：</a:t>
            </a:r>
            <a:endParaRPr lang="en-US" sz="985" dirty="0"/>
          </a:p>
        </p:txBody>
      </p:sp>
      <p:sp>
        <p:nvSpPr>
          <p:cNvPr id="55" name="Text 52"/>
          <p:cNvSpPr/>
          <p:nvPr/>
        </p:nvSpPr>
        <p:spPr>
          <a:xfrm>
            <a:off x="1443038" y="4764881"/>
            <a:ext cx="4000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记忆在这里不是被动存档，而是参与协作决策的核心支撑模块。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707231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243780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191988"/>
            <a:ext cx="48006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核心创新：三层记忆管理与评测驱动自进化路线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8625" y="714375"/>
            <a:ext cx="3707606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创新点一：三层记忆管理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428625" y="1112639"/>
            <a:ext cx="3707606" cy="72330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25" y="1226939"/>
            <a:ext cx="585788" cy="216098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925" y="1226939"/>
            <a:ext cx="585788" cy="216098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EF444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短期记忆</a:t>
            </a:r>
            <a:endParaRPr lang="en-US" sz="685" dirty="0"/>
          </a:p>
        </p:txBody>
      </p:sp>
      <p:sp>
        <p:nvSpPr>
          <p:cNvPr id="11" name="Text 8"/>
          <p:cNvSpPr/>
          <p:nvPr/>
        </p:nvSpPr>
        <p:spPr>
          <a:xfrm>
            <a:off x="1203722" y="1275159"/>
            <a:ext cx="680442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高活力 · 碎片化</a:t>
            </a:r>
            <a:endParaRPr lang="en-US" sz="685" dirty="0"/>
          </a:p>
        </p:txBody>
      </p:sp>
      <p:sp>
        <p:nvSpPr>
          <p:cNvPr id="12" name="Text 9"/>
          <p:cNvSpPr/>
          <p:nvPr/>
        </p:nvSpPr>
        <p:spPr>
          <a:xfrm>
            <a:off x="542925" y="1543050"/>
            <a:ext cx="347900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当前对话历史 + 当前专家 Agent 输出；时效性强，用于本轮决策支撑。</a:t>
            </a:r>
            <a:endParaRPr lang="en-US" sz="725" dirty="0"/>
          </a:p>
        </p:txBody>
      </p:sp>
      <p:sp>
        <p:nvSpPr>
          <p:cNvPr id="13" name="Shape 10"/>
          <p:cNvSpPr/>
          <p:nvPr/>
        </p:nvSpPr>
        <p:spPr>
          <a:xfrm>
            <a:off x="428625" y="1921669"/>
            <a:ext cx="3707606" cy="72330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2925" y="2035969"/>
            <a:ext cx="585788" cy="216098"/>
          </a:xfrm>
          <a:prstGeom prst="rect">
            <a:avLst/>
          </a:prstGeom>
          <a:solidFill>
            <a:srgbClr val="F59E0B">
              <a:alpha val="10000"/>
            </a:srgbClr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925" y="2035969"/>
            <a:ext cx="585788" cy="216098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59E0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中期记忆</a:t>
            </a:r>
            <a:endParaRPr lang="en-US" sz="685" dirty="0"/>
          </a:p>
        </p:txBody>
      </p:sp>
      <p:sp>
        <p:nvSpPr>
          <p:cNvPr id="16" name="Text 13"/>
          <p:cNvSpPr/>
          <p:nvPr/>
        </p:nvSpPr>
        <p:spPr>
          <a:xfrm>
            <a:off x="1203722" y="2084189"/>
            <a:ext cx="780455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中等活力 · 已整合</a:t>
            </a:r>
            <a:endParaRPr lang="en-US" sz="685" dirty="0"/>
          </a:p>
        </p:txBody>
      </p:sp>
      <p:sp>
        <p:nvSpPr>
          <p:cNvPr id="17" name="Text 14"/>
          <p:cNvSpPr/>
          <p:nvPr/>
        </p:nvSpPr>
        <p:spPr>
          <a:xfrm>
            <a:off x="542925" y="2352080"/>
            <a:ext cx="347900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患者近期血糖趋势、最近用药调整、近期饮食运动记录；支持阶段性分析。</a:t>
            </a:r>
            <a:endParaRPr lang="en-US" sz="725" dirty="0"/>
          </a:p>
        </p:txBody>
      </p:sp>
      <p:sp>
        <p:nvSpPr>
          <p:cNvPr id="18" name="Shape 15"/>
          <p:cNvSpPr/>
          <p:nvPr/>
        </p:nvSpPr>
        <p:spPr>
          <a:xfrm>
            <a:off x="428625" y="2730698"/>
            <a:ext cx="3707606" cy="72330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2925" y="2844998"/>
            <a:ext cx="585788" cy="21609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2925" y="2844998"/>
            <a:ext cx="585788" cy="216098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长期记忆</a:t>
            </a:r>
            <a:endParaRPr lang="en-US" sz="685" dirty="0"/>
          </a:p>
        </p:txBody>
      </p:sp>
      <p:sp>
        <p:nvSpPr>
          <p:cNvPr id="21" name="Text 18"/>
          <p:cNvSpPr/>
          <p:nvPr/>
        </p:nvSpPr>
        <p:spPr>
          <a:xfrm>
            <a:off x="1203722" y="2893219"/>
            <a:ext cx="900113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长期保留的稳定信息</a:t>
            </a:r>
            <a:endParaRPr lang="en-US" sz="685" dirty="0"/>
          </a:p>
        </p:txBody>
      </p:sp>
      <p:sp>
        <p:nvSpPr>
          <p:cNvPr id="22" name="Text 19"/>
          <p:cNvSpPr/>
          <p:nvPr/>
        </p:nvSpPr>
        <p:spPr>
          <a:xfrm>
            <a:off x="542925" y="3161109"/>
            <a:ext cx="347900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患者画像（基本信息、病史、过敏史）、重要事件；支持个性化长期服务。</a:t>
            </a:r>
            <a:endParaRPr lang="en-US" sz="725" dirty="0"/>
          </a:p>
        </p:txBody>
      </p:sp>
      <p:sp>
        <p:nvSpPr>
          <p:cNvPr id="23" name="Shape 20"/>
          <p:cNvSpPr/>
          <p:nvPr/>
        </p:nvSpPr>
        <p:spPr>
          <a:xfrm>
            <a:off x="428625" y="3689747"/>
            <a:ext cx="585788" cy="221456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8625" y="3689747"/>
            <a:ext cx="585788" cy="221456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设计要点</a:t>
            </a:r>
            <a:endParaRPr lang="en-US" sz="685" dirty="0"/>
          </a:p>
        </p:txBody>
      </p:sp>
      <p:sp>
        <p:nvSpPr>
          <p:cNvPr id="25" name="Text 22"/>
          <p:cNvSpPr/>
          <p:nvPr/>
        </p:nvSpPr>
        <p:spPr>
          <a:xfrm>
            <a:off x="1057275" y="3736181"/>
            <a:ext cx="2995017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记忆由独立的 Memory Agent 统一治理，是唯一与底层记忆存储交</a:t>
            </a:r>
            <a:endParaRPr lang="en-US" sz="685" dirty="0"/>
          </a:p>
        </p:txBody>
      </p:sp>
      <p:sp>
        <p:nvSpPr>
          <p:cNvPr id="26" name="Text 23"/>
          <p:cNvSpPr/>
          <p:nvPr/>
        </p:nvSpPr>
        <p:spPr>
          <a:xfrm>
            <a:off x="428625" y="3911203"/>
            <a:ext cx="500063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互的模块。</a:t>
            </a:r>
            <a:endParaRPr lang="en-US" sz="685" dirty="0"/>
          </a:p>
        </p:txBody>
      </p:sp>
      <p:sp>
        <p:nvSpPr>
          <p:cNvPr id="27" name="Text 24"/>
          <p:cNvSpPr/>
          <p:nvPr/>
        </p:nvSpPr>
        <p:spPr>
          <a:xfrm>
            <a:off x="5000625" y="714375"/>
            <a:ext cx="371475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创新点二：评测驱动的自进化路线</a:t>
            </a:r>
            <a:endParaRPr lang="en-US" sz="1090" dirty="0"/>
          </a:p>
        </p:txBody>
      </p:sp>
      <p:sp>
        <p:nvSpPr>
          <p:cNvPr id="28" name="Text 25"/>
          <p:cNvSpPr/>
          <p:nvPr/>
        </p:nvSpPr>
        <p:spPr>
          <a:xfrm>
            <a:off x="5000625" y="1219795"/>
            <a:ext cx="285750" cy="183952"/>
          </a:xfrm>
          <a:prstGeom prst="rect">
            <a:avLst/>
          </a:prstGeom>
          <a:noFill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286375" y="1219795"/>
            <a:ext cx="3429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触发评测</a:t>
            </a:r>
            <a:endParaRPr lang="en-US" sz="785" dirty="0"/>
          </a:p>
        </p:txBody>
      </p:sp>
      <p:sp>
        <p:nvSpPr>
          <p:cNvPr id="30" name="Text 27"/>
          <p:cNvSpPr/>
          <p:nvPr/>
        </p:nvSpPr>
        <p:spPr>
          <a:xfrm>
            <a:off x="5286375" y="1412677"/>
            <a:ext cx="342900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周期触发或低分即时触发，启动自进化流程。</a:t>
            </a:r>
            <a:endParaRPr lang="en-US" sz="725" dirty="0"/>
          </a:p>
        </p:txBody>
      </p:sp>
      <p:sp>
        <p:nvSpPr>
          <p:cNvPr id="31" name="Text 28"/>
          <p:cNvSpPr/>
          <p:nvPr/>
        </p:nvSpPr>
        <p:spPr>
          <a:xfrm>
            <a:off x="5000625" y="1759846"/>
            <a:ext cx="285750" cy="183952"/>
          </a:xfrm>
          <a:prstGeom prst="rect">
            <a:avLst/>
          </a:prstGeom>
          <a:noFill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286375" y="1759846"/>
            <a:ext cx="3429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Evaluator 评估</a:t>
            </a:r>
            <a:endParaRPr lang="en-US" sz="785" dirty="0"/>
          </a:p>
        </p:txBody>
      </p:sp>
      <p:sp>
        <p:nvSpPr>
          <p:cNvPr id="33" name="Text 30"/>
          <p:cNvSpPr/>
          <p:nvPr/>
        </p:nvSpPr>
        <p:spPr>
          <a:xfrm>
            <a:off x="5286375" y="1952727"/>
            <a:ext cx="3429000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对回答质量进行 5 维度评估（医学准确性、安全性、完整性、个性化程度、表达清晰度）。</a:t>
            </a:r>
            <a:endParaRPr lang="en-US" sz="725" dirty="0"/>
          </a:p>
        </p:txBody>
      </p:sp>
      <p:sp>
        <p:nvSpPr>
          <p:cNvPr id="34" name="Text 31"/>
          <p:cNvSpPr/>
          <p:nvPr/>
        </p:nvSpPr>
        <p:spPr>
          <a:xfrm>
            <a:off x="5000625" y="2439898"/>
            <a:ext cx="285750" cy="183952"/>
          </a:xfrm>
          <a:prstGeom prst="rect">
            <a:avLst/>
          </a:prstGeom>
          <a:noFill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286375" y="2439898"/>
            <a:ext cx="3429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Analyzer 归因</a:t>
            </a:r>
            <a:endParaRPr lang="en-US" sz="785" dirty="0"/>
          </a:p>
        </p:txBody>
      </p:sp>
      <p:sp>
        <p:nvSpPr>
          <p:cNvPr id="36" name="Text 33"/>
          <p:cNvSpPr/>
          <p:nvPr/>
        </p:nvSpPr>
        <p:spPr>
          <a:xfrm>
            <a:off x="5286375" y="2632779"/>
            <a:ext cx="342900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进行根因分析，区分 memory 类、prompt 类、coordination 类问题。</a:t>
            </a:r>
            <a:endParaRPr lang="en-US" sz="725" dirty="0"/>
          </a:p>
        </p:txBody>
      </p:sp>
      <p:sp>
        <p:nvSpPr>
          <p:cNvPr id="37" name="Text 34"/>
          <p:cNvSpPr/>
          <p:nvPr/>
        </p:nvSpPr>
        <p:spPr>
          <a:xfrm>
            <a:off x="5000625" y="2979948"/>
            <a:ext cx="285750" cy="183952"/>
          </a:xfrm>
          <a:prstGeom prst="rect">
            <a:avLst/>
          </a:prstGeom>
          <a:noFill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5286375" y="2979948"/>
            <a:ext cx="3429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路由优化器</a:t>
            </a:r>
            <a:endParaRPr lang="en-US" sz="785" dirty="0"/>
          </a:p>
        </p:txBody>
      </p:sp>
      <p:sp>
        <p:nvSpPr>
          <p:cNvPr id="39" name="Text 36"/>
          <p:cNvSpPr/>
          <p:nvPr/>
        </p:nvSpPr>
        <p:spPr>
          <a:xfrm>
            <a:off x="5286375" y="3172830"/>
            <a:ext cx="3429000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根据归因结果，路由到对应优化器：Prompt Optimizer 或 Memory Optimizer。</a:t>
            </a:r>
            <a:endParaRPr lang="en-US" sz="725" dirty="0"/>
          </a:p>
        </p:txBody>
      </p:sp>
      <p:sp>
        <p:nvSpPr>
          <p:cNvPr id="40" name="Text 37"/>
          <p:cNvSpPr/>
          <p:nvPr/>
        </p:nvSpPr>
        <p:spPr>
          <a:xfrm>
            <a:off x="5000625" y="3660000"/>
            <a:ext cx="285750" cy="183952"/>
          </a:xfrm>
          <a:prstGeom prst="rect">
            <a:avLst/>
          </a:prstGeom>
          <a:noFill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286375" y="3660000"/>
            <a:ext cx="3429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Re-evaluation 再评测</a:t>
            </a:r>
            <a:endParaRPr lang="en-US" sz="785" dirty="0"/>
          </a:p>
        </p:txBody>
      </p:sp>
      <p:sp>
        <p:nvSpPr>
          <p:cNvPr id="42" name="Text 39"/>
          <p:cNvSpPr/>
          <p:nvPr/>
        </p:nvSpPr>
        <p:spPr>
          <a:xfrm>
            <a:off x="5286375" y="3852881"/>
            <a:ext cx="3429000" cy="1400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验证优化效果，达标则停止，否则继续循环。</a:t>
            </a:r>
            <a:endParaRPr lang="en-US" sz="725" dirty="0"/>
          </a:p>
        </p:txBody>
      </p:sp>
      <p:sp>
        <p:nvSpPr>
          <p:cNvPr id="43" name="Shape 40"/>
          <p:cNvSpPr/>
          <p:nvPr/>
        </p:nvSpPr>
        <p:spPr>
          <a:xfrm>
            <a:off x="0" y="4143375"/>
            <a:ext cx="9144000" cy="1000125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44" name="Shape 41"/>
          <p:cNvSpPr/>
          <p:nvPr/>
        </p:nvSpPr>
        <p:spPr>
          <a:xfrm>
            <a:off x="0" y="4143375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45" name="Text 42"/>
          <p:cNvSpPr/>
          <p:nvPr/>
        </p:nvSpPr>
        <p:spPr>
          <a:xfrm>
            <a:off x="428625" y="4496991"/>
            <a:ext cx="757238" cy="292894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kern="0" spc="2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当前状态</a:t>
            </a:r>
            <a:endParaRPr lang="en-US" sz="835" dirty="0"/>
          </a:p>
        </p:txBody>
      </p:sp>
      <p:sp>
        <p:nvSpPr>
          <p:cNvPr id="46" name="Text 43"/>
          <p:cNvSpPr/>
          <p:nvPr/>
        </p:nvSpPr>
        <p:spPr>
          <a:xfrm>
            <a:off x="1471613" y="4426279"/>
            <a:ext cx="6372225" cy="4343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三层记忆架构设计已完成，自进化闭环总体路线已明确。</a:t>
            </a:r>
            <a:r>
              <a:rPr lang="en-US" sz="9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85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核心逻辑：</a:t>
            </a:r>
            <a:r>
              <a:rPr lang="en-US" sz="9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我们的重点不是把自进化讲成已经跑通，而是说明我们已经把它设计成一个可继续推进的明确闭环。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044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673298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223242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171450"/>
            <a:ext cx="22860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阶段进展与下一步计划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8625" y="867073"/>
            <a:ext cx="675084" cy="203597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867073"/>
            <a:ext cx="675084" cy="203597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COMPLETED</a:t>
            </a:r>
            <a:endParaRPr lang="en-US" sz="685" dirty="0"/>
          </a:p>
        </p:txBody>
      </p:sp>
      <p:sp>
        <p:nvSpPr>
          <p:cNvPr id="9" name="Text 6"/>
          <p:cNvSpPr/>
          <p:nvPr/>
        </p:nvSpPr>
        <p:spPr>
          <a:xfrm>
            <a:off x="1203722" y="844748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当前阶段已完成</a:t>
            </a:r>
            <a:endParaRPr lang="en-US" sz="1195" dirty="0"/>
          </a:p>
        </p:txBody>
      </p:sp>
      <p:sp>
        <p:nvSpPr>
          <p:cNvPr id="10" name="Text 7"/>
          <p:cNvSpPr/>
          <p:nvPr/>
        </p:nvSpPr>
        <p:spPr>
          <a:xfrm>
            <a:off x="428625" y="1314450"/>
            <a:ext cx="98227" cy="3661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✓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641152" y="1300163"/>
            <a:ext cx="2700338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项目方向定义与场景选择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41152" y="1530548"/>
            <a:ext cx="2700338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已明确以血糖管理智能客服为核心场景，完成课题目标对齐。</a:t>
            </a:r>
            <a:endParaRPr lang="en-US" sz="725" dirty="0"/>
          </a:p>
        </p:txBody>
      </p:sp>
      <p:sp>
        <p:nvSpPr>
          <p:cNvPr id="13" name="Text 10"/>
          <p:cNvSpPr/>
          <p:nvPr/>
        </p:nvSpPr>
        <p:spPr>
          <a:xfrm>
            <a:off x="428625" y="1873448"/>
            <a:ext cx="98227" cy="3661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✓</a:t>
            </a:r>
            <a:endParaRPr lang="en-US" sz="985" dirty="0"/>
          </a:p>
        </p:txBody>
      </p:sp>
      <p:sp>
        <p:nvSpPr>
          <p:cNvPr id="14" name="Text 11"/>
          <p:cNvSpPr/>
          <p:nvPr/>
        </p:nvSpPr>
        <p:spPr>
          <a:xfrm>
            <a:off x="641152" y="1859161"/>
            <a:ext cx="30003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Agent 架构设计与角色分工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41152" y="2089547"/>
            <a:ext cx="3000375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已完成主治医生统筹、多专家协同的角色结构设计，权限边界清晰。</a:t>
            </a:r>
            <a:endParaRPr lang="en-US" sz="725" dirty="0"/>
          </a:p>
        </p:txBody>
      </p:sp>
      <p:sp>
        <p:nvSpPr>
          <p:cNvPr id="16" name="Text 13"/>
          <p:cNvSpPr/>
          <p:nvPr/>
        </p:nvSpPr>
        <p:spPr>
          <a:xfrm>
            <a:off x="428625" y="2432447"/>
            <a:ext cx="98227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✓</a:t>
            </a:r>
            <a:endParaRPr lang="en-US" sz="985" dirty="0"/>
          </a:p>
        </p:txBody>
      </p:sp>
      <p:sp>
        <p:nvSpPr>
          <p:cNvPr id="17" name="Text 14"/>
          <p:cNvSpPr/>
          <p:nvPr/>
        </p:nvSpPr>
        <p:spPr>
          <a:xfrm>
            <a:off x="641152" y="2418159"/>
            <a:ext cx="3498652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三层记忆管理框架设计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41152" y="2648545"/>
            <a:ext cx="349865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已完成短期、中期、长期三层记忆的分层定义与 Memory Agent 独立治理方案。</a:t>
            </a:r>
            <a:endParaRPr lang="en-US" sz="725" dirty="0"/>
          </a:p>
        </p:txBody>
      </p:sp>
      <p:sp>
        <p:nvSpPr>
          <p:cNvPr id="19" name="Text 16"/>
          <p:cNvSpPr/>
          <p:nvPr/>
        </p:nvSpPr>
        <p:spPr>
          <a:xfrm>
            <a:off x="428625" y="3141464"/>
            <a:ext cx="98227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✓</a:t>
            </a:r>
            <a:endParaRPr lang="en-US" sz="985" dirty="0"/>
          </a:p>
        </p:txBody>
      </p:sp>
      <p:sp>
        <p:nvSpPr>
          <p:cNvPr id="20" name="Text 17"/>
          <p:cNvSpPr/>
          <p:nvPr/>
        </p:nvSpPr>
        <p:spPr>
          <a:xfrm>
            <a:off x="641152" y="3127177"/>
            <a:ext cx="3498652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自进化机制总体路线设计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41152" y="3357563"/>
            <a:ext cx="3498652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已完成 Evaluator → Analyzer → Optimizer 的双闭环路线设计，已有评测、分析、优化模块的代码框架。</a:t>
            </a:r>
            <a:endParaRPr lang="en-US" sz="725" dirty="0"/>
          </a:p>
        </p:txBody>
      </p:sp>
      <p:sp>
        <p:nvSpPr>
          <p:cNvPr id="22" name="Shape 19"/>
          <p:cNvSpPr/>
          <p:nvPr/>
        </p:nvSpPr>
        <p:spPr>
          <a:xfrm>
            <a:off x="428625" y="3870517"/>
            <a:ext cx="3711178" cy="550069"/>
          </a:xfrm>
          <a:prstGeom prst="rect">
            <a:avLst/>
          </a:prstGeom>
          <a:solidFill>
            <a:srgbClr val="10B981">
              <a:alpha val="5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428625" y="3870517"/>
            <a:ext cx="28575" cy="550069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1"/>
          <p:cNvSpPr/>
          <p:nvPr/>
        </p:nvSpPr>
        <p:spPr>
          <a:xfrm>
            <a:off x="428625" y="3870517"/>
            <a:ext cx="3711178" cy="550069"/>
          </a:xfrm>
          <a:prstGeom prst="rect">
            <a:avLst/>
          </a:prstGeom>
          <a:noFill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当前状态：</a:t>
            </a:r>
            <a:r>
              <a:rPr lang="en-US" sz="7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系统框架成型，已从纯方案设计推进到原型联调阶段，关键模</a:t>
            </a:r>
            <a:r>
              <a:rPr lang="en-US" sz="78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块已有初步代码基础。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004197" y="867073"/>
            <a:ext cx="735806" cy="203597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04197" y="867073"/>
            <a:ext cx="735806" cy="203597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 STEPS</a:t>
            </a:r>
            <a:endParaRPr lang="en-US" sz="685" dirty="0"/>
          </a:p>
        </p:txBody>
      </p:sp>
      <p:sp>
        <p:nvSpPr>
          <p:cNvPr id="27" name="Text 24"/>
          <p:cNvSpPr/>
          <p:nvPr/>
        </p:nvSpPr>
        <p:spPr>
          <a:xfrm>
            <a:off x="5840016" y="844748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下阶段重点推进</a:t>
            </a:r>
            <a:endParaRPr lang="en-US" sz="1195" dirty="0"/>
          </a:p>
        </p:txBody>
      </p:sp>
      <p:sp>
        <p:nvSpPr>
          <p:cNvPr id="28" name="Text 25"/>
          <p:cNvSpPr/>
          <p:nvPr/>
        </p:nvSpPr>
        <p:spPr>
          <a:xfrm>
            <a:off x="5004197" y="1314450"/>
            <a:ext cx="85725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985" dirty="0"/>
          </a:p>
        </p:txBody>
      </p:sp>
      <p:sp>
        <p:nvSpPr>
          <p:cNvPr id="29" name="Text 26"/>
          <p:cNvSpPr/>
          <p:nvPr/>
        </p:nvSpPr>
        <p:spPr>
          <a:xfrm>
            <a:off x="5204222" y="1300163"/>
            <a:ext cx="351115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完善记忆管理机制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5204222" y="1530548"/>
            <a:ext cx="35111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进一步优化三层记忆的写入、整合与更新规则，借鉴人脑的记忆筛选、重构与遗忘机制。</a:t>
            </a:r>
            <a:endParaRPr lang="en-US" sz="725" dirty="0"/>
          </a:p>
        </p:txBody>
      </p:sp>
      <p:sp>
        <p:nvSpPr>
          <p:cNvPr id="31" name="Text 28"/>
          <p:cNvSpPr/>
          <p:nvPr/>
        </p:nvSpPr>
        <p:spPr>
          <a:xfrm>
            <a:off x="5004197" y="2023467"/>
            <a:ext cx="85725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985" dirty="0"/>
          </a:p>
        </p:txBody>
      </p:sp>
      <p:sp>
        <p:nvSpPr>
          <p:cNvPr id="32" name="Text 29"/>
          <p:cNvSpPr/>
          <p:nvPr/>
        </p:nvSpPr>
        <p:spPr>
          <a:xfrm>
            <a:off x="5204222" y="2009180"/>
            <a:ext cx="351115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构建自检与双维度评估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5204222" y="2239566"/>
            <a:ext cx="35111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完善 Evaluator 双维度评估体系（回答质量 + 记忆质量）+ Analyzer 归因框架。</a:t>
            </a:r>
            <a:endParaRPr lang="en-US" sz="725" dirty="0"/>
          </a:p>
        </p:txBody>
      </p:sp>
      <p:sp>
        <p:nvSpPr>
          <p:cNvPr id="34" name="Text 31"/>
          <p:cNvSpPr/>
          <p:nvPr/>
        </p:nvSpPr>
        <p:spPr>
          <a:xfrm>
            <a:off x="5004197" y="2732484"/>
            <a:ext cx="85725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985" dirty="0"/>
          </a:p>
        </p:txBody>
      </p:sp>
      <p:sp>
        <p:nvSpPr>
          <p:cNvPr id="35" name="Text 32"/>
          <p:cNvSpPr/>
          <p:nvPr/>
        </p:nvSpPr>
        <p:spPr>
          <a:xfrm>
            <a:off x="5204222" y="2718197"/>
            <a:ext cx="351115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推进自进化与双闭环设计落地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204222" y="2948583"/>
            <a:ext cx="35111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完善面向 prompt + memory 的双闭环自进化机制，让系统从框架设计走向可验证能力。</a:t>
            </a:r>
            <a:endParaRPr lang="en-US" sz="725" dirty="0"/>
          </a:p>
        </p:txBody>
      </p:sp>
      <p:sp>
        <p:nvSpPr>
          <p:cNvPr id="37" name="Text 34"/>
          <p:cNvSpPr/>
          <p:nvPr/>
        </p:nvSpPr>
        <p:spPr>
          <a:xfrm>
            <a:off x="5004197" y="3441502"/>
            <a:ext cx="85725" cy="5161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985" dirty="0"/>
          </a:p>
        </p:txBody>
      </p:sp>
      <p:sp>
        <p:nvSpPr>
          <p:cNvPr id="38" name="Text 35"/>
          <p:cNvSpPr/>
          <p:nvPr/>
        </p:nvSpPr>
        <p:spPr>
          <a:xfrm>
            <a:off x="5204222" y="3427214"/>
            <a:ext cx="351115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补齐评测数据集与链路验证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5204222" y="3657600"/>
            <a:ext cx="351115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构建血糖管理场景测试问答集，完成多 Agent 协作 + 记忆读写流程的稳定性验证。</a:t>
            </a:r>
            <a:endParaRPr lang="en-US" sz="725" dirty="0"/>
          </a:p>
        </p:txBody>
      </p:sp>
      <p:sp>
        <p:nvSpPr>
          <p:cNvPr id="40" name="Shape 37"/>
          <p:cNvSpPr/>
          <p:nvPr/>
        </p:nvSpPr>
        <p:spPr>
          <a:xfrm>
            <a:off x="0" y="4592036"/>
            <a:ext cx="9144000" cy="551464"/>
          </a:xfrm>
          <a:prstGeom prst="rect">
            <a:avLst/>
          </a:prstGeom>
          <a:solidFill>
            <a:srgbClr val="111827"/>
          </a:solidFill>
        </p:spPr>
      </p:sp>
      <p:sp>
        <p:nvSpPr>
          <p:cNvPr id="41" name="Text 38"/>
          <p:cNvSpPr/>
          <p:nvPr/>
        </p:nvSpPr>
        <p:spPr>
          <a:xfrm>
            <a:off x="0" y="4592036"/>
            <a:ext cx="9144000" cy="551464"/>
          </a:xfrm>
          <a:prstGeom prst="rect">
            <a:avLst/>
          </a:prstGeom>
          <a:noFill/>
        </p:spPr>
        <p:txBody>
          <a:bodyPr wrap="square" lIns="510286" tIns="110617" rIns="510286" bIns="1106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核心总结：</a:t>
            </a:r>
            <a:r>
              <a:rPr lang="en-US" sz="835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我们当前已经完成了系统框架、角色协作、记忆分层和自进化路线的设计，下一阶段会重点把记忆治理与评测驱动优化进一步做实，让系统从"架构成</a:t>
            </a:r>
            <a:r>
              <a:rPr lang="en-US" sz="835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型"走向"关键机制可验证"。</a:t>
            </a:r>
            <a:endParaRPr lang="en-US" sz="8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66167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5" name="Text 2"/>
          <p:cNvSpPr/>
          <p:nvPr/>
        </p:nvSpPr>
        <p:spPr>
          <a:xfrm>
            <a:off x="428625" y="266105"/>
            <a:ext cx="207169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07244" y="214313"/>
            <a:ext cx="914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团队介绍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8625" y="1044773"/>
            <a:ext cx="2571750" cy="3812977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28625" y="1044773"/>
            <a:ext cx="2562234" cy="1802011"/>
          </a:xfrm>
          <a:prstGeom prst="rect">
            <a:avLst/>
          </a:prstGeom>
          <a:solidFill>
            <a:srgbClr val="F3F4F6">
              <a:alpha val="3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28625" y="2839641"/>
            <a:ext cx="2562234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10" name="Shape 7"/>
          <p:cNvSpPr/>
          <p:nvPr/>
        </p:nvSpPr>
        <p:spPr>
          <a:xfrm>
            <a:off x="1352541" y="1259086"/>
            <a:ext cx="714375" cy="714375"/>
          </a:xfrm>
          <a:prstGeom prst="ellipse">
            <a:avLst/>
          </a:prstGeom>
          <a:solidFill>
            <a:srgbClr val="3B82F6">
              <a:alpha val="5000"/>
            </a:srgbClr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352541" y="1259086"/>
            <a:ext cx="714375" cy="7143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</a:t>
            </a:r>
            <a:endParaRPr lang="en-US" sz="1705" dirty="0"/>
          </a:p>
        </p:txBody>
      </p:sp>
      <p:sp>
        <p:nvSpPr>
          <p:cNvPr id="12" name="Text 9"/>
          <p:cNvSpPr/>
          <p:nvPr/>
        </p:nvSpPr>
        <p:spPr>
          <a:xfrm>
            <a:off x="1453446" y="2116336"/>
            <a:ext cx="512564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成员 A</a:t>
            </a:r>
            <a:endParaRPr lang="en-US" sz="1195" dirty="0"/>
          </a:p>
        </p:txBody>
      </p:sp>
      <p:sp>
        <p:nvSpPr>
          <p:cNvPr id="13" name="Text 10"/>
          <p:cNvSpPr/>
          <p:nvPr/>
        </p:nvSpPr>
        <p:spPr>
          <a:xfrm>
            <a:off x="1252528" y="2421731"/>
            <a:ext cx="914400" cy="203597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Lead</a:t>
            </a:r>
            <a:endParaRPr lang="en-US" sz="685" dirty="0"/>
          </a:p>
        </p:txBody>
      </p:sp>
      <p:sp>
        <p:nvSpPr>
          <p:cNvPr id="14" name="Text 11"/>
          <p:cNvSpPr/>
          <p:nvPr/>
        </p:nvSpPr>
        <p:spPr>
          <a:xfrm>
            <a:off x="642938" y="3053953"/>
            <a:ext cx="2133609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1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核心贡献</a:t>
            </a:r>
            <a:endParaRPr lang="en-US" sz="725" dirty="0"/>
          </a:p>
        </p:txBody>
      </p:sp>
      <p:sp>
        <p:nvSpPr>
          <p:cNvPr id="15" name="Text 12"/>
          <p:cNvSpPr/>
          <p:nvPr/>
        </p:nvSpPr>
        <p:spPr>
          <a:xfrm>
            <a:off x="642938" y="3370064"/>
            <a:ext cx="213360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系统整体架构设计与技术选型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642938" y="3616523"/>
            <a:ext cx="213360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Agent 协作流程规划与角色定义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642938" y="3862983"/>
            <a:ext cx="2133609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Agent 核心逻辑实现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276609" y="1044773"/>
            <a:ext cx="2576522" cy="3812977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3281353" y="1044773"/>
            <a:ext cx="2566978" cy="1802011"/>
          </a:xfrm>
          <a:prstGeom prst="rect">
            <a:avLst/>
          </a:prstGeom>
          <a:solidFill>
            <a:srgbClr val="F3F4F6">
              <a:alpha val="3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3281353" y="2839641"/>
            <a:ext cx="2566978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21" name="Shape 18"/>
          <p:cNvSpPr/>
          <p:nvPr/>
        </p:nvSpPr>
        <p:spPr>
          <a:xfrm>
            <a:off x="4207641" y="1259086"/>
            <a:ext cx="714375" cy="714375"/>
          </a:xfrm>
          <a:prstGeom prst="ellipse">
            <a:avLst/>
          </a:prstGeom>
          <a:solidFill>
            <a:srgbClr val="10B981">
              <a:alpha val="5000"/>
            </a:srgbClr>
          </a:solidFill>
          <a:ln w="18288">
            <a:solidFill>
              <a:srgbClr val="10B981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4207641" y="1259086"/>
            <a:ext cx="714375" cy="7143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10B98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</a:t>
            </a:r>
            <a:endParaRPr lang="en-US" sz="1705" dirty="0"/>
          </a:p>
        </p:txBody>
      </p:sp>
      <p:sp>
        <p:nvSpPr>
          <p:cNvPr id="23" name="Text 20"/>
          <p:cNvSpPr/>
          <p:nvPr/>
        </p:nvSpPr>
        <p:spPr>
          <a:xfrm>
            <a:off x="4315690" y="2116336"/>
            <a:ext cx="498277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成员 B</a:t>
            </a:r>
            <a:endParaRPr lang="en-US" sz="1195" dirty="0"/>
          </a:p>
        </p:txBody>
      </p:sp>
      <p:sp>
        <p:nvSpPr>
          <p:cNvPr id="24" name="Text 21"/>
          <p:cNvSpPr/>
          <p:nvPr/>
        </p:nvSpPr>
        <p:spPr>
          <a:xfrm>
            <a:off x="4137989" y="2421731"/>
            <a:ext cx="853678" cy="203597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Memory Arch</a:t>
            </a:r>
            <a:endParaRPr lang="en-US" sz="685" dirty="0"/>
          </a:p>
        </p:txBody>
      </p:sp>
      <p:sp>
        <p:nvSpPr>
          <p:cNvPr id="25" name="Text 22"/>
          <p:cNvSpPr/>
          <p:nvPr/>
        </p:nvSpPr>
        <p:spPr>
          <a:xfrm>
            <a:off x="3495666" y="3053953"/>
            <a:ext cx="2138353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1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核心贡献</a:t>
            </a:r>
            <a:endParaRPr lang="en-US" sz="725" dirty="0"/>
          </a:p>
        </p:txBody>
      </p:sp>
      <p:sp>
        <p:nvSpPr>
          <p:cNvPr id="26" name="Text 23"/>
          <p:cNvSpPr/>
          <p:nvPr/>
        </p:nvSpPr>
        <p:spPr>
          <a:xfrm>
            <a:off x="3495666" y="3370064"/>
            <a:ext cx="213835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三层记忆架构（短期/中期/长期）设计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3495666" y="3616523"/>
            <a:ext cx="213835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Agent 独立治理模块开发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3495666" y="3862983"/>
            <a:ext cx="2138353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后端记忆存储与向量检索集成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6134081" y="1044773"/>
            <a:ext cx="2581266" cy="3812977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6143625" y="1044773"/>
            <a:ext cx="2571750" cy="1802011"/>
          </a:xfrm>
          <a:prstGeom prst="rect">
            <a:avLst/>
          </a:prstGeom>
          <a:solidFill>
            <a:srgbClr val="F3F4F6">
              <a:alpha val="30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6143625" y="2839641"/>
            <a:ext cx="2571750" cy="7144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32" name="Shape 29"/>
          <p:cNvSpPr/>
          <p:nvPr/>
        </p:nvSpPr>
        <p:spPr>
          <a:xfrm>
            <a:off x="7072313" y="1259086"/>
            <a:ext cx="714375" cy="714375"/>
          </a:xfrm>
          <a:prstGeom prst="ellipse">
            <a:avLst/>
          </a:prstGeom>
          <a:solidFill>
            <a:srgbClr val="F59E0B">
              <a:alpha val="5000"/>
            </a:srgbClr>
          </a:solidFill>
          <a:ln w="18288">
            <a:solidFill>
              <a:srgbClr val="F59E0B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7072313" y="1259086"/>
            <a:ext cx="714375" cy="7143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F59E0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</a:t>
            </a:r>
            <a:endParaRPr lang="en-US" sz="1705" dirty="0"/>
          </a:p>
        </p:txBody>
      </p:sp>
      <p:sp>
        <p:nvSpPr>
          <p:cNvPr id="34" name="Text 31"/>
          <p:cNvSpPr/>
          <p:nvPr/>
        </p:nvSpPr>
        <p:spPr>
          <a:xfrm>
            <a:off x="7174111" y="2116336"/>
            <a:ext cx="510778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成员 C</a:t>
            </a:r>
            <a:endParaRPr lang="en-US" sz="1195" dirty="0"/>
          </a:p>
        </p:txBody>
      </p:sp>
      <p:sp>
        <p:nvSpPr>
          <p:cNvPr id="35" name="Text 32"/>
          <p:cNvSpPr/>
          <p:nvPr/>
        </p:nvSpPr>
        <p:spPr>
          <a:xfrm>
            <a:off x="7033022" y="2421731"/>
            <a:ext cx="792956" cy="203597"/>
          </a:xfrm>
          <a:prstGeom prst="rect">
            <a:avLst/>
          </a:prstGeom>
          <a:noFill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Eval &amp; Opt</a:t>
            </a:r>
            <a:endParaRPr lang="en-US" sz="685" dirty="0"/>
          </a:p>
        </p:txBody>
      </p:sp>
      <p:sp>
        <p:nvSpPr>
          <p:cNvPr id="36" name="Text 33"/>
          <p:cNvSpPr/>
          <p:nvPr/>
        </p:nvSpPr>
        <p:spPr>
          <a:xfrm>
            <a:off x="6357938" y="3053953"/>
            <a:ext cx="21431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kern="0" spc="1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核心贡献</a:t>
            </a:r>
            <a:endParaRPr lang="en-US" sz="725" dirty="0"/>
          </a:p>
        </p:txBody>
      </p:sp>
      <p:sp>
        <p:nvSpPr>
          <p:cNvPr id="37" name="Text 34"/>
          <p:cNvSpPr/>
          <p:nvPr/>
        </p:nvSpPr>
        <p:spPr>
          <a:xfrm>
            <a:off x="6357938" y="3370064"/>
            <a:ext cx="2143125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自进化闭环机制（质检-归因-优化）设计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6357938" y="3616523"/>
            <a:ext cx="2143125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Evaluator 与 Analyzer 评估框架构建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6357938" y="3862983"/>
            <a:ext cx="2143125" cy="16073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提示词优化与测试数据集构建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0" y="1569839"/>
            <a:ext cx="3429000" cy="8572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20" b="1" kern="0" spc="6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THAN</a:t>
            </a:r>
            <a:r>
              <a:rPr lang="en-US" sz="6220" b="1" kern="0" spc="6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</a:t>
            </a:r>
            <a:r>
              <a:rPr lang="en-US" sz="6220" b="1" kern="0" spc="6" dirty="0">
                <a:solidFill>
                  <a:srgbClr val="3B82F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</a:t>
            </a:r>
            <a:endParaRPr lang="en-US" sz="6220" dirty="0"/>
          </a:p>
        </p:txBody>
      </p:sp>
      <p:sp>
        <p:nvSpPr>
          <p:cNvPr id="4" name="Text 1"/>
          <p:cNvSpPr/>
          <p:nvPr/>
        </p:nvSpPr>
        <p:spPr>
          <a:xfrm>
            <a:off x="2611934" y="2598539"/>
            <a:ext cx="3920133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kern="0" spc="2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面向智能客服的 AI Agent 血糖管理自进化系统</a:t>
            </a:r>
            <a:endParaRPr lang="en-US" sz="1195" dirty="0"/>
          </a:p>
        </p:txBody>
      </p:sp>
      <p:sp>
        <p:nvSpPr>
          <p:cNvPr id="5" name="Shape 2"/>
          <p:cNvSpPr/>
          <p:nvPr/>
        </p:nvSpPr>
        <p:spPr>
          <a:xfrm>
            <a:off x="1721644" y="3418284"/>
            <a:ext cx="5700713" cy="726877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721644" y="3418284"/>
            <a:ext cx="5700713" cy="714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4"/>
          <p:cNvSpPr/>
          <p:nvPr/>
        </p:nvSpPr>
        <p:spPr>
          <a:xfrm>
            <a:off x="2780705" y="3593306"/>
            <a:ext cx="72866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725" dirty="0"/>
          </a:p>
        </p:txBody>
      </p:sp>
      <p:sp>
        <p:nvSpPr>
          <p:cNvPr id="8" name="Text 5"/>
          <p:cNvSpPr/>
          <p:nvPr/>
        </p:nvSpPr>
        <p:spPr>
          <a:xfrm>
            <a:off x="2654796" y="3782616"/>
            <a:ext cx="98048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团队成员：A B C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877520" y="3602236"/>
            <a:ext cx="242888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</a:t>
            </a:r>
            <a:endParaRPr lang="en-US" sz="725" dirty="0"/>
          </a:p>
        </p:txBody>
      </p:sp>
      <p:sp>
        <p:nvSpPr>
          <p:cNvPr id="10" name="Text 7"/>
          <p:cNvSpPr/>
          <p:nvPr/>
        </p:nvSpPr>
        <p:spPr>
          <a:xfrm>
            <a:off x="5614988" y="3791545"/>
            <a:ext cx="767953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82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2026-03-27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2898</Words>
  <Application>WPS 演示</Application>
  <PresentationFormat>On-screen Show (16:9)</PresentationFormat>
  <Paragraphs>398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Roboto Mono</vt:lpstr>
      <vt:lpstr>苹方-简</vt:lpstr>
      <vt:lpstr>Roboto Mono</vt:lpstr>
      <vt:lpstr>Roboto Mono</vt:lpstr>
      <vt:lpstr>Inter</vt:lpstr>
      <vt:lpstr>Inter</vt:lpstr>
      <vt:lpstr>Inter</vt:lpstr>
      <vt:lpstr>Calibri</vt:lpstr>
      <vt:lpstr>Helvetica Neue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张中天</cp:lastModifiedBy>
  <cp:revision>2</cp:revision>
  <dcterms:created xsi:type="dcterms:W3CDTF">2026-03-26T16:01:25Z</dcterms:created>
  <dcterms:modified xsi:type="dcterms:W3CDTF">2026-03-26T16:01:25Z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28AC0004D60C92965558C569A2E01BBA_42</vt:lpwstr>
  </property>
  <property fmtid="{D5CDD505-2E9C-101B-9397-08002B2CF9AE}" pid="3" name="KSOProductBuildVer">
    <vt:lpwstr>2052-12.9.0.20513</vt:lpwstr>
  </property>
</Properties>
</file>