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image" Target="../media/image-2-18.png"/><Relationship Id="rId19" Type="http://schemas.openxmlformats.org/officeDocument/2006/relationships/image" Target="../media/image-2-19.svg"/><Relationship Id="rId20" Type="http://schemas.openxmlformats.org/officeDocument/2006/relationships/image" Target="../media/image-2-20.png"/><Relationship Id="rId21" Type="http://schemas.openxmlformats.org/officeDocument/2006/relationships/image" Target="../media/image-2-21.svg"/><Relationship Id="rId22" Type="http://schemas.openxmlformats.org/officeDocument/2006/relationships/image" Target="../media/image-2-22.png"/><Relationship Id="rId23" Type="http://schemas.openxmlformats.org/officeDocument/2006/relationships/image" Target="../media/image-2-23.svg"/><Relationship Id="rId24" Type="http://schemas.openxmlformats.org/officeDocument/2006/relationships/image" Target="../media/image-2-24.png"/><Relationship Id="rId25" Type="http://schemas.openxmlformats.org/officeDocument/2006/relationships/image" Target="../media/image-2-25.svg"/><Relationship Id="rId26" Type="http://schemas.openxmlformats.org/officeDocument/2006/relationships/image" Target="../media/image-2-26.png"/><Relationship Id="rId27" Type="http://schemas.openxmlformats.org/officeDocument/2006/relationships/image" Target="../media/image-2-27.svg"/><Relationship Id="rId28" Type="http://schemas.openxmlformats.org/officeDocument/2006/relationships/image" Target="../media/image-2-28.png"/><Relationship Id="rId29" Type="http://schemas.openxmlformats.org/officeDocument/2006/relationships/image" Target="../media/image-2-29.svg"/><Relationship Id="rId30" Type="http://schemas.openxmlformats.org/officeDocument/2006/relationships/image" Target="../media/image-2-30.png"/><Relationship Id="rId31" Type="http://schemas.openxmlformats.org/officeDocument/2006/relationships/image" Target="../media/image-2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image" Target="../media/image-4-22.png"/><Relationship Id="rId23" Type="http://schemas.openxmlformats.org/officeDocument/2006/relationships/image" Target="../media/image-4-23.svg"/><Relationship Id="rId24" Type="http://schemas.openxmlformats.org/officeDocument/2006/relationships/image" Target="../media/image-4-24.png"/><Relationship Id="rId25" Type="http://schemas.openxmlformats.org/officeDocument/2006/relationships/image" Target="../media/image-4-25.sv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sv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sv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svg"/><Relationship Id="rId34" Type="http://schemas.openxmlformats.org/officeDocument/2006/relationships/image" Target="../media/image-6-34.png"/><Relationship Id="rId35" Type="http://schemas.openxmlformats.org/officeDocument/2006/relationships/image" Target="../media/image-6-35.svg"/><Relationship Id="rId36" Type="http://schemas.openxmlformats.org/officeDocument/2006/relationships/image" Target="../media/image-6-36.png"/><Relationship Id="rId37" Type="http://schemas.openxmlformats.org/officeDocument/2006/relationships/image" Target="../media/image-6-37.svg"/><Relationship Id="rId38" Type="http://schemas.openxmlformats.org/officeDocument/2006/relationships/image" Target="../media/image-6-38.png"/><Relationship Id="rId39" Type="http://schemas.openxmlformats.org/officeDocument/2006/relationships/image" Target="../media/image-6-39.svg"/><Relationship Id="rId40" Type="http://schemas.openxmlformats.org/officeDocument/2006/relationships/image" Target="../media/image-6-40.png"/><Relationship Id="rId41" Type="http://schemas.openxmlformats.org/officeDocument/2006/relationships/image" Target="../media/image-6-41.sv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991" y="785813"/>
            <a:ext cx="2857500" cy="35718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629275" y="514350"/>
            <a:ext cx="2143125" cy="2143125"/>
          </a:xfrm>
          <a:prstGeom prst="ellipse">
            <a:avLst/>
          </a:prstGeom>
          <a:ln w="7144">
            <a:solidFill>
              <a:srgbClr val="FFC700">
                <a:alpha val="2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429250" y="2943225"/>
            <a:ext cx="1428750" cy="1428750"/>
          </a:xfrm>
          <a:prstGeom prst="ellipse">
            <a:avLst/>
          </a:prstGeom>
          <a:ln w="7144">
            <a:solidFill>
              <a:srgbClr val="FFC700">
                <a:alpha val="20000"/>
              </a:srgbClr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69798" y="604038"/>
            <a:ext cx="2393156" cy="235744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06" y="664759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5554" y="661188"/>
            <a:ext cx="191452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 RESEARCH PROJECT</a:t>
            </a:r>
            <a:endParaRPr lang="en-US" sz="700" dirty="0"/>
          </a:p>
        </p:txBody>
      </p:sp>
      <p:sp>
        <p:nvSpPr>
          <p:cNvPr id="14" name="Text 7"/>
          <p:cNvSpPr/>
          <p:nvPr/>
        </p:nvSpPr>
        <p:spPr>
          <a:xfrm>
            <a:off x="570607" y="1012627"/>
            <a:ext cx="3557588" cy="1278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4"/>
              </a:lnSpc>
              <a:spcAft>
                <a:spcPts val="90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面向智能客服的</a:t>
            </a:r>
            <a:pPr algn="l" indent="0" marL="0">
              <a:buNone/>
            </a:pPr>
            <a:endParaRPr lang="en-US" sz="2500" dirty="0"/>
          </a:p>
          <a:p>
            <a:pPr algn="l" indent="0" marL="0">
              <a:lnSpc>
                <a:spcPts val="3364"/>
              </a:lnSpc>
              <a:buNone/>
            </a:pPr>
            <a:r>
              <a:rPr lang="en-US" sz="25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</a:t>
            </a:r>
            <a:pPr algn="l" indent="0" marL="0">
              <a:lnSpc>
                <a:spcPts val="3364"/>
              </a:lnSpc>
              <a:spcAft>
                <a:spcPts val="90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血糖管理</a:t>
            </a:r>
            <a:pPr algn="l" indent="0" marL="0">
              <a:buNone/>
            </a:pPr>
            <a:endParaRPr lang="en-US" sz="2500" dirty="0"/>
          </a:p>
          <a:p>
            <a:pPr algn="l" indent="0" marL="0">
              <a:lnSpc>
                <a:spcPts val="3364"/>
              </a:lnSpc>
              <a:spcAft>
                <a:spcPts val="90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自进化系统</a:t>
            </a:r>
            <a:endParaRPr lang="en-US" sz="2500" dirty="0"/>
          </a:p>
        </p:txBody>
      </p:sp>
      <p:sp>
        <p:nvSpPr>
          <p:cNvPr id="15" name="Text 8"/>
          <p:cNvSpPr/>
          <p:nvPr/>
        </p:nvSpPr>
        <p:spPr>
          <a:xfrm>
            <a:off x="570607" y="2405267"/>
            <a:ext cx="355758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700"/>
              </a:spcAft>
              <a:buNone/>
            </a:pPr>
            <a:r>
              <a:rPr lang="en-US" sz="10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Intelligent Blood Glucose Management Self-Evolution System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570607" y="2903544"/>
            <a:ext cx="3557588" cy="471488"/>
          </a:xfrm>
          <a:prstGeom prst="rect">
            <a:avLst/>
          </a:prstGeom>
          <a:ln/>
        </p:spPr>
      </p:sp>
      <p:sp>
        <p:nvSpPr>
          <p:cNvPr id="17" name="Shape 10"/>
          <p:cNvSpPr/>
          <p:nvPr/>
        </p:nvSpPr>
        <p:spPr>
          <a:xfrm>
            <a:off x="571500" y="2992841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69" y="3078566"/>
            <a:ext cx="100012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71131" y="2989269"/>
            <a:ext cx="871538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汇报人 PRESENTER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[汇报人姓名]</a:t>
            </a:r>
            <a:endParaRPr lang="en-US" sz="600" dirty="0"/>
          </a:p>
        </p:txBody>
      </p:sp>
      <p:sp>
        <p:nvSpPr>
          <p:cNvPr id="20" name="Shape 12"/>
          <p:cNvSpPr/>
          <p:nvPr/>
        </p:nvSpPr>
        <p:spPr>
          <a:xfrm>
            <a:off x="570607" y="3489331"/>
            <a:ext cx="3557588" cy="471488"/>
          </a:xfrm>
          <a:prstGeom prst="rect">
            <a:avLst/>
          </a:prstGeom>
          <a:ln/>
        </p:spPr>
      </p:sp>
      <p:sp>
        <p:nvSpPr>
          <p:cNvPr id="21" name="Shape 13"/>
          <p:cNvSpPr/>
          <p:nvPr/>
        </p:nvSpPr>
        <p:spPr>
          <a:xfrm>
            <a:off x="571500" y="3578628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" y="3664353"/>
            <a:ext cx="142875" cy="1143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73141" y="3575056"/>
            <a:ext cx="1007269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指导老师 SUPERVISOR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[老师姓名]</a:t>
            </a:r>
            <a:endParaRPr lang="en-US" sz="600" dirty="0"/>
          </a:p>
        </p:txBody>
      </p:sp>
      <p:sp>
        <p:nvSpPr>
          <p:cNvPr id="24" name="Shape 15"/>
          <p:cNvSpPr/>
          <p:nvPr/>
        </p:nvSpPr>
        <p:spPr>
          <a:xfrm>
            <a:off x="571500" y="4164416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69" y="4250141"/>
            <a:ext cx="100012" cy="1143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70406" y="4160844"/>
            <a:ext cx="642938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汇报日期 DATE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2026年3月</a:t>
            </a:r>
            <a:endParaRPr lang="en-US" sz="6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798" y="604038"/>
            <a:ext cx="2393156" cy="235744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0607" y="2903544"/>
            <a:ext cx="3557588" cy="471488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0607" y="3489331"/>
            <a:ext cx="3557588" cy="471488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31" name="Text 18"/>
          <p:cNvSpPr/>
          <p:nvPr/>
        </p:nvSpPr>
        <p:spPr>
          <a:xfrm>
            <a:off x="8500616" y="4845248"/>
            <a:ext cx="357187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0A0A0"/>
                </a:solidFill>
                <a:ea typeface="Orbitron" pitchFamily="34" charset="-122"/>
                <a:latin typeface="Orbitron" pitchFamily="34" charset="0"/>
                <a:cs typeface="Orbitron" pitchFamily="34" charset="-120"/>
              </a:rPr>
              <a:t>01 / 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83964"/>
            <a:ext cx="685800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目录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" y="2178844"/>
            <a:ext cx="1357313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3"/>
              </a:lnSpc>
              <a:spcAft>
                <a:spcPts val="563"/>
              </a:spcAft>
              <a:buNone/>
            </a:pPr>
            <a:r>
              <a:rPr lang="en-US" sz="5600" b="1" dirty="0">
                <a:solidFill>
                  <a:srgbClr val="FFC700">
                    <a:alpha val="12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28650" y="2819995"/>
            <a:ext cx="1300163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AGENDA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8650" y="3282553"/>
            <a:ext cx="1300163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88"/>
              </a:spcBef>
              <a:buNone/>
            </a:pPr>
            <a:r>
              <a:rPr lang="en-US" sz="9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当前章节 </a:t>
            </a:r>
            <a:pPr algn="l" indent="0" marL="0">
              <a:buNone/>
            </a:pPr>
            <a:r>
              <a:rPr lang="en-US" sz="11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02</a:t>
            </a:r>
            <a:pPr algn="l" indent="0" marL="0">
              <a:spcBef>
                <a:spcPts val="1688"/>
              </a:spcBef>
              <a:buNone/>
            </a:pPr>
            <a:r>
              <a:rPr lang="en-US" sz="9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/ 12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27675" y="1082864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559109" y="1210866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01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05" y="1196578"/>
            <a:ext cx="171450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6263" y="1395152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项目背景与研究意义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561256" y="1082864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692690" y="1210866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02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787" y="1196578"/>
            <a:ext cx="171450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89844" y="1395152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系统整体架构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6694838" y="1082864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6826272" y="1210866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03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368" y="1196578"/>
            <a:ext cx="171450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23425" y="1395152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Agent核心能力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2427675" y="2255611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2559109" y="2383613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04</a:t>
            </a:r>
            <a:endParaRPr lang="en-US" sz="7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2205" y="2369325"/>
            <a:ext cx="171450" cy="1428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556263" y="2567899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血糖管理知识体系</a:t>
            </a:r>
            <a:endParaRPr lang="en-US" sz="700" dirty="0"/>
          </a:p>
        </p:txBody>
      </p:sp>
      <p:sp>
        <p:nvSpPr>
          <p:cNvPr id="26" name="Shape 19"/>
          <p:cNvSpPr/>
          <p:nvPr/>
        </p:nvSpPr>
        <p:spPr>
          <a:xfrm>
            <a:off x="4561256" y="2255611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4692690" y="2383613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05</a:t>
            </a:r>
            <a:endParaRPr lang="en-US" sz="7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787" y="2369325"/>
            <a:ext cx="171450" cy="1428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89844" y="2567899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自进化机制设计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6694838" y="2255611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1" name="Text 23"/>
          <p:cNvSpPr/>
          <p:nvPr/>
        </p:nvSpPr>
        <p:spPr>
          <a:xfrm>
            <a:off x="6826272" y="2383613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06</a:t>
            </a:r>
            <a:endParaRPr lang="en-US" sz="7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368" y="2369325"/>
            <a:ext cx="171450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23425" y="2567899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智能客服集成方案</a:t>
            </a:r>
            <a:endParaRPr lang="en-US" sz="700" dirty="0"/>
          </a:p>
        </p:txBody>
      </p:sp>
      <p:sp>
        <p:nvSpPr>
          <p:cNvPr id="34" name="Shape 25"/>
          <p:cNvSpPr/>
          <p:nvPr/>
        </p:nvSpPr>
        <p:spPr>
          <a:xfrm>
            <a:off x="2427675" y="3428386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5" name="Text 26"/>
          <p:cNvSpPr/>
          <p:nvPr/>
        </p:nvSpPr>
        <p:spPr>
          <a:xfrm>
            <a:off x="2559109" y="3556360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07</a:t>
            </a:r>
            <a:endParaRPr lang="en-US" sz="7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2205" y="3542072"/>
            <a:ext cx="171450" cy="1428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556263" y="3740646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关键技术实现</a:t>
            </a:r>
            <a:endParaRPr lang="en-US" sz="700" dirty="0"/>
          </a:p>
        </p:txBody>
      </p:sp>
      <p:sp>
        <p:nvSpPr>
          <p:cNvPr id="38" name="Shape 28"/>
          <p:cNvSpPr/>
          <p:nvPr/>
        </p:nvSpPr>
        <p:spPr>
          <a:xfrm>
            <a:off x="4561256" y="3428386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9" name="Text 29"/>
          <p:cNvSpPr/>
          <p:nvPr/>
        </p:nvSpPr>
        <p:spPr>
          <a:xfrm>
            <a:off x="4692690" y="3556360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08</a:t>
            </a:r>
            <a:endParaRPr lang="en-US" sz="7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5787" y="3542072"/>
            <a:ext cx="171450" cy="14287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689844" y="3740646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应用场景与价值</a:t>
            </a:r>
            <a:endParaRPr lang="en-US" sz="700" dirty="0"/>
          </a:p>
        </p:txBody>
      </p:sp>
      <p:sp>
        <p:nvSpPr>
          <p:cNvPr id="42" name="Shape 31"/>
          <p:cNvSpPr/>
          <p:nvPr/>
        </p:nvSpPr>
        <p:spPr>
          <a:xfrm>
            <a:off x="6694838" y="3428386"/>
            <a:ext cx="2021681" cy="10572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3" name="Text 32"/>
          <p:cNvSpPr/>
          <p:nvPr/>
        </p:nvSpPr>
        <p:spPr>
          <a:xfrm>
            <a:off x="6826272" y="3556360"/>
            <a:ext cx="100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>
                    <a:alpha val="9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09</a:t>
            </a:r>
            <a:endParaRPr lang="en-US" sz="7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9368" y="3542072"/>
            <a:ext cx="171450" cy="14287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6823425" y="3740646"/>
            <a:ext cx="17930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总结与展望</a:t>
            </a:r>
            <a:endParaRPr lang="en-US" sz="700" dirty="0"/>
          </a:p>
        </p:txBody>
      </p:sp>
      <p:sp>
        <p:nvSpPr>
          <p:cNvPr id="46" name="Text 34"/>
          <p:cNvSpPr/>
          <p:nvPr/>
        </p:nvSpPr>
        <p:spPr>
          <a:xfrm>
            <a:off x="571500" y="4557713"/>
            <a:ext cx="814387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2 / 12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1500" y="283964"/>
            <a:ext cx="685800" cy="585788"/>
          </a:xfrm>
          <a:prstGeom prst="rect">
            <a:avLst/>
          </a:prstGeom>
        </p:spPr>
      </p:pic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27675" y="1082864"/>
            <a:ext cx="2021681" cy="1057275"/>
          </a:xfrm>
          <a:prstGeom prst="rect">
            <a:avLst/>
          </a:prstGeom>
        </p:spPr>
      </p:pic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61256" y="1082864"/>
            <a:ext cx="2021681" cy="1057275"/>
          </a:xfrm>
          <a:prstGeom prst="rect">
            <a:avLst/>
          </a:prstGeom>
        </p:spPr>
      </p:pic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94838" y="1082864"/>
            <a:ext cx="2021681" cy="1057275"/>
          </a:xfrm>
          <a:prstGeom prst="rect">
            <a:avLst/>
          </a:prstGeom>
        </p:spPr>
      </p:pic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27675" y="2255611"/>
            <a:ext cx="2021681" cy="1057275"/>
          </a:xfrm>
          <a:prstGeom prst="rect">
            <a:avLst/>
          </a:prstGeom>
        </p:spPr>
      </p:pic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61256" y="2255611"/>
            <a:ext cx="2021681" cy="1057275"/>
          </a:xfrm>
          <a:prstGeom prst="rect">
            <a:avLst/>
          </a:prstGeom>
        </p:spPr>
      </p:pic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94838" y="2255611"/>
            <a:ext cx="2021681" cy="1057275"/>
          </a:xfrm>
          <a:prstGeom prst="rect">
            <a:avLst/>
          </a:prstGeom>
        </p:spPr>
      </p:pic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27675" y="3428386"/>
            <a:ext cx="2021681" cy="1057275"/>
          </a:xfrm>
          <a:prstGeom prst="rect">
            <a:avLst/>
          </a:prstGeom>
        </p:spPr>
      </p:pic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61256" y="3428386"/>
            <a:ext cx="2021681" cy="1057275"/>
          </a:xfrm>
          <a:prstGeom prst="rect">
            <a:avLst/>
          </a:prstGeom>
        </p:spPr>
      </p:pic>
      <p:pic>
        <p:nvPicPr>
          <p:cNvPr id="57" name="Image 19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94838" y="3428386"/>
            <a:ext cx="2021681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5781" y="250031"/>
            <a:ext cx="2828925" cy="5072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项目背景与研究意义</a:t>
            </a:r>
            <a:endParaRPr lang="en-US" sz="2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781" y="934938"/>
            <a:ext cx="4950619" cy="18002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5806" y="1092994"/>
            <a:ext cx="285750" cy="285750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44" y="1164431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21569" y="1135856"/>
            <a:ext cx="750094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糖尿病现状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735806" y="1464469"/>
            <a:ext cx="4579144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1.4亿</a:t>
            </a:r>
            <a:pPr algn="l" indent="0" marL="0"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患者</a:t>
            </a:r>
            <a:endParaRPr lang="en-US" sz="3600" dirty="0"/>
          </a:p>
        </p:txBody>
      </p:sp>
      <p:sp>
        <p:nvSpPr>
          <p:cNvPr id="12" name="Text 7"/>
          <p:cNvSpPr/>
          <p:nvPr/>
        </p:nvSpPr>
        <p:spPr>
          <a:xfrm>
            <a:off x="735806" y="1977033"/>
            <a:ext cx="4579144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我国糖尿病患者数量庞大，血糖管理需求巨大且迫切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535781" y="2876252"/>
            <a:ext cx="4950619" cy="18002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735806" y="3034308"/>
            <a:ext cx="285750" cy="285750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44" y="3105745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21569" y="3077170"/>
            <a:ext cx="60007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现有问题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35806" y="3726359"/>
            <a:ext cx="42863" cy="42863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18" name="Text 12"/>
          <p:cNvSpPr/>
          <p:nvPr/>
        </p:nvSpPr>
        <p:spPr>
          <a:xfrm>
            <a:off x="864394" y="3672780"/>
            <a:ext cx="1393031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传统血糖管理缺乏智能化交互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5806" y="3947815"/>
            <a:ext cx="42863" cy="42863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20" name="Text 14"/>
          <p:cNvSpPr/>
          <p:nvPr/>
        </p:nvSpPr>
        <p:spPr>
          <a:xfrm>
            <a:off x="864394" y="3894237"/>
            <a:ext cx="12858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用户黏性低，难以持续管理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735806" y="4169271"/>
            <a:ext cx="42863" cy="42863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22" name="Text 16"/>
          <p:cNvSpPr/>
          <p:nvPr/>
        </p:nvSpPr>
        <p:spPr>
          <a:xfrm>
            <a:off x="864394" y="4115693"/>
            <a:ext cx="12858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缺乏个性化指导与反馈机制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700713" y="934938"/>
            <a:ext cx="3300413" cy="17859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5872163" y="1092994"/>
            <a:ext cx="257175" cy="2571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8597" y="1157288"/>
            <a:ext cx="164306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5063" y="1132284"/>
            <a:ext cx="814388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智能客服趋势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872163" y="1772878"/>
            <a:ext cx="2986087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872163" y="2079696"/>
            <a:ext cx="2986087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成为智能服务新范式，引领下一代人机交互革命</a:t>
            </a:r>
            <a:endParaRPr lang="en-US" sz="7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00713" y="2861965"/>
            <a:ext cx="3300413" cy="18145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58188" y="2870002"/>
            <a:ext cx="485775" cy="150019"/>
          </a:xfrm>
          <a:prstGeom prst="rect">
            <a:avLst/>
          </a:prstGeom>
          <a:solidFill>
            <a:srgbClr val="FFC70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核心目标</a:t>
            </a:r>
            <a:endParaRPr lang="en-US" sz="600" dirty="0"/>
          </a:p>
        </p:txBody>
      </p:sp>
      <p:sp>
        <p:nvSpPr>
          <p:cNvPr id="31" name="Shape 23"/>
          <p:cNvSpPr/>
          <p:nvPr/>
        </p:nvSpPr>
        <p:spPr>
          <a:xfrm>
            <a:off x="5857875" y="3034308"/>
            <a:ext cx="257175" cy="257175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2169" y="3098602"/>
            <a:ext cx="128588" cy="128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00775" y="3073598"/>
            <a:ext cx="542925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研究目标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5857875" y="3729930"/>
            <a:ext cx="298608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构建具备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自进化能力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的AI血糖管理Agent系统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5857875" y="4001393"/>
            <a:ext cx="350044" cy="164306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智能化</a:t>
            </a:r>
            <a:endParaRPr lang="en-US" sz="600" dirty="0"/>
          </a:p>
        </p:txBody>
      </p:sp>
      <p:sp>
        <p:nvSpPr>
          <p:cNvPr id="36" name="Text 27"/>
          <p:cNvSpPr/>
          <p:nvPr/>
        </p:nvSpPr>
        <p:spPr>
          <a:xfrm>
            <a:off x="6265069" y="4001393"/>
            <a:ext cx="350044" cy="164306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</a:t>
            </a:r>
            <a:endParaRPr lang="en-US" sz="600" dirty="0"/>
          </a:p>
        </p:txBody>
      </p:sp>
      <p:sp>
        <p:nvSpPr>
          <p:cNvPr id="37" name="Text 28"/>
          <p:cNvSpPr/>
          <p:nvPr/>
        </p:nvSpPr>
        <p:spPr>
          <a:xfrm>
            <a:off x="6672263" y="4001393"/>
            <a:ext cx="350044" cy="164306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自适应</a:t>
            </a:r>
            <a:endParaRPr lang="en-US" sz="600" dirty="0"/>
          </a:p>
        </p:txBody>
      </p:sp>
      <p:sp>
        <p:nvSpPr>
          <p:cNvPr id="38" name="Shape 29"/>
          <p:cNvSpPr/>
          <p:nvPr/>
        </p:nvSpPr>
        <p:spPr>
          <a:xfrm>
            <a:off x="535781" y="4673798"/>
            <a:ext cx="8251031" cy="257175"/>
          </a:xfrm>
          <a:prstGeom prst="rect">
            <a:avLst/>
          </a:prstGeom>
          <a:ln/>
        </p:spPr>
      </p:sp>
      <p:sp>
        <p:nvSpPr>
          <p:cNvPr id="39" name="Text 30"/>
          <p:cNvSpPr/>
          <p:nvPr/>
        </p:nvSpPr>
        <p:spPr>
          <a:xfrm>
            <a:off x="535391" y="4798814"/>
            <a:ext cx="8501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AI血糖管理自进化系统</a:t>
            </a:r>
            <a:endParaRPr lang="en-US" sz="600" dirty="0"/>
          </a:p>
        </p:txBody>
      </p:sp>
      <p:sp>
        <p:nvSpPr>
          <p:cNvPr id="40" name="Shape 31"/>
          <p:cNvSpPr/>
          <p:nvPr/>
        </p:nvSpPr>
        <p:spPr>
          <a:xfrm>
            <a:off x="1527981" y="4809530"/>
            <a:ext cx="7144" cy="10001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1" name="Text 32"/>
          <p:cNvSpPr/>
          <p:nvPr/>
        </p:nvSpPr>
        <p:spPr>
          <a:xfrm>
            <a:off x="1678000" y="4798814"/>
            <a:ext cx="5143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项目背景研究</a:t>
            </a:r>
            <a:endParaRPr lang="en-US" sz="600" dirty="0"/>
          </a:p>
        </p:txBody>
      </p:sp>
      <p:sp>
        <p:nvSpPr>
          <p:cNvPr id="42" name="Text 33"/>
          <p:cNvSpPr/>
          <p:nvPr/>
        </p:nvSpPr>
        <p:spPr>
          <a:xfrm>
            <a:off x="8488477" y="4788098"/>
            <a:ext cx="3000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3 / 12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5781" y="250031"/>
            <a:ext cx="2828925" cy="507206"/>
          </a:xfrm>
          <a:prstGeom prst="rect">
            <a:avLst/>
          </a:prstGeom>
        </p:spPr>
      </p:pic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5781" y="2876252"/>
            <a:ext cx="4950619" cy="1800225"/>
          </a:xfrm>
          <a:prstGeom prst="rect">
            <a:avLst/>
          </a:prstGeom>
        </p:spPr>
      </p:pic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00713" y="934938"/>
            <a:ext cx="3300413" cy="1785938"/>
          </a:xfrm>
          <a:prstGeom prst="rect">
            <a:avLst/>
          </a:prstGeom>
        </p:spPr>
      </p:pic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5781" y="4673798"/>
            <a:ext cx="8251031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83964"/>
            <a:ext cx="197167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系统整体架构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1500" y="953691"/>
            <a:ext cx="4800600" cy="300038"/>
          </a:xfrm>
          <a:prstGeom prst="rect">
            <a:avLst/>
          </a:prstGeom>
          <a:solidFill>
            <a:srgbClr val="FFC700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执行层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多渠道接入、对话生成、血糖干预执行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" y="953691"/>
            <a:ext cx="28575" cy="285750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329910"/>
            <a:ext cx="4800600" cy="300038"/>
          </a:xfrm>
          <a:prstGeom prst="rect">
            <a:avLst/>
          </a:prstGeom>
          <a:solidFill>
            <a:srgbClr val="FFC700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决策层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对话策略管理、个性化方案生成、效果评估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1500" y="1329910"/>
            <a:ext cx="28575" cy="285750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706128"/>
            <a:ext cx="4800600" cy="300038"/>
          </a:xfrm>
          <a:prstGeom prst="rect">
            <a:avLst/>
          </a:prstGeom>
          <a:solidFill>
            <a:srgbClr val="FFC700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认知层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血糖知识图谱检索、用户画像建模、意图深度理解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1500" y="1706128"/>
            <a:ext cx="28575" cy="285750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082347"/>
            <a:ext cx="4800600" cy="300038"/>
          </a:xfrm>
          <a:prstGeom prst="rect">
            <a:avLst/>
          </a:prstGeom>
          <a:solidFill>
            <a:srgbClr val="FFC700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感知层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语音/文本输入识别、多模态数据采集、环境上下文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1500" y="2082347"/>
            <a:ext cx="28575" cy="28575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5" y="953691"/>
            <a:ext cx="3200400" cy="14287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70607" y="2525316"/>
            <a:ext cx="1957388" cy="1300163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288" y="2646759"/>
            <a:ext cx="200025" cy="2000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2829" y="2916436"/>
            <a:ext cx="692944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Agent引擎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77763" y="3134655"/>
            <a:ext cx="1743075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基于LLM的核心驱动，负责逻辑推理与任务拆解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2633365" y="2525316"/>
            <a:ext cx="1957388" cy="1300163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762" y="2646759"/>
            <a:ext cx="178594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26309" y="2916436"/>
            <a:ext cx="5715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血糖知识库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2840534" y="3135381"/>
            <a:ext cx="15430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整合专业医学指南与实时更新的控糖案例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4696123" y="2525316"/>
            <a:ext cx="1957388" cy="1300163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516" y="2646759"/>
            <a:ext cx="228600" cy="2000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6216" y="2916436"/>
            <a:ext cx="4572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用户画像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903291" y="3135381"/>
            <a:ext cx="15430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动态记录生理指标、饮食偏好与交互习惯</a:t>
            </a:r>
            <a:endParaRPr lang="en-US" sz="600" dirty="0"/>
          </a:p>
        </p:txBody>
      </p:sp>
      <p:sp>
        <p:nvSpPr>
          <p:cNvPr id="28" name="Shape 21"/>
          <p:cNvSpPr/>
          <p:nvPr/>
        </p:nvSpPr>
        <p:spPr>
          <a:xfrm>
            <a:off x="6758880" y="2525316"/>
            <a:ext cx="1957388" cy="1300163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7562" y="2646759"/>
            <a:ext cx="200025" cy="2000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51824" y="2916436"/>
            <a:ext cx="5715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自进化模块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880324" y="3135381"/>
            <a:ext cx="17145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基于反馈闭环，持续优化回复策略与知识关联</a:t>
            </a:r>
            <a:endParaRPr lang="en-US" sz="600" dirty="0"/>
          </a:p>
        </p:txBody>
      </p:sp>
      <p:sp>
        <p:nvSpPr>
          <p:cNvPr id="32" name="Shape 24"/>
          <p:cNvSpPr/>
          <p:nvPr/>
        </p:nvSpPr>
        <p:spPr>
          <a:xfrm>
            <a:off x="571500" y="3966567"/>
            <a:ext cx="8143875" cy="6929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096941"/>
            <a:ext cx="100012" cy="10001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71538" y="4086225"/>
            <a:ext cx="9001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63"/>
              </a:spcAft>
              <a:buNone/>
            </a:pPr>
            <a:r>
              <a:rPr lang="en-US" sz="7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系统数据流转全链路</a:t>
            </a:r>
            <a:endParaRPr lang="en-US" sz="700" dirty="0"/>
          </a:p>
        </p:txBody>
      </p:sp>
      <p:sp>
        <p:nvSpPr>
          <p:cNvPr id="35" name="Shape 26"/>
          <p:cNvSpPr/>
          <p:nvPr/>
        </p:nvSpPr>
        <p:spPr>
          <a:xfrm>
            <a:off x="1304013" y="4289822"/>
            <a:ext cx="85725" cy="85725"/>
          </a:xfrm>
          <a:prstGeom prst="rect">
            <a:avLst/>
          </a:prstGeom>
          <a:solidFill>
            <a:srgbClr val="FFC700"/>
          </a:solidFill>
          <a:ln/>
          <a:effectLst>
            <a:outerShdw sx="100000" sy="100000" kx="0" ky="0" algn="bl" rotWithShape="0" blurRad="71438" dist="50800" dir="16200000">
              <a:srgbClr val="FFC700">
                <a:alpha val="50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1175426" y="4430911"/>
            <a:ext cx="3429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用户输入</a:t>
            </a:r>
            <a:endParaRPr lang="en-US" sz="6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7647" y="4375547"/>
            <a:ext cx="57150" cy="85725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622649" y="4289822"/>
            <a:ext cx="85725" cy="85725"/>
          </a:xfrm>
          <a:prstGeom prst="rect">
            <a:avLst/>
          </a:prstGeom>
          <a:solidFill>
            <a:srgbClr val="FFC700"/>
          </a:solidFill>
          <a:ln/>
          <a:effectLst>
            <a:outerShdw sx="100000" sy="100000" kx="0" ky="0" algn="bl" rotWithShape="0" blurRad="71438" dist="50800" dir="16200000">
              <a:srgbClr val="FFC700">
                <a:alpha val="50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2494062" y="4430911"/>
            <a:ext cx="3429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意图识别</a:t>
            </a:r>
            <a:endParaRPr lang="en-US" sz="6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6283" y="4375547"/>
            <a:ext cx="57150" cy="85725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3941285" y="4289822"/>
            <a:ext cx="85725" cy="85725"/>
          </a:xfrm>
          <a:prstGeom prst="rect">
            <a:avLst/>
          </a:prstGeom>
          <a:solidFill>
            <a:srgbClr val="FFC700"/>
          </a:solidFill>
          <a:ln/>
          <a:effectLst>
            <a:outerShdw sx="100000" sy="100000" kx="0" ky="0" algn="bl" rotWithShape="0" blurRad="71438" dist="50800" dir="16200000">
              <a:srgbClr val="FFC700">
                <a:alpha val="50000"/>
              </a:srgbClr>
            </a:outerShdw>
          </a:effectLst>
        </p:spPr>
      </p:sp>
      <p:sp>
        <p:nvSpPr>
          <p:cNvPr id="42" name="Text 31"/>
          <p:cNvSpPr/>
          <p:nvPr/>
        </p:nvSpPr>
        <p:spPr>
          <a:xfrm>
            <a:off x="3812698" y="4430911"/>
            <a:ext cx="3429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知识检索</a:t>
            </a:r>
            <a:endParaRPr lang="en-US" sz="6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4918" y="4375547"/>
            <a:ext cx="57150" cy="85725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5259921" y="4289822"/>
            <a:ext cx="85725" cy="85725"/>
          </a:xfrm>
          <a:prstGeom prst="rect">
            <a:avLst/>
          </a:prstGeom>
          <a:solidFill>
            <a:srgbClr val="FFC700"/>
          </a:solidFill>
          <a:ln/>
          <a:effectLst>
            <a:outerShdw sx="100000" sy="100000" kx="0" ky="0" algn="bl" rotWithShape="0" blurRad="71438" dist="50800" dir="16200000">
              <a:srgbClr val="FFC700">
                <a:alpha val="50000"/>
              </a:srgbClr>
            </a:outerShdw>
          </a:effectLst>
        </p:spPr>
      </p:sp>
      <p:sp>
        <p:nvSpPr>
          <p:cNvPr id="45" name="Text 33"/>
          <p:cNvSpPr/>
          <p:nvPr/>
        </p:nvSpPr>
        <p:spPr>
          <a:xfrm>
            <a:off x="5088471" y="4430911"/>
            <a:ext cx="42862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个性化响应</a:t>
            </a:r>
            <a:endParaRPr lang="en-US" sz="6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3554" y="4375547"/>
            <a:ext cx="57150" cy="85725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6578557" y="4289822"/>
            <a:ext cx="85725" cy="85725"/>
          </a:xfrm>
          <a:prstGeom prst="rect">
            <a:avLst/>
          </a:prstGeom>
          <a:solidFill>
            <a:srgbClr val="FFC700"/>
          </a:solidFill>
          <a:ln/>
          <a:effectLst>
            <a:outerShdw sx="100000" sy="100000" kx="0" ky="0" algn="bl" rotWithShape="0" blurRad="71438" dist="50800" dir="16200000">
              <a:srgbClr val="FFC700">
                <a:alpha val="50000"/>
              </a:srgbClr>
            </a:outerShdw>
          </a:effectLst>
        </p:spPr>
      </p:sp>
      <p:sp>
        <p:nvSpPr>
          <p:cNvPr id="48" name="Text 35"/>
          <p:cNvSpPr/>
          <p:nvPr/>
        </p:nvSpPr>
        <p:spPr>
          <a:xfrm>
            <a:off x="6449969" y="4430911"/>
            <a:ext cx="3429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效果评估</a:t>
            </a:r>
            <a:endParaRPr lang="en-US" sz="6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2190" y="4375547"/>
            <a:ext cx="57150" cy="85725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7897192" y="4289822"/>
            <a:ext cx="85725" cy="85725"/>
          </a:xfrm>
          <a:prstGeom prst="rect">
            <a:avLst/>
          </a:prstGeom>
          <a:solidFill>
            <a:srgbClr val="FFC700"/>
          </a:solidFill>
          <a:ln/>
          <a:effectLst>
            <a:outerShdw sx="100000" sy="100000" kx="0" ky="0" algn="bl" rotWithShape="0" blurRad="71438" dist="50800" dir="16200000">
              <a:srgbClr val="FFC700">
                <a:alpha val="50000"/>
              </a:srgbClr>
            </a:outerShdw>
          </a:effectLst>
        </p:spPr>
      </p:sp>
      <p:sp>
        <p:nvSpPr>
          <p:cNvPr id="51" name="Text 37"/>
          <p:cNvSpPr/>
          <p:nvPr/>
        </p:nvSpPr>
        <p:spPr>
          <a:xfrm>
            <a:off x="7768605" y="4430911"/>
            <a:ext cx="3429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自我优化</a:t>
            </a:r>
            <a:endParaRPr lang="en-US" sz="600" dirty="0"/>
          </a:p>
        </p:txBody>
      </p:sp>
      <p:sp>
        <p:nvSpPr>
          <p:cNvPr id="52" name="Text 38"/>
          <p:cNvSpPr/>
          <p:nvPr/>
        </p:nvSpPr>
        <p:spPr>
          <a:xfrm>
            <a:off x="571500" y="4657725"/>
            <a:ext cx="8143875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 FOR BLOOD GLUCOSE MANAGEMENT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4 / 12</a:t>
            </a:r>
            <a:endParaRPr lang="en-US" sz="600" dirty="0"/>
          </a:p>
        </p:txBody>
      </p:sp>
      <p:sp>
        <p:nvSpPr>
          <p:cNvPr id="53" name="Shape 39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1500" y="283964"/>
            <a:ext cx="1971675" cy="528638"/>
          </a:xfrm>
          <a:prstGeom prst="rect">
            <a:avLst/>
          </a:prstGeom>
        </p:spPr>
      </p:pic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0607" y="2525316"/>
            <a:ext cx="1957388" cy="1300163"/>
          </a:xfrm>
          <a:prstGeom prst="rect">
            <a:avLst/>
          </a:prstGeom>
        </p:spPr>
      </p:pic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33365" y="2525316"/>
            <a:ext cx="1957388" cy="1300163"/>
          </a:xfrm>
          <a:prstGeom prst="rect">
            <a:avLst/>
          </a:prstGeom>
        </p:spPr>
      </p:pic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96123" y="2525316"/>
            <a:ext cx="1957388" cy="1300163"/>
          </a:xfrm>
          <a:prstGeom prst="rect">
            <a:avLst/>
          </a:prstGeom>
        </p:spPr>
      </p:pic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758880" y="2525316"/>
            <a:ext cx="1957388" cy="1300163"/>
          </a:xfrm>
          <a:prstGeom prst="rect">
            <a:avLst/>
          </a:prstGeom>
        </p:spPr>
      </p:pic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71500" y="4657725"/>
            <a:ext cx="814387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9742" y="283964"/>
            <a:ext cx="2771775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Agent核心能力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068884"/>
            <a:ext cx="3986213" cy="1671638"/>
          </a:xfrm>
          <a:prstGeom prst="roundRect">
            <a:avLst>
              <a:gd name="adj" fmla="val 187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519" y="1218009"/>
            <a:ext cx="400050" cy="40005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72" y="1325166"/>
            <a:ext cx="235744" cy="1857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4444" y="1218009"/>
            <a:ext cx="314325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3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自然语言理解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29162" y="1068884"/>
            <a:ext cx="3986213" cy="1671638"/>
          </a:xfrm>
          <a:prstGeom prst="roundRect">
            <a:avLst>
              <a:gd name="adj" fmla="val 187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9181" y="1218009"/>
            <a:ext cx="400050" cy="40005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7769" y="1325166"/>
            <a:ext cx="142875" cy="1857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22106" y="1218009"/>
            <a:ext cx="314325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3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知识推理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571500" y="2913757"/>
            <a:ext cx="3986213" cy="1671638"/>
          </a:xfrm>
          <a:prstGeom prst="roundRect">
            <a:avLst>
              <a:gd name="adj" fmla="val 187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1519" y="3062883"/>
            <a:ext cx="400050" cy="40005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672" y="3170039"/>
            <a:ext cx="235744" cy="18573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264444" y="3062883"/>
            <a:ext cx="314325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3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个性化推荐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4729162" y="2913757"/>
            <a:ext cx="3986213" cy="1671638"/>
          </a:xfrm>
          <a:prstGeom prst="roundRect">
            <a:avLst>
              <a:gd name="adj" fmla="val 187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79181" y="3062883"/>
            <a:ext cx="400050" cy="40005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6338" y="3170039"/>
            <a:ext cx="185738" cy="18573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422106" y="3062883"/>
            <a:ext cx="314325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3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情感计算</a:t>
            </a:r>
            <a:endParaRPr lang="en-US" sz="1100" dirty="0"/>
          </a:p>
        </p:txBody>
      </p:sp>
      <p:sp>
        <p:nvSpPr>
          <p:cNvPr id="23" name="Text 12"/>
          <p:cNvSpPr/>
          <p:nvPr/>
        </p:nvSpPr>
        <p:spPr>
          <a:xfrm>
            <a:off x="571500" y="4586288"/>
            <a:ext cx="8143875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5 / 12</a:t>
            </a:r>
            <a:endParaRPr lang="en-US" sz="1000" dirty="0"/>
          </a:p>
        </p:txBody>
      </p:sp>
      <p:sp>
        <p:nvSpPr>
          <p:cNvPr id="24" name="Shape 13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7700" y="2457450"/>
            <a:ext cx="228600" cy="22860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9742" y="283964"/>
            <a:ext cx="2771775" cy="58578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264444" y="1490867"/>
            <a:ext cx="314325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多轮对话上下文追踪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精准意图识别与解析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医疗实体智能提取</a:t>
            </a:r>
            <a:endParaRPr lang="en-US" sz="700" dirty="0"/>
          </a:p>
        </p:txBody>
      </p:sp>
      <p:sp>
        <p:nvSpPr>
          <p:cNvPr id="28" name="Text 15"/>
          <p:cNvSpPr/>
          <p:nvPr/>
        </p:nvSpPr>
        <p:spPr>
          <a:xfrm>
            <a:off x="5422106" y="1490867"/>
            <a:ext cx="314325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基于血糖知识图谱推理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复杂医学逻辑链分析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因果关联与风险预警</a:t>
            </a:r>
            <a:endParaRPr lang="en-US" sz="700" dirty="0"/>
          </a:p>
        </p:txBody>
      </p:sp>
      <p:sp>
        <p:nvSpPr>
          <p:cNvPr id="29" name="Text 16"/>
          <p:cNvSpPr/>
          <p:nvPr/>
        </p:nvSpPr>
        <p:spPr>
          <a:xfrm>
            <a:off x="1264444" y="3335741"/>
            <a:ext cx="314325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动态用户画像构建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千人千面定制建议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饮食运动智能匹配</a:t>
            </a:r>
            <a:endParaRPr lang="en-US" sz="700" dirty="0"/>
          </a:p>
        </p:txBody>
      </p:sp>
      <p:sp>
        <p:nvSpPr>
          <p:cNvPr id="30" name="Text 17"/>
          <p:cNvSpPr/>
          <p:nvPr/>
        </p:nvSpPr>
        <p:spPr>
          <a:xfrm>
            <a:off x="5422106" y="3335741"/>
            <a:ext cx="314325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实时情绪状态识别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共情式交互反馈</a:t>
            </a:r>
            <a:endParaRPr lang="en-US" sz="700" dirty="0"/>
          </a:p>
          <a:p>
            <a:pPr algn="l" indent="0" marL="0">
              <a:lnSpc>
                <a:spcPts val="1339"/>
              </a:lnSpc>
              <a:spcAft>
                <a:spcPts val="225"/>
              </a:spcAft>
              <a:buNone/>
            </a:pPr>
            <a:r>
              <a:rPr lang="en-US" sz="700" dirty="0">
                <a:solidFill>
                  <a:srgbClr val="C0C0C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心理支持策略生成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43875" y="3143250"/>
            <a:ext cx="1428750" cy="1428750"/>
          </a:xfrm>
          <a:prstGeom prst="ellipse">
            <a:avLst/>
          </a:prstGeom>
          <a:ln w="14288">
            <a:solidFill>
              <a:srgbClr val="FFC700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283964"/>
            <a:ext cx="2514600" cy="5572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血糖管理知识体系</a:t>
            </a:r>
            <a:endParaRPr lang="en-US" sz="2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07" y="1064419"/>
            <a:ext cx="114300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5452" y="1032272"/>
            <a:ext cx="6286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13"/>
              </a:spcAft>
              <a:buNone/>
            </a:pPr>
            <a:r>
              <a:rPr lang="en-US" sz="12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知识来源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71500" y="1366242"/>
            <a:ext cx="2000250" cy="364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" y="1476970"/>
            <a:ext cx="171450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8694" y="1466255"/>
            <a:ext cx="4572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医学指南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71500" y="1841302"/>
            <a:ext cx="2000250" cy="364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1" y="1952030"/>
            <a:ext cx="171450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8694" y="1941314"/>
            <a:ext cx="4572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专家经验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71500" y="2316361"/>
            <a:ext cx="2000250" cy="364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1" y="2427089"/>
            <a:ext cx="171450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8694" y="2416373"/>
            <a:ext cx="4572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临床案例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2674" y="1064419"/>
            <a:ext cx="142875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037880" y="1032272"/>
            <a:ext cx="9429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13"/>
              </a:spcAft>
              <a:buNone/>
            </a:pPr>
            <a:r>
              <a:rPr lang="en-US" sz="12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知识组织架构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1781" y="1368028"/>
            <a:ext cx="5893594" cy="82867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775597" y="1503759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 w="14288">
            <a:solidFill>
              <a:srgbClr val="FFC700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038" y="1610916"/>
            <a:ext cx="164306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754166" y="1918097"/>
            <a:ext cx="4000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知识图谱</a:t>
            </a:r>
            <a:endParaRPr lang="en-US" sz="7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7091" y="1696641"/>
            <a:ext cx="150019" cy="17145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5611416" y="1503759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 w="14288">
            <a:solidFill>
              <a:srgbClr val="FFC700"/>
            </a:solidFill>
            <a:prstDash val="solid"/>
          </a:ln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0712" y="1610916"/>
            <a:ext cx="178594" cy="142875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589984" y="1918097"/>
            <a:ext cx="4000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规则引擎</a:t>
            </a:r>
            <a:endParaRPr lang="en-US" sz="7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2909" y="1696641"/>
            <a:ext cx="150019" cy="17145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6425803" y="1503759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 w="14288">
            <a:solidFill>
              <a:srgbClr val="FFC700"/>
            </a:solidFill>
            <a:prstDash val="solid"/>
          </a:ln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2244" y="1610916"/>
            <a:ext cx="164306" cy="14287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454378" y="1918097"/>
            <a:ext cx="3000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案例库</a:t>
            </a:r>
            <a:endParaRPr lang="en-US" sz="7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22674" y="2386013"/>
            <a:ext cx="142875" cy="12858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3037880" y="2353866"/>
            <a:ext cx="9429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13"/>
              </a:spcAft>
              <a:buNone/>
            </a:pPr>
            <a:r>
              <a:rPr lang="en-US" sz="12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核心管理内容</a:t>
            </a:r>
            <a:endParaRPr lang="en-US" sz="1200" dirty="0"/>
          </a:p>
        </p:txBody>
      </p:sp>
      <p:sp>
        <p:nvSpPr>
          <p:cNvPr id="34" name="Shape 19"/>
          <p:cNvSpPr/>
          <p:nvPr/>
        </p:nvSpPr>
        <p:spPr>
          <a:xfrm>
            <a:off x="2819995" y="2690515"/>
            <a:ext cx="2893219" cy="664369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71800" y="2825353"/>
            <a:ext cx="314325" cy="314325"/>
          </a:xfrm>
          <a:prstGeom prst="rect">
            <a:avLst/>
          </a:prstGeom>
        </p:spPr>
      </p:pic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64669" y="2918222"/>
            <a:ext cx="128588" cy="128588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3400425" y="2825353"/>
            <a:ext cx="8358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38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血糖监测</a:t>
            </a:r>
            <a:endParaRPr lang="en-US" sz="900" dirty="0"/>
          </a:p>
        </p:txBody>
      </p:sp>
      <p:sp>
        <p:nvSpPr>
          <p:cNvPr id="38" name="Text 21"/>
          <p:cNvSpPr/>
          <p:nvPr/>
        </p:nvSpPr>
        <p:spPr>
          <a:xfrm>
            <a:off x="3400425" y="3040363"/>
            <a:ext cx="83581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实时监测与趋势分析</a:t>
            </a:r>
            <a:endParaRPr lang="en-US" sz="700" dirty="0"/>
          </a:p>
        </p:txBody>
      </p:sp>
      <p:sp>
        <p:nvSpPr>
          <p:cNvPr id="39" name="Shape 22"/>
          <p:cNvSpPr/>
          <p:nvPr/>
        </p:nvSpPr>
        <p:spPr>
          <a:xfrm>
            <a:off x="5823942" y="2690515"/>
            <a:ext cx="2893219" cy="664369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75747" y="2825353"/>
            <a:ext cx="314325" cy="314325"/>
          </a:xfrm>
          <a:prstGeom prst="rect">
            <a:avLst/>
          </a:prstGeom>
        </p:spPr>
      </p:pic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75759" y="2918222"/>
            <a:ext cx="114300" cy="128588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6404372" y="2825353"/>
            <a:ext cx="650081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38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饮食控制</a:t>
            </a:r>
            <a:endParaRPr lang="en-US" sz="900" dirty="0"/>
          </a:p>
        </p:txBody>
      </p:sp>
      <p:sp>
        <p:nvSpPr>
          <p:cNvPr id="43" name="Text 24"/>
          <p:cNvSpPr/>
          <p:nvPr/>
        </p:nvSpPr>
        <p:spPr>
          <a:xfrm>
            <a:off x="6404372" y="3040363"/>
            <a:ext cx="650081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个性化膳食建议</a:t>
            </a:r>
            <a:endParaRPr lang="en-US" sz="700" dirty="0"/>
          </a:p>
        </p:txBody>
      </p:sp>
      <p:sp>
        <p:nvSpPr>
          <p:cNvPr id="44" name="Shape 25"/>
          <p:cNvSpPr/>
          <p:nvPr/>
        </p:nvSpPr>
        <p:spPr>
          <a:xfrm>
            <a:off x="2819995" y="3470970"/>
            <a:ext cx="2893219" cy="664369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71800" y="3605808"/>
            <a:ext cx="314325" cy="314325"/>
          </a:xfrm>
          <a:prstGeom prst="rect">
            <a:avLst/>
          </a:prstGeom>
        </p:spPr>
      </p:pic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71813" y="3698677"/>
            <a:ext cx="114300" cy="128588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3400425" y="3605808"/>
            <a:ext cx="7429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38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运动建议</a:t>
            </a:r>
            <a:endParaRPr lang="en-US" sz="900" dirty="0"/>
          </a:p>
        </p:txBody>
      </p:sp>
      <p:sp>
        <p:nvSpPr>
          <p:cNvPr id="48" name="Text 27"/>
          <p:cNvSpPr/>
          <p:nvPr/>
        </p:nvSpPr>
        <p:spPr>
          <a:xfrm>
            <a:off x="3400425" y="3820818"/>
            <a:ext cx="7429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科学运动方案制定</a:t>
            </a:r>
            <a:endParaRPr lang="en-US" sz="700" dirty="0"/>
          </a:p>
        </p:txBody>
      </p:sp>
      <p:sp>
        <p:nvSpPr>
          <p:cNvPr id="49" name="Shape 28"/>
          <p:cNvSpPr/>
          <p:nvPr/>
        </p:nvSpPr>
        <p:spPr>
          <a:xfrm>
            <a:off x="5823942" y="3470970"/>
            <a:ext cx="2893219" cy="664369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75747" y="3605808"/>
            <a:ext cx="314325" cy="314325"/>
          </a:xfrm>
          <a:prstGeom prst="rect">
            <a:avLst/>
          </a:prstGeom>
        </p:spPr>
      </p:pic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61472" y="3698677"/>
            <a:ext cx="142875" cy="128588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6404372" y="3605808"/>
            <a:ext cx="8358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38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药物管理</a:t>
            </a:r>
            <a:endParaRPr lang="en-US" sz="900" dirty="0"/>
          </a:p>
        </p:txBody>
      </p:sp>
      <p:sp>
        <p:nvSpPr>
          <p:cNvPr id="53" name="Text 30"/>
          <p:cNvSpPr/>
          <p:nvPr/>
        </p:nvSpPr>
        <p:spPr>
          <a:xfrm>
            <a:off x="6404372" y="3820818"/>
            <a:ext cx="83581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用药提醒与交互检测</a:t>
            </a:r>
            <a:endParaRPr lang="en-US" sz="700" dirty="0"/>
          </a:p>
        </p:txBody>
      </p:sp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21781" y="4279106"/>
            <a:ext cx="5893594" cy="378619"/>
          </a:xfrm>
          <a:prstGeom prst="rect">
            <a:avLst/>
          </a:prstGeom>
        </p:spPr>
      </p:pic>
      <p:pic>
        <p:nvPicPr>
          <p:cNvPr id="55" name="Image 22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21806" y="4468416"/>
            <a:ext cx="141446" cy="141446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3107531" y="4393406"/>
            <a:ext cx="64293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医学专家审核</a:t>
            </a:r>
            <a:endParaRPr lang="en-US" sz="800" dirty="0"/>
          </a:p>
        </p:txBody>
      </p:sp>
      <p:pic>
        <p:nvPicPr>
          <p:cNvPr id="57" name="Image 23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64781" y="4404122"/>
            <a:ext cx="128588" cy="128588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4179094" y="4393406"/>
            <a:ext cx="64293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实时更新机制</a:t>
            </a:r>
            <a:endParaRPr lang="en-US" sz="800" dirty="0"/>
          </a:p>
        </p:txBody>
      </p:sp>
      <p:sp>
        <p:nvSpPr>
          <p:cNvPr id="59" name="Text 33"/>
          <p:cNvSpPr/>
          <p:nvPr/>
        </p:nvSpPr>
        <p:spPr>
          <a:xfrm>
            <a:off x="571500" y="4657725"/>
            <a:ext cx="8143875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6 / 12</a:t>
            </a:r>
            <a:endParaRPr lang="en-US" sz="1000" dirty="0"/>
          </a:p>
        </p:txBody>
      </p:sp>
      <p:sp>
        <p:nvSpPr>
          <p:cNvPr id="60" name="Shape 34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71500" y="283964"/>
            <a:ext cx="2514600" cy="557213"/>
          </a:xfrm>
          <a:prstGeom prst="rect">
            <a:avLst/>
          </a:prstGeom>
        </p:spPr>
      </p:pic>
      <p:pic>
        <p:nvPicPr>
          <p:cNvPr id="62" name="Image 25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1500" y="1366242"/>
            <a:ext cx="2000250" cy="364331"/>
          </a:xfrm>
          <a:prstGeom prst="rect">
            <a:avLst/>
          </a:prstGeom>
        </p:spPr>
      </p:pic>
      <p:pic>
        <p:nvPicPr>
          <p:cNvPr id="63" name="Image 26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1500" y="1841302"/>
            <a:ext cx="2000250" cy="364331"/>
          </a:xfrm>
          <a:prstGeom prst="rect">
            <a:avLst/>
          </a:prstGeom>
        </p:spPr>
      </p:pic>
      <p:pic>
        <p:nvPicPr>
          <p:cNvPr id="64" name="Image 27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1500" y="2316361"/>
            <a:ext cx="2000250" cy="364331"/>
          </a:xfrm>
          <a:prstGeom prst="rect">
            <a:avLst/>
          </a:prstGeom>
        </p:spPr>
      </p:pic>
      <p:pic>
        <p:nvPicPr>
          <p:cNvPr id="65" name="Image 28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71500" y="4657725"/>
            <a:ext cx="814387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0062" y="248245"/>
            <a:ext cx="220027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自进化机制设计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063" y="917972"/>
            <a:ext cx="2000250" cy="1571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087" y="1060847"/>
            <a:ext cx="16287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3"/>
              </a:spcAft>
              <a:buNone/>
            </a:pPr>
            <a:r>
              <a:rPr lang="en-US" sz="7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进化目标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00087" y="1275159"/>
            <a:ext cx="1628775" cy="428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持续提升服务质量和用户满意度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917972"/>
            <a:ext cx="2714625" cy="157162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161359" y="916186"/>
            <a:ext cx="1250156" cy="378619"/>
          </a:xfrm>
          <a:prstGeom prst="rect">
            <a:avLst/>
          </a:prstGeom>
          <a:solidFill>
            <a:srgbClr val="FFFFFF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1378" y="1034058"/>
            <a:ext cx="178594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75697" y="1023342"/>
            <a:ext cx="6858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用户反馈学习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7358063" y="2112764"/>
            <a:ext cx="1214438" cy="378619"/>
          </a:xfrm>
          <a:prstGeom prst="rect">
            <a:avLst/>
          </a:prstGeom>
          <a:solidFill>
            <a:srgbClr val="FFFFFF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081" y="2230636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36681" y="2219920"/>
            <a:ext cx="6858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效果评估反馈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3000375" y="2112764"/>
            <a:ext cx="1214438" cy="378619"/>
          </a:xfrm>
          <a:prstGeom prst="rect">
            <a:avLst/>
          </a:prstGeom>
          <a:solidFill>
            <a:srgbClr val="FFFFFF">
              <a:alpha val="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394" y="2230636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378994" y="2219920"/>
            <a:ext cx="6858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在线增量学习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500063" y="2668191"/>
            <a:ext cx="257175" cy="257175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356" y="2732484"/>
            <a:ext cx="128588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42963" y="2686050"/>
            <a:ext cx="628650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进化维度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500063" y="3039666"/>
            <a:ext cx="4036219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650081" y="3189684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806" y="3268266"/>
            <a:ext cx="114300" cy="12858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50131" y="3161109"/>
            <a:ext cx="1200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知识库扩展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1050131" y="3361134"/>
            <a:ext cx="12001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持续积累血糖管理专业知识</a:t>
            </a:r>
            <a:endParaRPr lang="en-US" sz="700" dirty="0"/>
          </a:p>
        </p:txBody>
      </p:sp>
      <p:sp>
        <p:nvSpPr>
          <p:cNvPr id="27" name="Shape 17"/>
          <p:cNvSpPr/>
          <p:nvPr/>
        </p:nvSpPr>
        <p:spPr>
          <a:xfrm>
            <a:off x="500063" y="3711178"/>
            <a:ext cx="4036219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650081" y="3861197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803" y="3939778"/>
            <a:ext cx="164306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50131" y="3832622"/>
            <a:ext cx="11001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对话策略优化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050131" y="4032647"/>
            <a:ext cx="11001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提升交互自然度与准确性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500063" y="4382691"/>
            <a:ext cx="4036219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650081" y="4532709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663" y="4611291"/>
            <a:ext cx="128588" cy="12858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50131" y="4504134"/>
            <a:ext cx="10001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推荐算法改进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1050131" y="4704159"/>
            <a:ext cx="10001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个性化建议精准度提升</a:t>
            </a:r>
            <a:endParaRPr lang="en-US" sz="700" dirty="0"/>
          </a:p>
        </p:txBody>
      </p:sp>
      <p:sp>
        <p:nvSpPr>
          <p:cNvPr id="37" name="Shape 25"/>
          <p:cNvSpPr/>
          <p:nvPr/>
        </p:nvSpPr>
        <p:spPr>
          <a:xfrm>
            <a:off x="4750594" y="2668191"/>
            <a:ext cx="257175" cy="257175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4888" y="2732484"/>
            <a:ext cx="128588" cy="12858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093494" y="2686050"/>
            <a:ext cx="628650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质量控制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4750594" y="3039666"/>
            <a:ext cx="4036219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4900613" y="3189684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1334" y="3268266"/>
            <a:ext cx="164306" cy="12858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300662" y="3161109"/>
            <a:ext cx="10001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人工审核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5300662" y="3361134"/>
            <a:ext cx="10001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关键决策人工复核机制</a:t>
            </a:r>
            <a:endParaRPr lang="en-US" sz="700" dirty="0"/>
          </a:p>
        </p:txBody>
      </p:sp>
      <p:sp>
        <p:nvSpPr>
          <p:cNvPr id="45" name="Shape 31"/>
          <p:cNvSpPr/>
          <p:nvPr/>
        </p:nvSpPr>
        <p:spPr>
          <a:xfrm>
            <a:off x="4750594" y="3711178"/>
            <a:ext cx="4036219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4900613" y="3861197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79194" y="3939778"/>
            <a:ext cx="128588" cy="12858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300662" y="3832622"/>
            <a:ext cx="10001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异常检测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5300662" y="4032647"/>
            <a:ext cx="10001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实时监测系统输出异常</a:t>
            </a:r>
            <a:endParaRPr lang="en-US" sz="700" dirty="0"/>
          </a:p>
        </p:txBody>
      </p:sp>
      <p:sp>
        <p:nvSpPr>
          <p:cNvPr id="50" name="Shape 35"/>
          <p:cNvSpPr/>
          <p:nvPr/>
        </p:nvSpPr>
        <p:spPr>
          <a:xfrm>
            <a:off x="4750594" y="4382691"/>
            <a:ext cx="4036219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4900613" y="4532709"/>
            <a:ext cx="285750" cy="285750"/>
          </a:xfrm>
          <a:prstGeom prst="rect">
            <a:avLst/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6338" y="4611291"/>
            <a:ext cx="114300" cy="12858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5300663" y="4504134"/>
            <a:ext cx="11001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安全防护</a:t>
            </a:r>
            <a:endParaRPr lang="en-US" sz="900" dirty="0"/>
          </a:p>
        </p:txBody>
      </p:sp>
      <p:sp>
        <p:nvSpPr>
          <p:cNvPr id="54" name="Text 38"/>
          <p:cNvSpPr/>
          <p:nvPr/>
        </p:nvSpPr>
        <p:spPr>
          <a:xfrm>
            <a:off x="5300663" y="4704159"/>
            <a:ext cx="11001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数据隐私与系统安全保障</a:t>
            </a:r>
            <a:endParaRPr lang="en-US" sz="700" dirty="0"/>
          </a:p>
        </p:txBody>
      </p:sp>
      <p:sp>
        <p:nvSpPr>
          <p:cNvPr id="55" name="Text 39"/>
          <p:cNvSpPr/>
          <p:nvPr/>
        </p:nvSpPr>
        <p:spPr>
          <a:xfrm>
            <a:off x="500063" y="4629150"/>
            <a:ext cx="8286750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7 / 12</a:t>
            </a:r>
            <a:endParaRPr lang="en-US" sz="100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0"/>
            <a:ext cx="85725" cy="5143500"/>
          </a:xfrm>
          <a:prstGeom prst="rect">
            <a:avLst/>
          </a:prstGeom>
        </p:spPr>
      </p:pic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0062" y="248245"/>
            <a:ext cx="2200275" cy="528638"/>
          </a:xfrm>
          <a:prstGeom prst="rect">
            <a:avLst/>
          </a:prstGeom>
        </p:spPr>
      </p:pic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86413" y="1403747"/>
            <a:ext cx="400050" cy="400050"/>
          </a:xfrm>
          <a:prstGeom prst="rect">
            <a:avLst/>
          </a:prstGeom>
        </p:spPr>
      </p:pic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79281" y="1518047"/>
            <a:ext cx="214313" cy="171450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5586413" y="1860947"/>
            <a:ext cx="4000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持续进化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" y="0"/>
            <a:ext cx="9036844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53578" y="28575"/>
            <a:ext cx="9036844" cy="508635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578" y="28575"/>
            <a:ext cx="9036844" cy="508635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78" y="28575"/>
            <a:ext cx="9036844" cy="5086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078" y="314102"/>
            <a:ext cx="2743200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44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智能客服集成方案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23292" y="1149474"/>
            <a:ext cx="3921919" cy="20431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96528" y="1348160"/>
            <a:ext cx="285750" cy="285750"/>
          </a:xfrm>
          <a:prstGeom prst="roundRect">
            <a:avLst>
              <a:gd name="adj" fmla="val 16000"/>
            </a:avLst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1391022"/>
            <a:ext cx="150019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96578" y="1387450"/>
            <a:ext cx="6286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接入渠道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41664" y="1149474"/>
            <a:ext cx="3921919" cy="20431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4914900" y="1348160"/>
            <a:ext cx="285750" cy="285750"/>
          </a:xfrm>
          <a:prstGeom prst="roundRect">
            <a:avLst>
              <a:gd name="adj" fmla="val 16000"/>
            </a:avLst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759" y="1391022"/>
            <a:ext cx="250031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14950" y="1387450"/>
            <a:ext cx="6286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对话管理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3292" y="3022476"/>
            <a:ext cx="3921919" cy="20288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796528" y="3222501"/>
            <a:ext cx="285750" cy="285750"/>
          </a:xfrm>
          <a:prstGeom prst="roundRect">
            <a:avLst>
              <a:gd name="adj" fmla="val 16000"/>
            </a:avLst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8" y="3265363"/>
            <a:ext cx="250031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6578" y="3261792"/>
            <a:ext cx="6286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人机协作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41664" y="3022476"/>
            <a:ext cx="3921919" cy="20288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914900" y="3222501"/>
            <a:ext cx="285750" cy="285750"/>
          </a:xfrm>
          <a:prstGeom prst="roundRect">
            <a:avLst>
              <a:gd name="adj" fmla="val 16000"/>
            </a:avLst>
          </a:prstGeom>
          <a:solidFill>
            <a:srgbClr val="FFC700">
              <a:alpha val="10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763" y="3265363"/>
            <a:ext cx="200025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14950" y="3261792"/>
            <a:ext cx="6286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服务监控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25078" y="4679826"/>
            <a:ext cx="8036719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8 / 12 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3578" y="28575"/>
            <a:ext cx="85725" cy="508635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078" y="314102"/>
            <a:ext cx="2743200" cy="585788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3292" y="1149474"/>
            <a:ext cx="3921919" cy="204311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94742" y="1749549"/>
            <a:ext cx="3579019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APP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微信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Web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电话IVR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1664" y="1149474"/>
            <a:ext cx="3921919" cy="2043113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913114" y="1747428"/>
            <a:ext cx="357901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多轮对话流程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上下文管理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会话状态跟踪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3292" y="3022476"/>
            <a:ext cx="3921919" cy="202882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94742" y="3623221"/>
            <a:ext cx="357901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复杂问题转人工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协同处理机制</a:t>
            </a:r>
            <a:endParaRPr lang="en-US" sz="9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41664" y="3022476"/>
            <a:ext cx="3921919" cy="202882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913114" y="3621770"/>
            <a:ext cx="357901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实时监控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问题预警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绩效分析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83964"/>
            <a:ext cx="2057400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44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关键技术实现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117104"/>
            <a:ext cx="3964781" cy="1535906"/>
          </a:xfrm>
          <a:prstGeom prst="roundRect">
            <a:avLst>
              <a:gd name="adj" fmla="val 2215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14825" y="1125141"/>
            <a:ext cx="214313" cy="214313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25" y="1627882"/>
            <a:ext cx="514350" cy="514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4175" y="1540036"/>
            <a:ext cx="2336006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844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大语言模型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013812" y="1944328"/>
            <a:ext cx="642938" cy="285750"/>
          </a:xfrm>
          <a:prstGeom prst="roundRect">
            <a:avLst>
              <a:gd name="adj" fmla="val 8000"/>
            </a:avLst>
          </a:prstGeom>
          <a:solidFill>
            <a:srgbClr val="FFC700">
              <a:alpha val="1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领域微调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28187" y="1944328"/>
            <a:ext cx="642938" cy="285750"/>
          </a:xfrm>
          <a:prstGeom prst="roundRect">
            <a:avLst>
              <a:gd name="adj" fmla="val 8000"/>
            </a:avLst>
          </a:prstGeom>
          <a:solidFill>
            <a:srgbClr val="FFC700">
              <a:alpha val="1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提示工程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44264" y="1944328"/>
            <a:ext cx="421481" cy="285750"/>
          </a:xfrm>
          <a:prstGeom prst="roundRect">
            <a:avLst>
              <a:gd name="adj" fmla="val 8000"/>
            </a:avLst>
          </a:prstGeom>
          <a:solidFill>
            <a:srgbClr val="FFC700">
              <a:alpha val="15000"/>
            </a:srgbClr>
          </a:solidFill>
          <a:ln w="7144">
            <a:solidFill>
              <a:srgbClr val="FFC70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RAG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50594" y="1117104"/>
            <a:ext cx="3964781" cy="1535906"/>
          </a:xfrm>
          <a:prstGeom prst="roundRect">
            <a:avLst>
              <a:gd name="adj" fmla="val 221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269" y="1685032"/>
            <a:ext cx="400050" cy="4000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3268" y="1454283"/>
            <a:ext cx="2336006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844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向量检索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92906" y="1908609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18" name="Text 13"/>
          <p:cNvSpPr/>
          <p:nvPr/>
        </p:nvSpPr>
        <p:spPr>
          <a:xfrm>
            <a:off x="6335781" y="1833600"/>
            <a:ext cx="900113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血糖知识向量化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92906" y="2185764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20" name="Text 15"/>
          <p:cNvSpPr/>
          <p:nvPr/>
        </p:nvSpPr>
        <p:spPr>
          <a:xfrm>
            <a:off x="6335781" y="2110755"/>
            <a:ext cx="642938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相似度匹配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71500" y="2865537"/>
            <a:ext cx="3964781" cy="1535906"/>
          </a:xfrm>
          <a:prstGeom prst="roundRect">
            <a:avLst>
              <a:gd name="adj" fmla="val 221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69" y="3433465"/>
            <a:ext cx="500063" cy="4000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14175" y="3064139"/>
            <a:ext cx="2336006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844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个性化算法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2013812" y="3518464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25" name="Text 19"/>
          <p:cNvSpPr/>
          <p:nvPr/>
        </p:nvSpPr>
        <p:spPr>
          <a:xfrm>
            <a:off x="2156687" y="3443455"/>
            <a:ext cx="5143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用户聚类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013812" y="3795619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27" name="Text 21"/>
          <p:cNvSpPr/>
          <p:nvPr/>
        </p:nvSpPr>
        <p:spPr>
          <a:xfrm>
            <a:off x="2156687" y="3720610"/>
            <a:ext cx="5143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协同过滤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013812" y="4072775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29" name="Text 23"/>
          <p:cNvSpPr/>
          <p:nvPr/>
        </p:nvSpPr>
        <p:spPr>
          <a:xfrm>
            <a:off x="2156687" y="3997765"/>
            <a:ext cx="51435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实时推荐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50594" y="2865537"/>
            <a:ext cx="3964781" cy="1535906"/>
          </a:xfrm>
          <a:prstGeom prst="roundRect">
            <a:avLst>
              <a:gd name="adj" fmla="val 221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269" y="3433465"/>
            <a:ext cx="400050" cy="4000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93268" y="3064139"/>
            <a:ext cx="2336006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844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系统性能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192906" y="3518464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34" name="Text 27"/>
          <p:cNvSpPr/>
          <p:nvPr/>
        </p:nvSpPr>
        <p:spPr>
          <a:xfrm>
            <a:off x="6335781" y="3443455"/>
            <a:ext cx="642938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高并发支持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92906" y="3795619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36" name="Text 29"/>
          <p:cNvSpPr/>
          <p:nvPr/>
        </p:nvSpPr>
        <p:spPr>
          <a:xfrm>
            <a:off x="6335111" y="3720610"/>
            <a:ext cx="828675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响应延迟 &lt;1秒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92906" y="4072775"/>
            <a:ext cx="57150" cy="5715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38" name="Text 31"/>
          <p:cNvSpPr/>
          <p:nvPr/>
        </p:nvSpPr>
        <p:spPr>
          <a:xfrm>
            <a:off x="6335167" y="3997765"/>
            <a:ext cx="585788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7×24 可用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71500" y="4557713"/>
            <a:ext cx="814387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9 / 12 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283964"/>
            <a:ext cx="2057400" cy="585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5781" y="250031"/>
            <a:ext cx="2100263" cy="5214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应用场景与价值</a:t>
            </a:r>
            <a:endParaRPr lang="en-US" sz="2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995" y="950119"/>
            <a:ext cx="4057650" cy="14716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5806" y="1114425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19" y="1214438"/>
            <a:ext cx="157163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9795" y="1114425"/>
            <a:ext cx="3186113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血糖异常预警与咨询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219795" y="1350169"/>
            <a:ext cx="31861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B0B0B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实时监测血糖波动，AI智能识别异常趋势，及时推送预警并提供个性化咨询建议</a:t>
            </a:r>
            <a:endParaRPr lang="en-US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0948" y="950119"/>
            <a:ext cx="4057650" cy="147161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918472" y="1114425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214438"/>
            <a:ext cx="135731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02461" y="1114425"/>
            <a:ext cx="3200400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个性化饮食运动建议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5402461" y="1350169"/>
            <a:ext cx="32004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B0B0B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基于用户历史数据与生活习惯，生成定制化饮食方案和运动计划，动态调整优化</a:t>
            </a:r>
            <a:endParaRPr lang="en-US" sz="7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995" y="2564606"/>
            <a:ext cx="4057650" cy="147161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21519" y="2728913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816" y="2828925"/>
            <a:ext cx="178594" cy="15716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05508" y="2728913"/>
            <a:ext cx="3200400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用药提醒与依从性管理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1205508" y="2964656"/>
            <a:ext cx="32004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B0B0B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智能用药提醒系统，追踪用药记录，分析依从性数据，提升患者规范用药率</a:t>
            </a:r>
            <a:endParaRPr lang="en-US" sz="7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30948" y="2564606"/>
            <a:ext cx="4057650" cy="1471612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4918472" y="2728913"/>
            <a:ext cx="357187" cy="357187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8484" y="2828925"/>
            <a:ext cx="157163" cy="15716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402461" y="2728913"/>
            <a:ext cx="3200400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并发症风险评估与教育</a:t>
            </a:r>
            <a:endParaRPr lang="en-US" sz="1000" dirty="0"/>
          </a:p>
        </p:txBody>
      </p:sp>
      <p:sp>
        <p:nvSpPr>
          <p:cNvPr id="25" name="Text 14"/>
          <p:cNvSpPr/>
          <p:nvPr/>
        </p:nvSpPr>
        <p:spPr>
          <a:xfrm>
            <a:off x="5402461" y="2964656"/>
            <a:ext cx="32004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B0B0B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多维度风险评估模型，预测并发症发生概率，推送针对性健康教育内容</a:t>
            </a:r>
            <a:endParaRPr lang="en-US" sz="7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5781" y="4179094"/>
            <a:ext cx="8251031" cy="485775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50094" y="4346972"/>
            <a:ext cx="4572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核心价值</a:t>
            </a:r>
            <a:endParaRPr lang="en-US" sz="900" dirty="0"/>
          </a:p>
        </p:txBody>
      </p:sp>
      <p:sp>
        <p:nvSpPr>
          <p:cNvPr id="28" name="Shape 16"/>
          <p:cNvSpPr/>
          <p:nvPr/>
        </p:nvSpPr>
        <p:spPr>
          <a:xfrm>
            <a:off x="1314450" y="4321969"/>
            <a:ext cx="7144" cy="214313"/>
          </a:xfrm>
          <a:prstGeom prst="rect">
            <a:avLst/>
          </a:prstGeom>
          <a:solidFill>
            <a:srgbClr val="FFC700">
              <a:alpha val="30000"/>
            </a:srgbClr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00263" y="4357688"/>
            <a:ext cx="142875" cy="142875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2328863" y="4354116"/>
            <a:ext cx="64293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提升管理效率</a:t>
            </a:r>
            <a:endParaRPr lang="en-US" sz="8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4856" y="4357688"/>
            <a:ext cx="142875" cy="142875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4793456" y="4354116"/>
            <a:ext cx="64293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降低医疗成本</a:t>
            </a:r>
            <a:endParaRPr lang="en-US" sz="8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9450" y="4357688"/>
            <a:ext cx="142875" cy="142875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7258050" y="4354116"/>
            <a:ext cx="64293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改善患者体验</a:t>
            </a:r>
            <a:endParaRPr lang="en-US" sz="800" dirty="0"/>
          </a:p>
        </p:txBody>
      </p:sp>
      <p:sp>
        <p:nvSpPr>
          <p:cNvPr id="35" name="Text 20"/>
          <p:cNvSpPr/>
          <p:nvPr/>
        </p:nvSpPr>
        <p:spPr>
          <a:xfrm>
            <a:off x="535781" y="4664869"/>
            <a:ext cx="825103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10 / 12</a:t>
            </a:r>
            <a:endParaRPr lang="en-US" sz="1000" dirty="0"/>
          </a:p>
        </p:txBody>
      </p:sp>
      <p:sp>
        <p:nvSpPr>
          <p:cNvPr id="36" name="Shape 21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5781" y="250031"/>
            <a:ext cx="2100263" cy="5214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357188" dist="142875" dir="54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83964"/>
            <a:ext cx="1785938" cy="5500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总结与展望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69714" y="1044773"/>
            <a:ext cx="3986213" cy="1778794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9714" y="1044773"/>
            <a:ext cx="28575" cy="214313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9" name="Shape 6"/>
          <p:cNvSpPr/>
          <p:nvPr/>
        </p:nvSpPr>
        <p:spPr>
          <a:xfrm>
            <a:off x="757238" y="1232297"/>
            <a:ext cx="321469" cy="321469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314450"/>
            <a:ext cx="178594" cy="1571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5863" y="1282303"/>
            <a:ext cx="628650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项目成果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55452" y="1660196"/>
            <a:ext cx="3614738" cy="4357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spcAft>
                <a:spcPts val="1069"/>
              </a:spcAft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成功构建了 </a:t>
            </a:r>
            <a:pPr algn="l" indent="0" marL="0">
              <a:lnSpc>
                <a:spcPts val="171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 血糖管理自进化系统</a:t>
            </a:r>
            <a:pPr algn="l" indent="0" marL="0">
              <a:lnSpc>
                <a:spcPts val="1710"/>
              </a:lnSpc>
              <a:spcAft>
                <a:spcPts val="1069"/>
              </a:spcAft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，实现了从被动咨询到主动管理的跨越。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2288121"/>
            <a:ext cx="100012" cy="100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2975" y="2232394"/>
            <a:ext cx="190023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完成全链路闭环设计与原型实现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71500" y="4775597"/>
            <a:ext cx="8143875" cy="307181"/>
          </a:xfrm>
          <a:prstGeom prst="rect">
            <a:avLst/>
          </a:prstGeom>
          <a:ln/>
        </p:spPr>
      </p:sp>
      <p:sp>
        <p:nvSpPr>
          <p:cNvPr id="16" name="Text 11"/>
          <p:cNvSpPr/>
          <p:nvPr/>
        </p:nvSpPr>
        <p:spPr>
          <a:xfrm>
            <a:off x="573063" y="4943475"/>
            <a:ext cx="23931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INTELLIGENT HEALTHCARE AI AGENT @ 2024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8309186" y="4925616"/>
            <a:ext cx="40719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11 / 12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283964"/>
            <a:ext cx="1785938" cy="550069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4775597"/>
            <a:ext cx="8143875" cy="307181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" y="0"/>
            <a:ext cx="9036844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53578" y="28575"/>
            <a:ext cx="9036844" cy="5086350"/>
          </a:xfrm>
          <a:prstGeom prst="rect">
            <a:avLst/>
          </a:prstGeom>
          <a:ln/>
          <a:effectLst>
            <a:outerShdw sx="100000" sy="100000" kx="0" ky="0" algn="bl" rotWithShape="0" blurRad="214313" dist="71438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578" y="28575"/>
            <a:ext cx="9036844" cy="508635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78" y="28575"/>
            <a:ext cx="9036844" cy="50863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7571" y="781619"/>
            <a:ext cx="600075" cy="600075"/>
          </a:xfrm>
          <a:prstGeom prst="rect">
            <a:avLst/>
          </a:prstGeom>
          <a:ln w="14288">
            <a:solidFill>
              <a:srgbClr val="FFC700">
                <a:alpha val="1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69552" y="3360377"/>
            <a:ext cx="385763" cy="385763"/>
          </a:xfrm>
          <a:prstGeom prst="rect">
            <a:avLst/>
          </a:prstGeom>
          <a:ln w="14288">
            <a:solidFill>
              <a:srgbClr val="FFC700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66024" y="3059764"/>
            <a:ext cx="228600" cy="228600"/>
          </a:xfrm>
          <a:prstGeom prst="rect">
            <a:avLst/>
          </a:prstGeom>
          <a:ln w="7144">
            <a:solidFill>
              <a:srgbClr val="FFC700">
                <a:alpha val="1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86713" y="1046783"/>
            <a:ext cx="28575" cy="28575"/>
          </a:xfrm>
          <a:prstGeom prst="rect">
            <a:avLst/>
          </a:prstGeom>
          <a:solidFill>
            <a:srgbClr val="FFC700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072438" y="1046783"/>
            <a:ext cx="28575" cy="28575"/>
          </a:xfrm>
          <a:prstGeom prst="rect">
            <a:avLst/>
          </a:prstGeom>
          <a:solidFill>
            <a:srgbClr val="FFC70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158163" y="1046783"/>
            <a:ext cx="28575" cy="28575"/>
          </a:xfrm>
          <a:prstGeom prst="rect">
            <a:avLst/>
          </a:prstGeom>
          <a:solidFill>
            <a:srgbClr val="FFC700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986713" y="1132508"/>
            <a:ext cx="28575" cy="28575"/>
          </a:xfrm>
          <a:prstGeom prst="rect">
            <a:avLst/>
          </a:prstGeom>
          <a:solidFill>
            <a:srgbClr val="FFC700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072438" y="1132508"/>
            <a:ext cx="28575" cy="28575"/>
          </a:xfrm>
          <a:prstGeom prst="rect">
            <a:avLst/>
          </a:prstGeom>
          <a:solidFill>
            <a:srgbClr val="FFC700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158163" y="1132508"/>
            <a:ext cx="28575" cy="28575"/>
          </a:xfrm>
          <a:prstGeom prst="rect">
            <a:avLst/>
          </a:prstGeom>
          <a:solidFill>
            <a:srgbClr val="FFC700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3578" y="28575"/>
            <a:ext cx="85725" cy="5086350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16" name="Text 13"/>
          <p:cNvSpPr/>
          <p:nvPr/>
        </p:nvSpPr>
        <p:spPr>
          <a:xfrm>
            <a:off x="3643313" y="1435168"/>
            <a:ext cx="2000250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谢谢聆听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929063" y="2135256"/>
            <a:ext cx="1428750" cy="28575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68303" y="2593153"/>
            <a:ext cx="2150269" cy="3071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Aft>
                <a:spcPts val="1688"/>
              </a:spcAft>
              <a:buNone/>
            </a:pPr>
            <a:r>
              <a:rPr lang="en-US" sz="13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感谢各位老师和同学的聆听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209" y="3154635"/>
            <a:ext cx="178594" cy="1428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25528" y="3133204"/>
            <a:ext cx="11001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欢迎提问与交流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8" y="4777606"/>
            <a:ext cx="85725" cy="857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7953" y="4759747"/>
            <a:ext cx="113044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contact@example.edu.cn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2041271" y="4777606"/>
            <a:ext cx="7144" cy="85725"/>
          </a:xfrm>
          <a:prstGeom prst="rect">
            <a:avLst/>
          </a:prstGeom>
          <a:solidFill>
            <a:srgbClr val="A0A0A0">
              <a:alpha val="3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290" y="4777606"/>
            <a:ext cx="85725" cy="857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334165" y="4759747"/>
            <a:ext cx="88856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+86 123-4567-8900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8255608" y="4741887"/>
            <a:ext cx="40719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357188" dist="142875" dir="54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83964"/>
            <a:ext cx="3214688" cy="5929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应用场景与商业模式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71500" y="1087636"/>
            <a:ext cx="3964781" cy="1707356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1310878"/>
            <a:ext cx="357187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3140" y="1350169"/>
            <a:ext cx="442912" cy="150019"/>
          </a:xfrm>
          <a:prstGeom prst="rect">
            <a:avLst/>
          </a:prstGeom>
          <a:solidFill>
            <a:srgbClr val="FFC70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B2B2C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92956" y="1644848"/>
            <a:ext cx="3521869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75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医院随访合作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92956" y="1993106"/>
            <a:ext cx="3521869" cy="5786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定位为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院外随访工具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，通过AI Agent实现自动化患者管理。 核心指标：帮助医院减少 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30%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的重复住院率，按服务增量收费。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0594" y="1087636"/>
            <a:ext cx="3964781" cy="1707356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310878"/>
            <a:ext cx="357187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93134" y="1350169"/>
            <a:ext cx="700088" cy="150019"/>
          </a:xfrm>
          <a:prstGeom prst="rect">
            <a:avLst/>
          </a:prstGeom>
          <a:solidFill>
            <a:srgbClr val="FFC70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INSURTECH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4972050" y="1644848"/>
            <a:ext cx="3521869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75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保险科技对接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72050" y="1993106"/>
            <a:ext cx="3521869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深度嵌入商业健康险。为控糖达标用户提供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保费折扣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与二次投保优惠， 将单纯的赔付转化为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健康干预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，实现险企降本。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71500" y="3005733"/>
            <a:ext cx="3964781" cy="1564481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3228975"/>
            <a:ext cx="357187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13169" y="3268266"/>
            <a:ext cx="300038" cy="150019"/>
          </a:xfrm>
          <a:prstGeom prst="rect">
            <a:avLst/>
          </a:prstGeom>
          <a:solidFill>
            <a:srgbClr val="FFC70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DTx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792956" y="3562945"/>
            <a:ext cx="3521869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75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药企数字疗法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92956" y="3911203"/>
            <a:ext cx="3521869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联合 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GLP-1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类药物厂商，提供用药依从性管理与生活方式干预。 通过提升患者黏性，有效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延长药物生命周期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。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0594" y="3005733"/>
            <a:ext cx="3964781" cy="1564481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228975"/>
            <a:ext cx="357187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21293" y="3268266"/>
            <a:ext cx="871538" cy="150019"/>
          </a:xfrm>
          <a:prstGeom prst="rect">
            <a:avLst/>
          </a:prstGeom>
          <a:solidFill>
            <a:srgbClr val="FFC70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SUBSCRIPTION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4972050" y="3562945"/>
            <a:ext cx="3521869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75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年轻化C端订阅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972050" y="3911203"/>
            <a:ext cx="3521869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面向 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18-35岁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糖友，提供“AI营养师+健身教练”整合服务。 采用月/季订阅制，满足年轻群体对</a:t>
            </a:r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个性化、高效率</a:t>
            </a:r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CCCCCC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控糖的需求。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72867" y="4780955"/>
            <a:ext cx="7458075" cy="7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8173817" y="4709517"/>
            <a:ext cx="54292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Courier New" pitchFamily="34" charset="-122"/>
                <a:latin typeface="Courier New" pitchFamily="34" charset="0"/>
                <a:cs typeface="Courier New" pitchFamily="34" charset="-120"/>
              </a:rPr>
              <a:t>13 / 15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283964"/>
            <a:ext cx="3214688" cy="5929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357188" dist="142875" dir="54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616" y="283964"/>
            <a:ext cx="6115050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未来展望：从单AGENT到数字孪生生态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71500" y="1152823"/>
            <a:ext cx="3964781" cy="15930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69" y="1351955"/>
            <a:ext cx="285750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71575" y="1330523"/>
            <a:ext cx="13716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多智能体协作网络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78669" y="1703784"/>
            <a:ext cx="23145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模拟真实医疗团队，构建多维协作矩阵：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77106" y="1956634"/>
            <a:ext cx="528638" cy="178594"/>
          </a:xfrm>
          <a:prstGeom prst="rect">
            <a:avLst/>
          </a:prstGeom>
          <a:ln w="7144">
            <a:solidFill>
              <a:srgbClr val="FFC700">
                <a:alpha val="40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患者Agent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1374056" y="1956634"/>
            <a:ext cx="528638" cy="178594"/>
          </a:xfrm>
          <a:prstGeom prst="rect">
            <a:avLst/>
          </a:prstGeom>
          <a:ln w="7144">
            <a:solidFill>
              <a:srgbClr val="FFC700">
                <a:alpha val="40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医生Agent</a:t>
            </a:r>
            <a:endParaRPr lang="en-US" sz="600" dirty="0"/>
          </a:p>
        </p:txBody>
      </p:sp>
      <p:sp>
        <p:nvSpPr>
          <p:cNvPr id="14" name="Text 9"/>
          <p:cNvSpPr/>
          <p:nvPr/>
        </p:nvSpPr>
        <p:spPr>
          <a:xfrm>
            <a:off x="1971005" y="1956634"/>
            <a:ext cx="528638" cy="178594"/>
          </a:xfrm>
          <a:prstGeom prst="rect">
            <a:avLst/>
          </a:prstGeom>
          <a:ln w="7144">
            <a:solidFill>
              <a:srgbClr val="FFC700">
                <a:alpha val="40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家属Agent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2567955" y="1956634"/>
            <a:ext cx="614363" cy="178594"/>
          </a:xfrm>
          <a:prstGeom prst="rect">
            <a:avLst/>
          </a:prstGeom>
          <a:ln w="7144">
            <a:solidFill>
              <a:srgbClr val="FFC700">
                <a:alpha val="40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营养师Agent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778669" y="2205912"/>
            <a:ext cx="357901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563"/>
              </a:spcBef>
              <a:buNone/>
            </a:pPr>
            <a:r>
              <a:rPr lang="en-US" sz="9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实现全天候、多角色的健康决策支持系统。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50594" y="1152823"/>
            <a:ext cx="3964781" cy="15930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763" y="1351955"/>
            <a:ext cx="285750" cy="200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50669" y="1330523"/>
            <a:ext cx="13716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数字孪生血糖预测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57763" y="1707356"/>
            <a:ext cx="21859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构建患者生理系统的数字孪生体，实现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144894" y="1701998"/>
            <a:ext cx="99298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“假设-模拟-干预”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957763" y="1707356"/>
            <a:ext cx="3567019" cy="35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的闭环优化。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71500" y="2958405"/>
            <a:ext cx="3964781" cy="15930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3744190" y="3066455"/>
            <a:ext cx="685800" cy="150019"/>
          </a:xfrm>
          <a:prstGeom prst="rect">
            <a:avLst/>
          </a:prstGeom>
          <a:solidFill>
            <a:srgbClr val="FFC70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2026 - 2028</a:t>
            </a:r>
            <a:endParaRPr lang="en-US" sz="7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69" y="3157538"/>
            <a:ext cx="285750" cy="2000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71575" y="3136106"/>
            <a:ext cx="154305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代谢综合征管理平台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78669" y="3512939"/>
            <a:ext cx="1543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从单纯血糖管理横向扩展至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321719" y="3507581"/>
            <a:ext cx="9001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高血压、高血脂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221831" y="3512939"/>
            <a:ext cx="6429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等代谢病。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778669" y="3763640"/>
            <a:ext cx="357901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563"/>
              </a:spcBef>
              <a:buNone/>
            </a:pPr>
            <a:r>
              <a:rPr lang="en-US" sz="9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打造全病程覆盖的慢病管理Agent通用底层框架。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750594" y="2958405"/>
            <a:ext cx="3964781" cy="159305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763" y="3157538"/>
            <a:ext cx="285750" cy="2000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52148" y="3136106"/>
            <a:ext cx="1457325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具身智能与IoT协同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957763" y="3512939"/>
            <a:ext cx="14144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深度集成智能硬件，实现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372225" y="3507581"/>
            <a:ext cx="3857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无感式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757988" y="3512939"/>
            <a:ext cx="6429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健康管理：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7775" y="3786522"/>
            <a:ext cx="142875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57763" y="3971506"/>
            <a:ext cx="3429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智能药盒</a:t>
            </a:r>
            <a:endParaRPr lang="en-US" sz="6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834" y="3786522"/>
            <a:ext cx="164306" cy="142875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443538" y="3971506"/>
            <a:ext cx="3429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智能冰箱</a:t>
            </a:r>
            <a:endParaRPr lang="en-US" sz="6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0763" y="3911538"/>
            <a:ext cx="157163" cy="15716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929312" y="3971506"/>
            <a:ext cx="3429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6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穿戴设备</a:t>
            </a:r>
            <a:endParaRPr lang="en-US" sz="600" dirty="0"/>
          </a:p>
        </p:txBody>
      </p:sp>
      <p:sp>
        <p:nvSpPr>
          <p:cNvPr id="43" name="Text 32"/>
          <p:cNvSpPr/>
          <p:nvPr/>
        </p:nvSpPr>
        <p:spPr>
          <a:xfrm>
            <a:off x="571500" y="4550569"/>
            <a:ext cx="8143875" cy="3071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14 / 15</a:t>
            </a:r>
            <a:endParaRPr lang="en-US" sz="10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2616" y="283964"/>
            <a:ext cx="6115050" cy="585788"/>
          </a:xfrm>
          <a:prstGeom prst="rect">
            <a:avLst/>
          </a:prstGeom>
        </p:spPr>
      </p:pic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1152823"/>
            <a:ext cx="3964781" cy="1593056"/>
          </a:xfrm>
          <a:prstGeom prst="rect">
            <a:avLst/>
          </a:prstGeom>
        </p:spPr>
      </p:pic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0594" y="1152823"/>
            <a:ext cx="3964781" cy="1593056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4957763" y="2151608"/>
            <a:ext cx="35790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42875" indent="-142875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虚拟试错：模拟不同饮食对血糖的影响</a:t>
            </a:r>
            <a:endParaRPr lang="en-US" sz="900" dirty="0"/>
          </a:p>
          <a:p>
            <a:pPr algn="l" marL="142875" indent="-142875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​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精准干预：预判风险并自动调整管理策略</a:t>
            </a:r>
            <a:endParaRPr lang="en-US" sz="9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1500" y="2958405"/>
            <a:ext cx="3964781" cy="1593056"/>
          </a:xfrm>
          <a:prstGeom prst="rect">
            <a:avLst/>
          </a:prstGeom>
        </p:spPr>
      </p:pic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50594" y="2958405"/>
            <a:ext cx="3964781" cy="1593056"/>
          </a:xfrm>
          <a:prstGeom prst="rect">
            <a:avLst/>
          </a:prstGeom>
        </p:spPr>
      </p:pic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4550569"/>
            <a:ext cx="8143875" cy="307181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C70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" y="0"/>
            <a:ext cx="9036844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53578" y="28575"/>
            <a:ext cx="9036844" cy="5086350"/>
          </a:xfrm>
          <a:prstGeom prst="rect">
            <a:avLst/>
          </a:prstGeom>
          <a:ln/>
          <a:effectLst>
            <a:outerShdw sx="100000" sy="100000" kx="0" ky="0" algn="bl" rotWithShape="0" blurRad="357188" dist="142875" dir="5400000">
              <a:srgbClr val="00000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578" y="28575"/>
            <a:ext cx="9036844" cy="508635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78" y="28575"/>
            <a:ext cx="9036844" cy="5086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 rot="-300000">
            <a:off x="1776924" y="2972023"/>
            <a:ext cx="7672388" cy="1571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0" b="1" dirty="0">
                <a:solidFill>
                  <a:srgbClr val="FFFFFF">
                    <a:alpha val="2000"/>
                  </a:srgbClr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THANK YOU</a:t>
            </a:r>
            <a:endParaRPr lang="en-US" sz="10100" dirty="0"/>
          </a:p>
        </p:txBody>
      </p:sp>
      <p:sp>
        <p:nvSpPr>
          <p:cNvPr id="7" name="Text 4"/>
          <p:cNvSpPr/>
          <p:nvPr/>
        </p:nvSpPr>
        <p:spPr>
          <a:xfrm>
            <a:off x="625078" y="314102"/>
            <a:ext cx="1714500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总结与致谢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25078" y="1099803"/>
            <a:ext cx="8036719" cy="914400"/>
          </a:xfrm>
          <a:prstGeom prst="rect">
            <a:avLst/>
          </a:prstGeom>
          <a:solidFill>
            <a:srgbClr val="FFC700">
              <a:alpha val="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03504" y="991251"/>
            <a:ext cx="1264444" cy="150019"/>
          </a:xfrm>
          <a:prstGeom prst="rect">
            <a:avLst/>
          </a:prstGeom>
          <a:solidFill>
            <a:srgbClr val="FFC70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CORE CONTRIBUTION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75109" y="1278396"/>
            <a:ext cx="7572375" cy="5572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提出了 </a:t>
            </a:r>
            <a:pPr algn="l" indent="0" marL="0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首个</a:t>
            </a:r>
            <a:pPr algn="l" indent="0" marL="0">
              <a:lnSpc>
                <a:spcPts val="2205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 面向血糖管理的自进化 AI Agent 架构，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lnSpc>
                <a:spcPts val="2205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成功实现 </a:t>
            </a:r>
            <a:pPr algn="l" indent="0" marL="0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医学准确性</a:t>
            </a:r>
            <a:pPr algn="l" indent="0" marL="0">
              <a:lnSpc>
                <a:spcPts val="2205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、个性化与持续学习的深度统一。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3878" y="2287339"/>
            <a:ext cx="2586038" cy="1185863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569" y="243735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09691" y="2773114"/>
            <a:ext cx="1014413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6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LoRA 个性化适配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73897" y="3023146"/>
            <a:ext cx="22860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结合联邦进化机制，在保障隐私的前提下实现千人千面的控糖策略。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350391" y="2287339"/>
            <a:ext cx="2586038" cy="1185863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082" y="243735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11185" y="2773114"/>
            <a:ext cx="864394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6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医学 RAG 增强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500410" y="3023146"/>
            <a:ext cx="22860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基于 ReAct 推理框架，实时检索权威医学指南，杜绝 AI 幻觉现象。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6076903" y="2287339"/>
            <a:ext cx="2586038" cy="1185863"/>
          </a:xfrm>
          <a:prstGeom prst="rect">
            <a:avLst/>
          </a:prstGeom>
          <a:solidFill>
            <a:srgbClr val="FFFFFF">
              <a:alpha val="3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594" y="243735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84132" y="2773114"/>
            <a:ext cx="771525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6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情感感知客服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26922" y="3023146"/>
            <a:ext cx="22860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主动式多轮交互，智能识别患者情绪波动，提升管理依从性。</a:t>
            </a:r>
            <a:endParaRPr lang="en-US" sz="700" dirty="0"/>
          </a:p>
        </p:txBody>
      </p:sp>
      <p:sp>
        <p:nvSpPr>
          <p:cNvPr id="23" name="Text 17"/>
          <p:cNvSpPr/>
          <p:nvPr/>
        </p:nvSpPr>
        <p:spPr>
          <a:xfrm>
            <a:off x="624743" y="3762803"/>
            <a:ext cx="3979069" cy="2000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44"/>
              </a:spcAft>
              <a:buNone/>
            </a:pPr>
            <a:r>
              <a:rPr lang="en-US" sz="1100" b="1" dirty="0">
                <a:solidFill>
                  <a:srgbClr val="FFC70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致谢 ACKNOWLEDGEMENTS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4743" y="3762803"/>
            <a:ext cx="1894658" cy="7144"/>
          </a:xfrm>
          <a:prstGeom prst="rect">
            <a:avLst/>
          </a:prstGeom>
          <a:solidFill>
            <a:srgbClr val="FFC700">
              <a:alpha val="30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92" y="4107489"/>
            <a:ext cx="78581" cy="857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7237" y="4084272"/>
            <a:ext cx="1028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指导老师的悉心关怀</a:t>
            </a:r>
            <a:endParaRPr lang="en-US" sz="9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9996" y="4107489"/>
            <a:ext cx="107156" cy="857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814303" y="4084272"/>
            <a:ext cx="1143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合作医院内分泌科专家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78" y="4382523"/>
            <a:ext cx="94298" cy="9429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2228" y="4316444"/>
            <a:ext cx="12573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参与临床测试的患者群体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8210" y="4339661"/>
            <a:ext cx="78581" cy="857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782156" y="4316444"/>
            <a:ext cx="1028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开源社区的算法启发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4889562" y="3743158"/>
            <a:ext cx="3771900" cy="721519"/>
          </a:xfrm>
          <a:prstGeom prst="rect">
            <a:avLst/>
          </a:prstGeom>
          <a:solidFill>
            <a:srgbClr val="FFFFFF">
              <a:alpha val="2000"/>
            </a:srgbClr>
          </a:solidFill>
          <a:ln w="14288">
            <a:solidFill>
              <a:srgbClr val="FFC700">
                <a:alpha val="40000"/>
              </a:srgbClr>
            </a:solidFill>
            <a:prstDash val="dash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4025" y="4103917"/>
            <a:ext cx="314325" cy="314325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446900" y="3902106"/>
            <a:ext cx="800100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36" name="Text 25"/>
          <p:cNvSpPr/>
          <p:nvPr/>
        </p:nvSpPr>
        <p:spPr>
          <a:xfrm>
            <a:off x="6446900" y="4143208"/>
            <a:ext cx="8001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欢迎提问与交流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625078" y="4520319"/>
            <a:ext cx="8036719" cy="307181"/>
          </a:xfrm>
          <a:prstGeom prst="rect">
            <a:avLst/>
          </a:prstGeom>
          <a:ln/>
        </p:spPr>
      </p:sp>
      <p:sp>
        <p:nvSpPr>
          <p:cNvPr id="38" name="Text 27"/>
          <p:cNvSpPr/>
          <p:nvPr/>
        </p:nvSpPr>
        <p:spPr>
          <a:xfrm>
            <a:off x="624408" y="4688198"/>
            <a:ext cx="237172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AI AGENT FOR DIABETES MANAGEMENT</a:t>
            </a:r>
            <a:endParaRPr lang="en-US" sz="700" dirty="0"/>
          </a:p>
        </p:txBody>
      </p:sp>
      <p:sp>
        <p:nvSpPr>
          <p:cNvPr id="39" name="Text 28"/>
          <p:cNvSpPr/>
          <p:nvPr/>
        </p:nvSpPr>
        <p:spPr>
          <a:xfrm>
            <a:off x="8255608" y="4670338"/>
            <a:ext cx="40719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A0A0"/>
                </a:solidFill>
                <a:ea typeface="Helvetica Neue" pitchFamily="34" charset="-122"/>
                <a:latin typeface="Helvetica Neue" pitchFamily="34" charset="0"/>
                <a:cs typeface="Helvetica Neue" pitchFamily="34" charset="-120"/>
              </a:rPr>
              <a:t>15 / 15</a:t>
            </a:r>
            <a:endParaRPr lang="en-US" sz="10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5078" y="314102"/>
            <a:ext cx="1714500" cy="585788"/>
          </a:xfrm>
          <a:prstGeom prst="rect">
            <a:avLst/>
          </a:prstGeom>
        </p:spPr>
      </p:pic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5078" y="1099803"/>
            <a:ext cx="8036719" cy="914400"/>
          </a:xfrm>
          <a:prstGeom prst="rect">
            <a:avLst/>
          </a:prstGeom>
        </p:spPr>
      </p:pic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5078" y="4520319"/>
            <a:ext cx="8036719" cy="307181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53578" y="28575"/>
            <a:ext cx="85725" cy="5086350"/>
          </a:xfrm>
          <a:prstGeom prst="rect">
            <a:avLst/>
          </a:prstGeom>
          <a:solidFill>
            <a:srgbClr val="FFC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2026-03-25T11:57:13Z</dcterms:created>
  <dcterms:modified xsi:type="dcterms:W3CDTF">2026-03-25T11:57:13Z</dcterms:modified>
</cp:coreProperties>
</file>