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24821-4665-DEFF-12B7-39A79083C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9CA470-3D09-6DA4-905F-0097F9A73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4EC188-C5FE-98B1-2BF5-1D1F3E50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3CF42F-8645-FD2D-5E18-71BA4237A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2F8D34-C4CD-FD57-CF67-85539BAF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83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F06A6-D502-4034-577F-C981AB42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DC8757-E312-4D8A-4EDB-5588B1C2F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118B8-DEAD-AF69-0FE6-A987D976A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4682F8-8559-1E45-F2D3-FEC7BD32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FB2C4E-798A-C732-7DCF-DB924EDC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0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9DABC-5611-87EB-2D02-08C48C41E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F48E8D-F675-5FB3-FAA8-B2D1B1C9C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C36DD4-511D-5936-C750-020A8B601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AB3415-0542-C891-47A1-5E945139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2478E7-155E-23BD-044A-05108ADAD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91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E8533-1661-BC16-DEB0-690F76BF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4828D4-01C6-8312-D6BF-07535F28F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104BBB-DCBB-E8DB-5EE2-0E7DDCEEC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4CC1B-CBCC-1DDF-DC63-F96B2F26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2AF3FE-21DF-9FDE-A4C5-BA232252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855317-9B18-4B79-FB3F-3D24AB59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894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ABD4C-7C13-D31E-2849-570074F77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1A1BDE-6C89-06E9-8827-FE4AB470A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1113D9-212E-296F-3A33-934FD069B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84251B-AE8E-9A35-132C-AC590E619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D8F3E5-87CA-7E70-D406-190C2DB36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19A735-AB38-6A66-43AB-E3FE3511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AF3E35-F75A-AC9E-6F0C-3F01EE2F2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FA8E00-A4E1-0FAA-B7B3-71A639339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78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813667-E44A-755F-5CD0-2A23D09B7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25AB1C-7A8D-22F1-F2D6-1EB24848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FEC383-69B6-AEF2-569F-2D39C7A89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9816A2-DE22-8558-4B35-A7A7C347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69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04F9F21-7E2B-F63F-AEB3-3AA802F38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FB520D-0E51-012F-A7F1-32D98AC1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8B76C1-B903-143E-0C65-BAD823F8F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51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F2E15-85F5-9C72-E798-E80F87172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A87B12-3488-A3B5-806F-817C3F0AF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C873C5-A223-D143-9006-2CA38F8AD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3994AF-CDB5-BA84-44C1-E035A64F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8EE1F2-165C-F65F-9EB9-DD51F8D1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64E62B-656E-3C7C-9B8F-D75EC024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64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30AF6-54D8-51C9-E11D-7EFCD14AE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F1718B-01EA-176D-3AC6-020BA1879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EF9BA9-236E-7830-B1BF-2606F01C0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23CB25-09B7-A9A7-04F2-28659183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5B30DF-DCDD-5196-7B30-773BA1460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B21D2-F193-1522-EB67-760EE739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69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64D6E-15D6-6AE3-84C4-EBBADDB7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45D8FA-3E61-9114-C03B-9638B2E07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AEE70-558D-D3BB-36F2-7985269B4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2DD16B-6CB6-DA8A-0572-6F4B5C45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0927DB-2A99-16E5-7834-34C9C86D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40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881061-F272-8D81-57DC-DD8F2B012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4005D1-E877-E7FC-8C77-759F62B23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2CB94-1D10-9E04-361C-AA510B88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FB5284-7F1C-B9CB-03B6-BDC15656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E4C05C-EA5C-5B4C-F07F-C02239F3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1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E63BC9-4F80-AD24-48EF-A8CF90876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DF8D06-0676-4F87-D43D-703FE5507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2BD3F3-C5E6-784E-2FFF-890A204AE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9B27A-F2AA-494B-BF53-3D5B3FC852D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9F099-779F-CCFD-1466-5AF716B1B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93A660-CBAD-B288-F439-5FBA5D574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84BCC-70AC-42B8-8F62-C803080E91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38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51">
            <a:extLst>
              <a:ext uri="{FF2B5EF4-FFF2-40B4-BE49-F238E27FC236}">
                <a16:creationId xmlns:a16="http://schemas.microsoft.com/office/drawing/2014/main" id="{45F68235-8E43-2BD5-A4B5-258F3C35C9C6}"/>
              </a:ext>
            </a:extLst>
          </p:cNvPr>
          <p:cNvSpPr txBox="1"/>
          <p:nvPr/>
        </p:nvSpPr>
        <p:spPr>
          <a:xfrm>
            <a:off x="4736397" y="2122261"/>
            <a:ext cx="890980" cy="259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MCP tools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D0B08DA-0697-7FB1-0EBA-38FAC8D85213}"/>
              </a:ext>
            </a:extLst>
          </p:cNvPr>
          <p:cNvSpPr/>
          <p:nvPr/>
        </p:nvSpPr>
        <p:spPr>
          <a:xfrm>
            <a:off x="5708947" y="1179612"/>
            <a:ext cx="1903609" cy="13234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5003E3-4005-D1CA-1EC8-EEFA261F19E6}"/>
              </a:ext>
            </a:extLst>
          </p:cNvPr>
          <p:cNvSpPr/>
          <p:nvPr/>
        </p:nvSpPr>
        <p:spPr>
          <a:xfrm>
            <a:off x="377877" y="727704"/>
            <a:ext cx="4919810" cy="12003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1EB6C2-BBC9-D6A3-BDAE-16869E5B80E5}"/>
              </a:ext>
            </a:extLst>
          </p:cNvPr>
          <p:cNvSpPr/>
          <p:nvPr/>
        </p:nvSpPr>
        <p:spPr>
          <a:xfrm>
            <a:off x="5015798" y="3320606"/>
            <a:ext cx="4407242" cy="715422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2CB8EA-5842-1A7A-0F95-CD9290CC1078}"/>
              </a:ext>
            </a:extLst>
          </p:cNvPr>
          <p:cNvSpPr txBox="1"/>
          <p:nvPr/>
        </p:nvSpPr>
        <p:spPr>
          <a:xfrm>
            <a:off x="5155840" y="3481632"/>
            <a:ext cx="150844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Ledger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append-only JSONL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16E341-4144-E592-CAC0-39334F9D59CC}"/>
              </a:ext>
            </a:extLst>
          </p:cNvPr>
          <p:cNvSpPr txBox="1"/>
          <p:nvPr/>
        </p:nvSpPr>
        <p:spPr>
          <a:xfrm>
            <a:off x="367506" y="121388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项目名称：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面向智能客服的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Agent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血糖管理自进化系统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FE537A-1D85-DB35-74E5-72F1FA615649}"/>
              </a:ext>
            </a:extLst>
          </p:cNvPr>
          <p:cNvSpPr txBox="1"/>
          <p:nvPr/>
        </p:nvSpPr>
        <p:spPr>
          <a:xfrm>
            <a:off x="710322" y="1195853"/>
            <a:ext cx="2347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项目简介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72E3A8-DAFE-98BE-B837-6879C427F8E9}"/>
              </a:ext>
            </a:extLst>
          </p:cNvPr>
          <p:cNvSpPr txBox="1"/>
          <p:nvPr/>
        </p:nvSpPr>
        <p:spPr>
          <a:xfrm>
            <a:off x="9665925" y="5898776"/>
            <a:ext cx="2426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项目整体框架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6D99B5A-4D62-F2EE-D339-BDB690743C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875"/>
          <a:stretch>
            <a:fillRect/>
          </a:stretch>
        </p:blipFill>
        <p:spPr>
          <a:xfrm>
            <a:off x="380700" y="3525483"/>
            <a:ext cx="4032770" cy="310414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899BB814-8F33-BF4F-3343-60938C45AA91}"/>
              </a:ext>
            </a:extLst>
          </p:cNvPr>
          <p:cNvSpPr/>
          <p:nvPr/>
        </p:nvSpPr>
        <p:spPr>
          <a:xfrm>
            <a:off x="6096000" y="3110234"/>
            <a:ext cx="1874298" cy="242475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Daemon · single writer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FDFEC27-5C8A-A294-EB23-8E813C8F830B}"/>
              </a:ext>
            </a:extLst>
          </p:cNvPr>
          <p:cNvSpPr txBox="1"/>
          <p:nvPr/>
        </p:nvSpPr>
        <p:spPr>
          <a:xfrm>
            <a:off x="6804328" y="3496048"/>
            <a:ext cx="822864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Actor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Manager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FE30D6D-7FCC-297C-68B1-9525E649B590}"/>
              </a:ext>
            </a:extLst>
          </p:cNvPr>
          <p:cNvSpPr txBox="1"/>
          <p:nvPr/>
        </p:nvSpPr>
        <p:spPr>
          <a:xfrm>
            <a:off x="7757008" y="3496048"/>
            <a:ext cx="1534226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Automation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Rules · Nudge · Cron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CC9A9A4-79BD-5532-4367-D983FE7955C4}"/>
              </a:ext>
            </a:extLst>
          </p:cNvPr>
          <p:cNvSpPr/>
          <p:nvPr/>
        </p:nvSpPr>
        <p:spPr>
          <a:xfrm>
            <a:off x="6116895" y="5652243"/>
            <a:ext cx="1874298" cy="242475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IM Bridges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FCF289-9F62-323D-2840-F7C71E71070B}"/>
              </a:ext>
            </a:extLst>
          </p:cNvPr>
          <p:cNvSpPr/>
          <p:nvPr/>
        </p:nvSpPr>
        <p:spPr>
          <a:xfrm>
            <a:off x="5031515" y="5866057"/>
            <a:ext cx="4407242" cy="909875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7AEAF58-B60D-6F4F-B9A1-946A6D204B66}"/>
              </a:ext>
            </a:extLst>
          </p:cNvPr>
          <p:cNvSpPr txBox="1"/>
          <p:nvPr/>
        </p:nvSpPr>
        <p:spPr>
          <a:xfrm>
            <a:off x="6366479" y="6003865"/>
            <a:ext cx="983836" cy="2599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Slack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ABF3083-6803-901D-2686-61E628DE145C}"/>
              </a:ext>
            </a:extLst>
          </p:cNvPr>
          <p:cNvCxnSpPr>
            <a:cxnSpLocks/>
          </p:cNvCxnSpPr>
          <p:nvPr/>
        </p:nvCxnSpPr>
        <p:spPr>
          <a:xfrm>
            <a:off x="7040153" y="2702780"/>
            <a:ext cx="0" cy="387790"/>
          </a:xfrm>
          <a:prstGeom prst="straightConnector1">
            <a:avLst/>
          </a:prstGeom>
          <a:ln w="22225">
            <a:solidFill>
              <a:srgbClr val="AFABAB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365B5109-06CD-500C-8CB9-0F7C90EDA9CF}"/>
              </a:ext>
            </a:extLst>
          </p:cNvPr>
          <p:cNvSpPr/>
          <p:nvPr/>
        </p:nvSpPr>
        <p:spPr>
          <a:xfrm>
            <a:off x="6103004" y="4427138"/>
            <a:ext cx="1874298" cy="242475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Control Plane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EF0118E-9615-08AF-206C-0ABC0BEE4C4F}"/>
              </a:ext>
            </a:extLst>
          </p:cNvPr>
          <p:cNvSpPr/>
          <p:nvPr/>
        </p:nvSpPr>
        <p:spPr>
          <a:xfrm>
            <a:off x="5569844" y="1012442"/>
            <a:ext cx="2800230" cy="1654376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58F6B39-6538-1787-5A20-49E687E0C0EF}"/>
              </a:ext>
            </a:extLst>
          </p:cNvPr>
          <p:cNvSpPr/>
          <p:nvPr/>
        </p:nvSpPr>
        <p:spPr>
          <a:xfrm>
            <a:off x="5981726" y="796488"/>
            <a:ext cx="1874298" cy="242475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Actor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ADA6E02-3561-24BF-D58C-3E2C212D1BD7}"/>
              </a:ext>
            </a:extLst>
          </p:cNvPr>
          <p:cNvSpPr txBox="1"/>
          <p:nvPr/>
        </p:nvSpPr>
        <p:spPr>
          <a:xfrm>
            <a:off x="5794117" y="1368315"/>
            <a:ext cx="827108" cy="2424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主治医生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1CCC90A-8687-773F-555C-9FE28152CED7}"/>
              </a:ext>
            </a:extLst>
          </p:cNvPr>
          <p:cNvSpPr txBox="1"/>
          <p:nvPr/>
        </p:nvSpPr>
        <p:spPr>
          <a:xfrm>
            <a:off x="5778651" y="2014796"/>
            <a:ext cx="711224" cy="2350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药剂师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19A2BCA-A735-591D-8089-70FBA2C3665D}"/>
              </a:ext>
            </a:extLst>
          </p:cNvPr>
          <p:cNvSpPr txBox="1"/>
          <p:nvPr/>
        </p:nvSpPr>
        <p:spPr>
          <a:xfrm>
            <a:off x="7856024" y="1362825"/>
            <a:ext cx="411883" cy="833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记忆管理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E0131F4-54D9-F208-8953-67154DC6A625}"/>
              </a:ext>
            </a:extLst>
          </p:cNvPr>
          <p:cNvSpPr txBox="1"/>
          <p:nvPr/>
        </p:nvSpPr>
        <p:spPr>
          <a:xfrm>
            <a:off x="5794117" y="1696019"/>
            <a:ext cx="676091" cy="2374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营养师</a:t>
            </a:r>
          </a:p>
        </p:txBody>
      </p:sp>
      <p:sp>
        <p:nvSpPr>
          <p:cNvPr id="37" name="右大括号 36">
            <a:extLst>
              <a:ext uri="{FF2B5EF4-FFF2-40B4-BE49-F238E27FC236}">
                <a16:creationId xmlns:a16="http://schemas.microsoft.com/office/drawing/2014/main" id="{B322526B-213F-4F4D-57C2-34D3EE5CCCC0}"/>
              </a:ext>
            </a:extLst>
          </p:cNvPr>
          <p:cNvSpPr/>
          <p:nvPr/>
        </p:nvSpPr>
        <p:spPr>
          <a:xfrm>
            <a:off x="7599607" y="1391562"/>
            <a:ext cx="267469" cy="925799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rgbClr val="AFAB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3FBE390-8854-FD52-261D-1DE2E591A51C}"/>
              </a:ext>
            </a:extLst>
          </p:cNvPr>
          <p:cNvSpPr txBox="1"/>
          <p:nvPr/>
        </p:nvSpPr>
        <p:spPr>
          <a:xfrm>
            <a:off x="6573871" y="1696019"/>
            <a:ext cx="950099" cy="2374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代谢病医生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4C7E958-2B2B-06CD-538A-1C7250CD28D3}"/>
              </a:ext>
            </a:extLst>
          </p:cNvPr>
          <p:cNvSpPr txBox="1"/>
          <p:nvPr/>
        </p:nvSpPr>
        <p:spPr>
          <a:xfrm>
            <a:off x="6677498" y="1370345"/>
            <a:ext cx="827108" cy="2424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科普老师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14DAD96-56BA-F5B9-B8F5-543BE16F829A}"/>
              </a:ext>
            </a:extLst>
          </p:cNvPr>
          <p:cNvSpPr/>
          <p:nvPr/>
        </p:nvSpPr>
        <p:spPr>
          <a:xfrm>
            <a:off x="9562262" y="959224"/>
            <a:ext cx="1846735" cy="2730372"/>
          </a:xfrm>
          <a:prstGeom prst="rect">
            <a:avLst/>
          </a:prstGeom>
          <a:noFill/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2B1A679-AA6A-298A-E8F0-6710B69DF1E3}"/>
              </a:ext>
            </a:extLst>
          </p:cNvPr>
          <p:cNvCxnSpPr>
            <a:cxnSpLocks/>
          </p:cNvCxnSpPr>
          <p:nvPr/>
        </p:nvCxnSpPr>
        <p:spPr>
          <a:xfrm>
            <a:off x="7054044" y="4085188"/>
            <a:ext cx="0" cy="299999"/>
          </a:xfrm>
          <a:prstGeom prst="straightConnector1">
            <a:avLst/>
          </a:prstGeom>
          <a:ln w="22225">
            <a:solidFill>
              <a:srgbClr val="AFABAB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5A403C1B-D330-F3AC-15DE-951B7800B58D}"/>
              </a:ext>
            </a:extLst>
          </p:cNvPr>
          <p:cNvSpPr/>
          <p:nvPr/>
        </p:nvSpPr>
        <p:spPr>
          <a:xfrm>
            <a:off x="5015798" y="4642840"/>
            <a:ext cx="4407242" cy="675817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D97CFA2-E378-EBAE-0400-A6490FE5C269}"/>
              </a:ext>
            </a:extLst>
          </p:cNvPr>
          <p:cNvSpPr txBox="1"/>
          <p:nvPr/>
        </p:nvSpPr>
        <p:spPr>
          <a:xfrm>
            <a:off x="5155840" y="4803866"/>
            <a:ext cx="150844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Web UI:8848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5ECCA04-B5E6-6C82-98CA-5BA4A4C74318}"/>
              </a:ext>
            </a:extLst>
          </p:cNvPr>
          <p:cNvSpPr txBox="1"/>
          <p:nvPr/>
        </p:nvSpPr>
        <p:spPr>
          <a:xfrm>
            <a:off x="6804328" y="4818282"/>
            <a:ext cx="822864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CLI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E13D528-FBFC-EE71-7796-61513FD2EED8}"/>
              </a:ext>
            </a:extLst>
          </p:cNvPr>
          <p:cNvSpPr txBox="1"/>
          <p:nvPr/>
        </p:nvSpPr>
        <p:spPr>
          <a:xfrm>
            <a:off x="7757008" y="4818282"/>
            <a:ext cx="1534226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MCP(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stdio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)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589C09F-3312-08AC-1DCF-415F4A41E31A}"/>
              </a:ext>
            </a:extLst>
          </p:cNvPr>
          <p:cNvCxnSpPr>
            <a:cxnSpLocks/>
          </p:cNvCxnSpPr>
          <p:nvPr/>
        </p:nvCxnSpPr>
        <p:spPr>
          <a:xfrm>
            <a:off x="4963595" y="2575909"/>
            <a:ext cx="606249" cy="0"/>
          </a:xfrm>
          <a:prstGeom prst="straightConnector1">
            <a:avLst/>
          </a:prstGeom>
          <a:ln w="22225">
            <a:solidFill>
              <a:srgbClr val="AFABAB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60A46DEF-0609-E5CE-3E94-B38EE16F54E7}"/>
              </a:ext>
            </a:extLst>
          </p:cNvPr>
          <p:cNvSpPr/>
          <p:nvPr/>
        </p:nvSpPr>
        <p:spPr>
          <a:xfrm>
            <a:off x="2714286" y="2171417"/>
            <a:ext cx="1874298" cy="242475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Agent Runtimes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DB9EC3E-587B-C608-DC9F-3A3442321933}"/>
              </a:ext>
            </a:extLst>
          </p:cNvPr>
          <p:cNvSpPr/>
          <p:nvPr/>
        </p:nvSpPr>
        <p:spPr>
          <a:xfrm>
            <a:off x="2189246" y="2385764"/>
            <a:ext cx="2749173" cy="715422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5513177-8DC5-BBF1-DAE2-58A30A172235}"/>
              </a:ext>
            </a:extLst>
          </p:cNvPr>
          <p:cNvSpPr txBox="1"/>
          <p:nvPr/>
        </p:nvSpPr>
        <p:spPr>
          <a:xfrm>
            <a:off x="2311243" y="2488126"/>
            <a:ext cx="1099351" cy="2496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Claude Code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54942C6-C302-A507-9EE5-F9BCC1392302}"/>
              </a:ext>
            </a:extLst>
          </p:cNvPr>
          <p:cNvSpPr txBox="1"/>
          <p:nvPr/>
        </p:nvSpPr>
        <p:spPr>
          <a:xfrm>
            <a:off x="3494709" y="2495336"/>
            <a:ext cx="893611" cy="2424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Codex CLI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8FFFE9F-B1E6-7A70-86A8-FAB520205E69}"/>
              </a:ext>
            </a:extLst>
          </p:cNvPr>
          <p:cNvSpPr txBox="1"/>
          <p:nvPr/>
        </p:nvSpPr>
        <p:spPr>
          <a:xfrm>
            <a:off x="2311243" y="2807630"/>
            <a:ext cx="893611" cy="2424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Gemini CLI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084CF5A-9E51-A3D5-6466-47C6DC13AF9A}"/>
              </a:ext>
            </a:extLst>
          </p:cNvPr>
          <p:cNvSpPr txBox="1"/>
          <p:nvPr/>
        </p:nvSpPr>
        <p:spPr>
          <a:xfrm>
            <a:off x="3294981" y="2804982"/>
            <a:ext cx="1486984" cy="233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+ 5 more + custom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4AB4A84-9F0A-EEA3-F33A-BCD9480E701F}"/>
              </a:ext>
            </a:extLst>
          </p:cNvPr>
          <p:cNvSpPr/>
          <p:nvPr/>
        </p:nvSpPr>
        <p:spPr>
          <a:xfrm>
            <a:off x="9554366" y="736902"/>
            <a:ext cx="1874298" cy="2424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三层记忆管理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24D58A87-2079-CDC2-10C8-895CCEC5DE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90" t="6886" r="8925" b="5871"/>
          <a:stretch>
            <a:fillRect/>
          </a:stretch>
        </p:blipFill>
        <p:spPr>
          <a:xfrm>
            <a:off x="9665925" y="1003926"/>
            <a:ext cx="1648549" cy="2640971"/>
          </a:xfrm>
          <a:prstGeom prst="rect">
            <a:avLst/>
          </a:prstGeom>
        </p:spPr>
      </p:pic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474873CA-287B-7E08-7A26-BCE6527EE3A8}"/>
              </a:ext>
            </a:extLst>
          </p:cNvPr>
          <p:cNvCxnSpPr>
            <a:cxnSpLocks/>
          </p:cNvCxnSpPr>
          <p:nvPr/>
        </p:nvCxnSpPr>
        <p:spPr>
          <a:xfrm flipH="1">
            <a:off x="8208915" y="1805262"/>
            <a:ext cx="1623343" cy="0"/>
          </a:xfrm>
          <a:prstGeom prst="straightConnector1">
            <a:avLst/>
          </a:prstGeom>
          <a:ln w="22225">
            <a:solidFill>
              <a:srgbClr val="AFABAB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E09DE6BE-0F02-DAEF-3D03-FAAB77ADC2E7}"/>
              </a:ext>
            </a:extLst>
          </p:cNvPr>
          <p:cNvSpPr txBox="1"/>
          <p:nvPr/>
        </p:nvSpPr>
        <p:spPr>
          <a:xfrm>
            <a:off x="6573871" y="2012356"/>
            <a:ext cx="950099" cy="2374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心理咨询师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366195A-C821-6ABB-D51C-CF4A1E30C334}"/>
              </a:ext>
            </a:extLst>
          </p:cNvPr>
          <p:cNvSpPr txBox="1"/>
          <p:nvPr/>
        </p:nvSpPr>
        <p:spPr>
          <a:xfrm>
            <a:off x="5261874" y="5999628"/>
            <a:ext cx="983836" cy="2599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Telegram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B7F9CE6-39B8-77F3-D651-CD3F4D69DB21}"/>
              </a:ext>
            </a:extLst>
          </p:cNvPr>
          <p:cNvSpPr txBox="1"/>
          <p:nvPr/>
        </p:nvSpPr>
        <p:spPr>
          <a:xfrm>
            <a:off x="7471084" y="6011361"/>
            <a:ext cx="983836" cy="2599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Discord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6877BA5-0018-C7E9-DA82-B97595529EC7}"/>
              </a:ext>
            </a:extLst>
          </p:cNvPr>
          <p:cNvSpPr txBox="1"/>
          <p:nvPr/>
        </p:nvSpPr>
        <p:spPr>
          <a:xfrm>
            <a:off x="5273182" y="6369663"/>
            <a:ext cx="983836" cy="2599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Feishu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3566415-0F35-363E-BFAD-D5B4F4F5799A}"/>
              </a:ext>
            </a:extLst>
          </p:cNvPr>
          <p:cNvSpPr txBox="1"/>
          <p:nvPr/>
        </p:nvSpPr>
        <p:spPr>
          <a:xfrm>
            <a:off x="6643356" y="6357492"/>
            <a:ext cx="983836" cy="2599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DingTalk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0C9F53AA-422E-6592-4CF8-F850AB493F53}"/>
              </a:ext>
            </a:extLst>
          </p:cNvPr>
          <p:cNvCxnSpPr>
            <a:cxnSpLocks/>
          </p:cNvCxnSpPr>
          <p:nvPr/>
        </p:nvCxnSpPr>
        <p:spPr>
          <a:xfrm>
            <a:off x="7029720" y="5348430"/>
            <a:ext cx="0" cy="299999"/>
          </a:xfrm>
          <a:prstGeom prst="straightConnector1">
            <a:avLst/>
          </a:prstGeom>
          <a:ln w="22225">
            <a:solidFill>
              <a:srgbClr val="AFABAB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801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838147F-ECB8-61D7-4E1D-ABA46C933B0A}"/>
              </a:ext>
            </a:extLst>
          </p:cNvPr>
          <p:cNvSpPr/>
          <p:nvPr/>
        </p:nvSpPr>
        <p:spPr>
          <a:xfrm>
            <a:off x="1043753" y="2056659"/>
            <a:ext cx="980302" cy="4201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记忆储存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454C56-5E81-B0CF-0625-D7788BD05467}"/>
              </a:ext>
            </a:extLst>
          </p:cNvPr>
          <p:cNvSpPr/>
          <p:nvPr/>
        </p:nvSpPr>
        <p:spPr>
          <a:xfrm>
            <a:off x="2884909" y="2056659"/>
            <a:ext cx="2080053" cy="4201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记忆管家（胶质细胞）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05BCDB4-E380-EAA4-7A54-774DBB9BB0C1}"/>
              </a:ext>
            </a:extLst>
          </p:cNvPr>
          <p:cNvCxnSpPr>
            <a:cxnSpLocks/>
          </p:cNvCxnSpPr>
          <p:nvPr/>
        </p:nvCxnSpPr>
        <p:spPr>
          <a:xfrm>
            <a:off x="2114671" y="2180226"/>
            <a:ext cx="6507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6A9572A-4585-326D-7341-28D21DCBD746}"/>
              </a:ext>
            </a:extLst>
          </p:cNvPr>
          <p:cNvCxnSpPr>
            <a:cxnSpLocks/>
          </p:cNvCxnSpPr>
          <p:nvPr/>
        </p:nvCxnSpPr>
        <p:spPr>
          <a:xfrm flipH="1">
            <a:off x="2098194" y="2349102"/>
            <a:ext cx="6507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6FBE6A1-AED8-B8ED-DC05-EDC54FDED570}"/>
              </a:ext>
            </a:extLst>
          </p:cNvPr>
          <p:cNvSpPr txBox="1"/>
          <p:nvPr/>
        </p:nvSpPr>
        <p:spPr>
          <a:xfrm>
            <a:off x="2159981" y="1789898"/>
            <a:ext cx="650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调用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2B987F-E707-14AF-2078-63DE73C79911}"/>
              </a:ext>
            </a:extLst>
          </p:cNvPr>
          <p:cNvSpPr txBox="1"/>
          <p:nvPr/>
        </p:nvSpPr>
        <p:spPr>
          <a:xfrm>
            <a:off x="1947045" y="2491775"/>
            <a:ext cx="1320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遗忘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重构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4AA280-CF9D-488C-9A0A-2A93F50C45AD}"/>
              </a:ext>
            </a:extLst>
          </p:cNvPr>
          <p:cNvSpPr/>
          <p:nvPr/>
        </p:nvSpPr>
        <p:spPr>
          <a:xfrm>
            <a:off x="870758" y="1298778"/>
            <a:ext cx="4506097" cy="1767914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0D41C4-ECBF-EA59-B817-6493E1313654}"/>
              </a:ext>
            </a:extLst>
          </p:cNvPr>
          <p:cNvSpPr/>
          <p:nvPr/>
        </p:nvSpPr>
        <p:spPr>
          <a:xfrm>
            <a:off x="870758" y="1039287"/>
            <a:ext cx="1320116" cy="284206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记忆封装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9BA18A-DF38-AB5A-3DCC-9C671B2311DC}"/>
              </a:ext>
            </a:extLst>
          </p:cNvPr>
          <p:cNvSpPr/>
          <p:nvPr/>
        </p:nvSpPr>
        <p:spPr>
          <a:xfrm>
            <a:off x="6351691" y="1298778"/>
            <a:ext cx="4506097" cy="1767914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F33554-B648-9FE3-6E37-DD8E7F6B1209}"/>
              </a:ext>
            </a:extLst>
          </p:cNvPr>
          <p:cNvSpPr/>
          <p:nvPr/>
        </p:nvSpPr>
        <p:spPr>
          <a:xfrm>
            <a:off x="6348920" y="1039287"/>
            <a:ext cx="2695830" cy="284206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Agent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（功能架构）封装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6993DC-556F-7688-36B2-56CBA9345D43}"/>
              </a:ext>
            </a:extLst>
          </p:cNvPr>
          <p:cNvSpPr/>
          <p:nvPr/>
        </p:nvSpPr>
        <p:spPr>
          <a:xfrm>
            <a:off x="6599202" y="1528990"/>
            <a:ext cx="1157612" cy="3284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主治医生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0.3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73E8D52-7A99-ECFE-2171-C5D9EBE39A42}"/>
              </a:ext>
            </a:extLst>
          </p:cNvPr>
          <p:cNvSpPr/>
          <p:nvPr/>
        </p:nvSpPr>
        <p:spPr>
          <a:xfrm>
            <a:off x="7916757" y="1528990"/>
            <a:ext cx="980302" cy="3284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药剂师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0.1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E87CC4-ED11-362C-B59A-EB9122EE0D8E}"/>
              </a:ext>
            </a:extLst>
          </p:cNvPr>
          <p:cNvSpPr/>
          <p:nvPr/>
        </p:nvSpPr>
        <p:spPr>
          <a:xfrm>
            <a:off x="9057002" y="1528990"/>
            <a:ext cx="1416692" cy="3284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代谢医生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0.2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D299586-1474-04F2-EA84-6F61459A5029}"/>
              </a:ext>
            </a:extLst>
          </p:cNvPr>
          <p:cNvGrpSpPr/>
          <p:nvPr/>
        </p:nvGrpSpPr>
        <p:grpSpPr>
          <a:xfrm>
            <a:off x="5586609" y="1857945"/>
            <a:ext cx="624669" cy="625281"/>
            <a:chOff x="5333689" y="2091406"/>
            <a:chExt cx="624669" cy="625281"/>
          </a:xfrm>
        </p:grpSpPr>
        <p:sp>
          <p:nvSpPr>
            <p:cNvPr id="24" name="箭头: 右 23">
              <a:extLst>
                <a:ext uri="{FF2B5EF4-FFF2-40B4-BE49-F238E27FC236}">
                  <a16:creationId xmlns:a16="http://schemas.microsoft.com/office/drawing/2014/main" id="{94F1AAA1-2349-75AD-AD46-B11D8E843E43}"/>
                </a:ext>
              </a:extLst>
            </p:cNvPr>
            <p:cNvSpPr/>
            <p:nvPr/>
          </p:nvSpPr>
          <p:spPr>
            <a:xfrm>
              <a:off x="5344435" y="2091406"/>
              <a:ext cx="613923" cy="247664"/>
            </a:xfrm>
            <a:prstGeom prst="rightArrow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5" name="箭头: 右 24">
              <a:extLst>
                <a:ext uri="{FF2B5EF4-FFF2-40B4-BE49-F238E27FC236}">
                  <a16:creationId xmlns:a16="http://schemas.microsoft.com/office/drawing/2014/main" id="{C1AEB944-4258-AEBE-FF80-863FF25687D8}"/>
                </a:ext>
              </a:extLst>
            </p:cNvPr>
            <p:cNvSpPr/>
            <p:nvPr/>
          </p:nvSpPr>
          <p:spPr>
            <a:xfrm rot="10800000">
              <a:off x="5333689" y="2469023"/>
              <a:ext cx="613923" cy="247664"/>
            </a:xfrm>
            <a:prstGeom prst="rightArrow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024D9D3-144D-6937-EAAE-264BBA4AD3FC}"/>
              </a:ext>
            </a:extLst>
          </p:cNvPr>
          <p:cNvSpPr txBox="1"/>
          <p:nvPr/>
        </p:nvSpPr>
        <p:spPr>
          <a:xfrm>
            <a:off x="5446713" y="1393052"/>
            <a:ext cx="8259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旧信息调用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2AE7B6-0E58-3972-06D0-60AF47B642F1}"/>
              </a:ext>
            </a:extLst>
          </p:cNvPr>
          <p:cNvSpPr txBox="1"/>
          <p:nvPr/>
        </p:nvSpPr>
        <p:spPr>
          <a:xfrm>
            <a:off x="5463128" y="2541898"/>
            <a:ext cx="7931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新信息储存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156953E-DAED-3A79-207A-CFF2B568CD04}"/>
              </a:ext>
            </a:extLst>
          </p:cNvPr>
          <p:cNvSpPr/>
          <p:nvPr/>
        </p:nvSpPr>
        <p:spPr>
          <a:xfrm>
            <a:off x="7089353" y="2050591"/>
            <a:ext cx="2695830" cy="2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提示词（逻辑推理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+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交互）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7CD090A-823C-6CEB-778C-269B13EFDF82}"/>
              </a:ext>
            </a:extLst>
          </p:cNvPr>
          <p:cNvSpPr/>
          <p:nvPr/>
        </p:nvSpPr>
        <p:spPr>
          <a:xfrm>
            <a:off x="3497166" y="4536851"/>
            <a:ext cx="4506097" cy="1944043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C394D3B-93E7-065E-A664-CBD5AD927660}"/>
              </a:ext>
            </a:extLst>
          </p:cNvPr>
          <p:cNvSpPr/>
          <p:nvPr/>
        </p:nvSpPr>
        <p:spPr>
          <a:xfrm>
            <a:off x="3474263" y="4289564"/>
            <a:ext cx="2222639" cy="284205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用户端信息封装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67D3CF0-D285-1348-EA7C-FCFAA1054658}"/>
              </a:ext>
            </a:extLst>
          </p:cNvPr>
          <p:cNvGrpSpPr/>
          <p:nvPr/>
        </p:nvGrpSpPr>
        <p:grpSpPr>
          <a:xfrm rot="18439179">
            <a:off x="7073521" y="3444792"/>
            <a:ext cx="624669" cy="625281"/>
            <a:chOff x="5333689" y="2091406"/>
            <a:chExt cx="624669" cy="625281"/>
          </a:xfrm>
        </p:grpSpPr>
        <p:sp>
          <p:nvSpPr>
            <p:cNvPr id="60" name="箭头: 右 59">
              <a:extLst>
                <a:ext uri="{FF2B5EF4-FFF2-40B4-BE49-F238E27FC236}">
                  <a16:creationId xmlns:a16="http://schemas.microsoft.com/office/drawing/2014/main" id="{143DA72E-2817-9A5F-CA9D-8F4BFCE025A3}"/>
                </a:ext>
              </a:extLst>
            </p:cNvPr>
            <p:cNvSpPr/>
            <p:nvPr/>
          </p:nvSpPr>
          <p:spPr>
            <a:xfrm>
              <a:off x="5344435" y="2091406"/>
              <a:ext cx="613923" cy="247664"/>
            </a:xfrm>
            <a:prstGeom prst="rightArrow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61" name="箭头: 右 60">
              <a:extLst>
                <a:ext uri="{FF2B5EF4-FFF2-40B4-BE49-F238E27FC236}">
                  <a16:creationId xmlns:a16="http://schemas.microsoft.com/office/drawing/2014/main" id="{4CB4DF80-A448-47CC-BFE2-8C37E1DEACD2}"/>
                </a:ext>
              </a:extLst>
            </p:cNvPr>
            <p:cNvSpPr/>
            <p:nvPr/>
          </p:nvSpPr>
          <p:spPr>
            <a:xfrm rot="10800000">
              <a:off x="5333689" y="2469023"/>
              <a:ext cx="613923" cy="247664"/>
            </a:xfrm>
            <a:prstGeom prst="rightArrow">
              <a:avLst/>
            </a:prstGeom>
            <a:solidFill>
              <a:srgbClr val="AFAB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63" name="箭头: 右 62">
            <a:extLst>
              <a:ext uri="{FF2B5EF4-FFF2-40B4-BE49-F238E27FC236}">
                <a16:creationId xmlns:a16="http://schemas.microsoft.com/office/drawing/2014/main" id="{ADF3E80D-F071-BE7F-A3F6-CAE400F3C7F6}"/>
              </a:ext>
            </a:extLst>
          </p:cNvPr>
          <p:cNvSpPr/>
          <p:nvPr/>
        </p:nvSpPr>
        <p:spPr>
          <a:xfrm rot="13759770">
            <a:off x="4061641" y="3479556"/>
            <a:ext cx="613923" cy="247664"/>
          </a:xfrm>
          <a:prstGeom prst="rightArrow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FF17D31-F2D0-ED44-14DC-67C862AC134B}"/>
              </a:ext>
            </a:extLst>
          </p:cNvPr>
          <p:cNvSpPr txBox="1"/>
          <p:nvPr/>
        </p:nvSpPr>
        <p:spPr>
          <a:xfrm>
            <a:off x="6277684" y="3313980"/>
            <a:ext cx="7931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用户需求读取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8B0FD74-D994-F0ED-261B-E484B4B41D06}"/>
              </a:ext>
            </a:extLst>
          </p:cNvPr>
          <p:cNvSpPr txBox="1"/>
          <p:nvPr/>
        </p:nvSpPr>
        <p:spPr>
          <a:xfrm>
            <a:off x="7646755" y="3727611"/>
            <a:ext cx="10391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智能体决策反馈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9FE3278-61F4-5BA5-83CC-EE5C93EA80A3}"/>
              </a:ext>
            </a:extLst>
          </p:cNvPr>
          <p:cNvSpPr txBox="1"/>
          <p:nvPr/>
        </p:nvSpPr>
        <p:spPr>
          <a:xfrm>
            <a:off x="3165532" y="3466001"/>
            <a:ext cx="10391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交互信息筛选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储存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6970B77-3D47-9505-E9B1-BB76BC9D183E}"/>
              </a:ext>
            </a:extLst>
          </p:cNvPr>
          <p:cNvSpPr/>
          <p:nvPr/>
        </p:nvSpPr>
        <p:spPr>
          <a:xfrm>
            <a:off x="4225250" y="4830695"/>
            <a:ext cx="1221463" cy="4201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用户不同阶段需求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E161FDE-8B2D-4404-A6E1-66A2B34FE66A}"/>
              </a:ext>
            </a:extLst>
          </p:cNvPr>
          <p:cNvSpPr/>
          <p:nvPr/>
        </p:nvSpPr>
        <p:spPr>
          <a:xfrm>
            <a:off x="5693046" y="4830695"/>
            <a:ext cx="1471608" cy="4201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用户不同阶段身体指标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C11D183-CCB2-E7AF-1003-DDBAEC40964A}"/>
              </a:ext>
            </a:extLst>
          </p:cNvPr>
          <p:cNvSpPr/>
          <p:nvPr/>
        </p:nvSpPr>
        <p:spPr>
          <a:xfrm>
            <a:off x="4225249" y="5409664"/>
            <a:ext cx="2939406" cy="4201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用户医师的治疗方案（药剂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疗程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注意事项）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4CA3149-04E4-4062-F21C-44B1CCA73D5D}"/>
              </a:ext>
            </a:extLst>
          </p:cNvPr>
          <p:cNvSpPr/>
          <p:nvPr/>
        </p:nvSpPr>
        <p:spPr>
          <a:xfrm>
            <a:off x="4225250" y="5976619"/>
            <a:ext cx="1467796" cy="2775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用户心理状况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9342822-EE69-9C2C-09EE-F54DAA9B91BC}"/>
              </a:ext>
            </a:extLst>
          </p:cNvPr>
          <p:cNvSpPr/>
          <p:nvPr/>
        </p:nvSpPr>
        <p:spPr>
          <a:xfrm>
            <a:off x="5778567" y="5978447"/>
            <a:ext cx="1386087" cy="2632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用户认知水平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E61675E-16A5-74EC-F512-8B3C7DA155F4}"/>
              </a:ext>
            </a:extLst>
          </p:cNvPr>
          <p:cNvSpPr/>
          <p:nvPr/>
        </p:nvSpPr>
        <p:spPr>
          <a:xfrm>
            <a:off x="6627184" y="2473905"/>
            <a:ext cx="1019571" cy="319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营养师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0.1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9F0F37E-91D9-725F-05B0-676D339F40BA}"/>
              </a:ext>
            </a:extLst>
          </p:cNvPr>
          <p:cNvSpPr/>
          <p:nvPr/>
        </p:nvSpPr>
        <p:spPr>
          <a:xfrm>
            <a:off x="9458249" y="2483226"/>
            <a:ext cx="1015445" cy="319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科普老师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DE23644-3A3F-A03F-4B55-0DA3524FC8A6}"/>
              </a:ext>
            </a:extLst>
          </p:cNvPr>
          <p:cNvSpPr/>
          <p:nvPr/>
        </p:nvSpPr>
        <p:spPr>
          <a:xfrm>
            <a:off x="7817329" y="2473904"/>
            <a:ext cx="1469061" cy="319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心理咨询师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0.05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C6DA244-9CFC-87C9-40DE-7AEB595642CE}"/>
              </a:ext>
            </a:extLst>
          </p:cNvPr>
          <p:cNvSpPr/>
          <p:nvPr/>
        </p:nvSpPr>
        <p:spPr>
          <a:xfrm>
            <a:off x="0" y="232717"/>
            <a:ext cx="12192000" cy="551935"/>
          </a:xfrm>
          <a:prstGeom prst="rect">
            <a:avLst/>
          </a:prstGeom>
          <a:solidFill>
            <a:srgbClr val="C7D7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1736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系统架构</a:t>
            </a:r>
          </a:p>
        </p:txBody>
      </p:sp>
    </p:spTree>
    <p:extLst>
      <p:ext uri="{BB962C8B-B14F-4D97-AF65-F5344CB8AC3E}">
        <p14:creationId xmlns:p14="http://schemas.microsoft.com/office/powerpoint/2010/main" val="3676374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A2BE1A8-4049-4EF7-5E49-4C979DF91746}"/>
              </a:ext>
            </a:extLst>
          </p:cNvPr>
          <p:cNvSpPr/>
          <p:nvPr/>
        </p:nvSpPr>
        <p:spPr>
          <a:xfrm>
            <a:off x="4227912" y="2624126"/>
            <a:ext cx="5601264" cy="2354703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F31F97-2F8E-4F74-077E-3AA587A1D7AB}"/>
              </a:ext>
            </a:extLst>
          </p:cNvPr>
          <p:cNvSpPr/>
          <p:nvPr/>
        </p:nvSpPr>
        <p:spPr>
          <a:xfrm>
            <a:off x="5250753" y="2381651"/>
            <a:ext cx="1874298" cy="242475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自进化封装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D1BF50-F340-F672-DA6C-5613A509AF0C}"/>
              </a:ext>
            </a:extLst>
          </p:cNvPr>
          <p:cNvSpPr/>
          <p:nvPr/>
        </p:nvSpPr>
        <p:spPr>
          <a:xfrm>
            <a:off x="4414033" y="3007258"/>
            <a:ext cx="901866" cy="298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数据测评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7822640-9A75-3335-2F67-6C9BC1E5AF36}"/>
              </a:ext>
            </a:extLst>
          </p:cNvPr>
          <p:cNvSpPr/>
          <p:nvPr/>
        </p:nvSpPr>
        <p:spPr>
          <a:xfrm>
            <a:off x="4433849" y="3775632"/>
            <a:ext cx="882050" cy="298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分析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844AD19-4A08-2C92-DC06-43986A8AEF64}"/>
              </a:ext>
            </a:extLst>
          </p:cNvPr>
          <p:cNvSpPr/>
          <p:nvPr/>
        </p:nvSpPr>
        <p:spPr>
          <a:xfrm>
            <a:off x="5851049" y="3763672"/>
            <a:ext cx="882050" cy="298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优化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D530E34-953A-B212-1B18-89FB844253C0}"/>
              </a:ext>
            </a:extLst>
          </p:cNvPr>
          <p:cNvCxnSpPr>
            <a:cxnSpLocks/>
          </p:cNvCxnSpPr>
          <p:nvPr/>
        </p:nvCxnSpPr>
        <p:spPr>
          <a:xfrm>
            <a:off x="5374723" y="3156326"/>
            <a:ext cx="357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405BAC2-6527-D176-D70C-7F95835A0B17}"/>
              </a:ext>
            </a:extLst>
          </p:cNvPr>
          <p:cNvCxnSpPr>
            <a:cxnSpLocks/>
          </p:cNvCxnSpPr>
          <p:nvPr/>
        </p:nvCxnSpPr>
        <p:spPr>
          <a:xfrm>
            <a:off x="5374723" y="3902826"/>
            <a:ext cx="357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BC9C4A87-048E-62AB-6DDC-3E9F491C064A}"/>
              </a:ext>
            </a:extLst>
          </p:cNvPr>
          <p:cNvSpPr/>
          <p:nvPr/>
        </p:nvSpPr>
        <p:spPr>
          <a:xfrm>
            <a:off x="0" y="232717"/>
            <a:ext cx="12192000" cy="551935"/>
          </a:xfrm>
          <a:prstGeom prst="rect">
            <a:avLst/>
          </a:prstGeom>
          <a:solidFill>
            <a:srgbClr val="C7D7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1736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自进化模块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14B4B6-1839-F2FC-7F9D-240CD960FAA0}"/>
              </a:ext>
            </a:extLst>
          </p:cNvPr>
          <p:cNvSpPr/>
          <p:nvPr/>
        </p:nvSpPr>
        <p:spPr>
          <a:xfrm>
            <a:off x="2332854" y="2510948"/>
            <a:ext cx="1472990" cy="3123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Agent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架构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099D19-32B5-9D0F-179F-DDED39D461F3}"/>
              </a:ext>
            </a:extLst>
          </p:cNvPr>
          <p:cNvSpPr/>
          <p:nvPr/>
        </p:nvSpPr>
        <p:spPr>
          <a:xfrm>
            <a:off x="2332854" y="2948970"/>
            <a:ext cx="1472990" cy="364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提示词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DAC6A5-7F69-43C4-C9B5-4C91DD957F87}"/>
              </a:ext>
            </a:extLst>
          </p:cNvPr>
          <p:cNvSpPr/>
          <p:nvPr/>
        </p:nvSpPr>
        <p:spPr>
          <a:xfrm>
            <a:off x="2332854" y="3461635"/>
            <a:ext cx="1472990" cy="3641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memory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F0936FEC-B4ED-9593-FCCD-A8C0D41C7613}"/>
              </a:ext>
            </a:extLst>
          </p:cNvPr>
          <p:cNvSpPr/>
          <p:nvPr/>
        </p:nvSpPr>
        <p:spPr>
          <a:xfrm rot="10800000">
            <a:off x="3882234" y="2534393"/>
            <a:ext cx="466400" cy="1636539"/>
          </a:xfrm>
          <a:prstGeom prst="leftBrace">
            <a:avLst>
              <a:gd name="adj1" fmla="val 8333"/>
              <a:gd name="adj2" fmla="val 62584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88995E-1293-2F1F-E2FF-54C3B21DADC3}"/>
              </a:ext>
            </a:extLst>
          </p:cNvPr>
          <p:cNvSpPr/>
          <p:nvPr/>
        </p:nvSpPr>
        <p:spPr>
          <a:xfrm>
            <a:off x="5847698" y="3015489"/>
            <a:ext cx="1927492" cy="298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Evaluator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质检打分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04DE3F7F-C4A8-4672-F354-FF6AE7BE4B23}"/>
              </a:ext>
            </a:extLst>
          </p:cNvPr>
          <p:cNvSpPr/>
          <p:nvPr/>
        </p:nvSpPr>
        <p:spPr>
          <a:xfrm>
            <a:off x="4754598" y="3432837"/>
            <a:ext cx="251670" cy="221702"/>
          </a:xfrm>
          <a:prstGeom prst="downArrow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7F18C6-1779-A2B1-575F-0E2D2E0708C5}"/>
              </a:ext>
            </a:extLst>
          </p:cNvPr>
          <p:cNvSpPr/>
          <p:nvPr/>
        </p:nvSpPr>
        <p:spPr>
          <a:xfrm>
            <a:off x="4433849" y="4517463"/>
            <a:ext cx="1653838" cy="298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Evaluator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重测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D724DA6-3994-1F90-C541-5F785BC568CB}"/>
              </a:ext>
            </a:extLst>
          </p:cNvPr>
          <p:cNvCxnSpPr>
            <a:cxnSpLocks/>
          </p:cNvCxnSpPr>
          <p:nvPr/>
        </p:nvCxnSpPr>
        <p:spPr>
          <a:xfrm>
            <a:off x="6147908" y="4667622"/>
            <a:ext cx="357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583006D-CADA-CCFB-87B5-E25EC95C567F}"/>
              </a:ext>
            </a:extLst>
          </p:cNvPr>
          <p:cNvSpPr/>
          <p:nvPr/>
        </p:nvSpPr>
        <p:spPr>
          <a:xfrm>
            <a:off x="6596129" y="4511855"/>
            <a:ext cx="882050" cy="298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对比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3FB10E1-1342-016A-046F-000DB0C5AB5C}"/>
              </a:ext>
            </a:extLst>
          </p:cNvPr>
          <p:cNvGrpSpPr/>
          <p:nvPr/>
        </p:nvGrpSpPr>
        <p:grpSpPr>
          <a:xfrm>
            <a:off x="7260954" y="3567615"/>
            <a:ext cx="800087" cy="714169"/>
            <a:chOff x="6259162" y="2868496"/>
            <a:chExt cx="1472990" cy="131481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32BAE44-5CB2-7F8F-9699-1266D1B3C0A3}"/>
                </a:ext>
              </a:extLst>
            </p:cNvPr>
            <p:cNvSpPr/>
            <p:nvPr/>
          </p:nvSpPr>
          <p:spPr>
            <a:xfrm>
              <a:off x="6259162" y="2868496"/>
              <a:ext cx="1472990" cy="3123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094AC53-065F-4FCB-B289-427E67D6D84D}"/>
                </a:ext>
              </a:extLst>
            </p:cNvPr>
            <p:cNvSpPr/>
            <p:nvPr/>
          </p:nvSpPr>
          <p:spPr>
            <a:xfrm>
              <a:off x="6259162" y="3306518"/>
              <a:ext cx="1472990" cy="3641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C8F4FEE-EFF0-113E-3E02-5A2B1882ECFB}"/>
                </a:ext>
              </a:extLst>
            </p:cNvPr>
            <p:cNvSpPr/>
            <p:nvPr/>
          </p:nvSpPr>
          <p:spPr>
            <a:xfrm>
              <a:off x="6259162" y="3819183"/>
              <a:ext cx="1472990" cy="36412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11DE275-66F8-D369-A5DB-CBE1830840A5}"/>
              </a:ext>
            </a:extLst>
          </p:cNvPr>
          <p:cNvCxnSpPr>
            <a:cxnSpLocks/>
          </p:cNvCxnSpPr>
          <p:nvPr/>
        </p:nvCxnSpPr>
        <p:spPr>
          <a:xfrm>
            <a:off x="6767604" y="3893623"/>
            <a:ext cx="357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1E8A4A4-2D0B-FA89-A26F-8FDD104DC09F}"/>
              </a:ext>
            </a:extLst>
          </p:cNvPr>
          <p:cNvCxnSpPr>
            <a:cxnSpLocks/>
          </p:cNvCxnSpPr>
          <p:nvPr/>
        </p:nvCxnSpPr>
        <p:spPr>
          <a:xfrm>
            <a:off x="7596466" y="4660923"/>
            <a:ext cx="357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B906CCD6-A6C0-93D4-6B17-24AE71CB83C4}"/>
              </a:ext>
            </a:extLst>
          </p:cNvPr>
          <p:cNvSpPr/>
          <p:nvPr/>
        </p:nvSpPr>
        <p:spPr>
          <a:xfrm>
            <a:off x="8136438" y="4518554"/>
            <a:ext cx="1273741" cy="298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下一轮优化</a:t>
            </a:r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D0FB8115-F676-B0F9-AF9B-555FC52C19D5}"/>
              </a:ext>
            </a:extLst>
          </p:cNvPr>
          <p:cNvSpPr/>
          <p:nvPr/>
        </p:nvSpPr>
        <p:spPr>
          <a:xfrm>
            <a:off x="4754598" y="4170933"/>
            <a:ext cx="251670" cy="221702"/>
          </a:xfrm>
          <a:prstGeom prst="downArrow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0682462-FF30-C7E3-4572-22FCB6CC02E5}"/>
              </a:ext>
            </a:extLst>
          </p:cNvPr>
          <p:cNvSpPr/>
          <p:nvPr/>
        </p:nvSpPr>
        <p:spPr>
          <a:xfrm>
            <a:off x="2332854" y="3974300"/>
            <a:ext cx="1472990" cy="3123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信息调用</a:t>
            </a:r>
          </a:p>
        </p:txBody>
      </p:sp>
    </p:spTree>
    <p:extLst>
      <p:ext uri="{BB962C8B-B14F-4D97-AF65-F5344CB8AC3E}">
        <p14:creationId xmlns:p14="http://schemas.microsoft.com/office/powerpoint/2010/main" val="302022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207</Words>
  <Application>Microsoft Office PowerPoint</Application>
  <PresentationFormat>宽屏</PresentationFormat>
  <Paragraphs>73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孺 舒</dc:creator>
  <cp:lastModifiedBy>孺 舒</cp:lastModifiedBy>
  <cp:revision>2</cp:revision>
  <dcterms:created xsi:type="dcterms:W3CDTF">2026-03-25T09:03:26Z</dcterms:created>
  <dcterms:modified xsi:type="dcterms:W3CDTF">2026-03-25T09:05:15Z</dcterms:modified>
</cp:coreProperties>
</file>