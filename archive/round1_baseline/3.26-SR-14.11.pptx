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709" r:id="rId3"/>
    <p:sldMasterId id="2147483719" r:id="rId4"/>
  </p:sldMasterIdLst>
  <p:notesMasterIdLst>
    <p:notesMasterId r:id="rId15"/>
  </p:notesMasterIdLst>
  <p:sldIdLst>
    <p:sldId id="1686" r:id="rId5"/>
    <p:sldId id="260" r:id="rId6"/>
    <p:sldId id="304" r:id="rId7"/>
    <p:sldId id="291" r:id="rId8"/>
    <p:sldId id="1560" r:id="rId9"/>
    <p:sldId id="1695" r:id="rId10"/>
    <p:sldId id="303" r:id="rId11"/>
    <p:sldId id="323" r:id="rId12"/>
    <p:sldId id="1225" r:id="rId13"/>
    <p:sldId id="169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2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B57757-769C-4720-8CE4-AED602158A8E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24C45-0456-460D-AB25-35EB8E70D3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25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347CFA-CD07-4E97-BD1D-543751497A0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99F32-8F5D-3E63-00EB-8C18870E8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C59ABD-2D08-DFBE-3B94-6F8B7ECFF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521729-6961-1A82-6371-957E6065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7812D7-5880-AACF-921F-010C6B52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D84B9B-1CC8-3BEF-F128-4A882749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364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66BCA-B717-7976-21B2-DC149EA0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C410E9-325C-A389-5C68-A6E6BAF5F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C0D575-E221-A978-5827-91B75F3A5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6193A-3CB9-C220-595F-28849D95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191A56-E3C6-B4A3-6679-AE9B4B4B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0305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9B499-C819-E2DB-21E6-2CB301FF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914858-F4FA-6750-5296-F46F0836B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1DE8DB-F8E6-E28C-5E22-808D5D8DF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E8132E-1B7B-DF97-2EC2-E3B79C140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357500-7D87-D7CA-8E0E-AD2F4AB09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063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24412-EBE8-A056-EF31-AD9F1906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07F93B-3335-0253-E907-F67AE15BD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C8EEB5-A9A3-6743-8F5D-5D3111692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2A7C26-8421-9585-4CAE-E88FE7EC0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1A099B-DC8C-7E24-F265-B9EAEF261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13B923-3C64-4CFA-112B-FA2A41461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50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2CD847-150A-38F0-0A84-B416BEC6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45EB78-3BC6-B7C8-F354-C025C233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61156-AFFC-28C1-B3B2-EA69E32E8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4C6A1B-8576-4DFF-7BCB-D5539E79D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31BF55-3492-8B9E-449F-DC9100DA17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C0E285B-5451-ED05-E10F-103ACF4A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EA6996-E968-24A5-775D-E67C8085A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A9DFEE-942C-1269-25C6-B66FB67B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3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8C70E-053F-8056-C5FD-681F03E5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9CD364-6A34-197B-B364-79E114C3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7CD373-27AC-5927-B78C-094F6455C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4732B-5DC2-3763-675B-79511FA06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618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A8B3C32-BF10-5F22-29D2-60697776D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24EEDE0-1E58-6F8E-126A-4DFA84AFE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5F238B-CBB6-7A2A-1D67-0FA9A1606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979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55DF7F-3923-A976-C687-E817EBFB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5838-79B1-DA7F-B36B-8DA8E0B1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16134E-66FB-9351-BC86-676D7C495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1589509-5EF7-2320-E96D-6165403C9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725068-94D6-DE8B-4C2B-B55BAA3C6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ADD085-CDB4-4433-8EBE-7AC8DD5E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980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46330-8C2A-081D-EA4D-447D7F17E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DCC8D2-7F38-0964-AF62-FDDB6F8E6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AF7B2F-D2C9-DABB-7324-94A66648E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DA4F5-355A-7C72-23C8-CE3C15148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E95310-4A88-7F87-906A-6996E49D3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0BE1DE-9A22-4EDB-48EA-B4B265B02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4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D21CD-0EB8-F4F2-D3E8-0F3DE0CE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A627D-8F99-1E6C-D7B6-860AA7703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6A98B-47C7-93C0-8630-6047227AF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E85516-A65B-272E-F0D1-CC9DE7D3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07A50-1D5F-5A60-E90E-4BF574F5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815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ACDE4C-47A4-A598-D65D-325DD67385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2A6CE2-E226-135C-0FC5-E37121FA5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386BC-8335-2473-9BD1-0F547968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5C944-E632-15A6-1B44-049698D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88F22F-F3F3-E8C2-06EA-6DDC3F76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95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134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492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835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895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808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9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770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37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401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512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401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96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6631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9670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37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927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244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83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53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235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341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00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548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497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0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56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65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66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66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4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46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22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6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304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7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4244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8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457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9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437102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72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19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631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6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6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76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ndard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574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motion Imag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716928" y="6333092"/>
            <a:ext cx="2743199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lang="en-US"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Shape 25"/>
          <p:cNvSpPr>
            <a:spLocks noGrp="1"/>
          </p:cNvSpPr>
          <p:nvPr>
            <p:ph type="pic" idx="2"/>
          </p:nvPr>
        </p:nvSpPr>
        <p:spPr>
          <a:xfrm>
            <a:off x="838200" y="1828800"/>
            <a:ext cx="10515599" cy="2009774"/>
          </a:xfrm>
          <a:prstGeom prst="rect">
            <a:avLst/>
          </a:prstGeom>
          <a:solidFill>
            <a:srgbClr val="5F6977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5547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am Work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pic" idx="2"/>
          </p:nvPr>
        </p:nvSpPr>
        <p:spPr>
          <a:xfrm>
            <a:off x="990600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6" name="Shape 56"/>
          <p:cNvSpPr>
            <a:spLocks noGrp="1"/>
          </p:cNvSpPr>
          <p:nvPr>
            <p:ph type="pic" idx="3"/>
          </p:nvPr>
        </p:nvSpPr>
        <p:spPr>
          <a:xfrm>
            <a:off x="6182544" y="1896791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7" name="Shape 57"/>
          <p:cNvSpPr>
            <a:spLocks noGrp="1"/>
          </p:cNvSpPr>
          <p:nvPr>
            <p:ph type="pic" idx="4"/>
          </p:nvPr>
        </p:nvSpPr>
        <p:spPr>
          <a:xfrm>
            <a:off x="990600" y="4143344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8" name="Shape 58"/>
          <p:cNvSpPr>
            <a:spLocks noGrp="1"/>
          </p:cNvSpPr>
          <p:nvPr>
            <p:ph type="pic" idx="5"/>
          </p:nvPr>
        </p:nvSpPr>
        <p:spPr>
          <a:xfrm>
            <a:off x="6182544" y="4150892"/>
            <a:ext cx="1828800" cy="1828800"/>
          </a:xfrm>
          <a:prstGeom prst="roundRect">
            <a:avLst>
              <a:gd name="adj" fmla="val 3449"/>
            </a:avLst>
          </a:prstGeom>
          <a:solidFill>
            <a:srgbClr val="2B2D30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6585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ortfolio #4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pic" idx="2"/>
          </p:nvPr>
        </p:nvSpPr>
        <p:spPr>
          <a:xfrm>
            <a:off x="717550" y="2155825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pic" idx="3"/>
          </p:nvPr>
        </p:nvSpPr>
        <p:spPr>
          <a:xfrm>
            <a:off x="3435350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2" name="Shape 182"/>
          <p:cNvSpPr>
            <a:spLocks noGrp="1"/>
          </p:cNvSpPr>
          <p:nvPr>
            <p:ph type="pic" idx="4"/>
          </p:nvPr>
        </p:nvSpPr>
        <p:spPr>
          <a:xfrm>
            <a:off x="613854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83" name="Shape 183"/>
          <p:cNvSpPr>
            <a:spLocks noGrp="1"/>
          </p:cNvSpPr>
          <p:nvPr>
            <p:ph type="pic" idx="5"/>
          </p:nvPr>
        </p:nvSpPr>
        <p:spPr>
          <a:xfrm>
            <a:off x="8840788" y="2155583"/>
            <a:ext cx="2633472" cy="4078224"/>
          </a:xfrm>
          <a:prstGeom prst="rect">
            <a:avLst/>
          </a:prstGeom>
          <a:solidFill>
            <a:srgbClr val="1A1D21"/>
          </a:solidFill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738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748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139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2079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108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  <a:latin typeface="Lato Hairline" panose="020F0502020204030203"/>
                <a:cs typeface="Lato Hairline" panose="020F0502020204030203"/>
              </a:defRPr>
            </a:lvl1pPr>
          </a:lstStyle>
          <a:p>
            <a:pPr lvl="0"/>
            <a:r>
              <a:rPr lang="es-ES_tradnl" dirty="0"/>
              <a:t>TITLE HERE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3"/>
                </a:solidFill>
                <a:latin typeface="Lato Light" panose="020F0502020204030203"/>
                <a:cs typeface="Lato Light" panose="020F05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44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8379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634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solidFill>
          <a:srgbClr val="04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277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8638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3556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58442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127025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8134110" y="6545425"/>
            <a:ext cx="96625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www.1ppt.com/hangye/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www.1ppt.com/sucai/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www.1ppt.com/tubiao/    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www.1ppt.com/powerpoint/  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www.1ppt.com/ziti/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www.1ppt.com/xiazai/jihua/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www.1ppt.com/xiazai/jianli/  </a:t>
            </a: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ea typeface="宋体"/>
              </a:rPr>
              <a:t>www.1ppt.com/xiazai/huibao/    </a:t>
            </a: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7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36096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900495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85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005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649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56CDAE-75C9-EDE0-022E-209DB42A8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1EAFC5-3CD8-2B57-DC6A-14FA43D22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CFF6D3-C526-57E3-D673-EC934A1471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C2DC9-F374-4A01-A97C-E3C1CD4B6995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49BE4-EBAA-46D2-DCE9-35105C831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BB515-8CF3-3277-DC43-46D6F8BBE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D6E7F-8B4D-480B-B04F-82744F7960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374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A7706-3ADE-439A-ACCA-4E2E4BD0A8D2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3AF2-978E-4B6A-93A5-17131C4242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12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1876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943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0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0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520255" y="2524133"/>
            <a:ext cx="9610139" cy="119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AI Agent </a:t>
            </a:r>
            <a:r>
              <a:rPr kumimoji="0" lang="zh-CN" altLang="en-US" sz="5400" b="1" i="0" u="none" strike="noStrike" kern="1200" cap="none" spc="-130" normalizeH="0" baseline="0" noProof="0" dirty="0">
                <a:ln>
                  <a:noFill/>
                </a:ln>
                <a:gradFill>
                  <a:gsLst>
                    <a:gs pos="20000">
                      <a:srgbClr val="FE93AA"/>
                    </a:gs>
                    <a:gs pos="69000">
                      <a:srgbClr val="4472C4">
                        <a:lumMod val="45000"/>
                        <a:lumOff val="55000"/>
                      </a:srgbClr>
                    </a:gs>
                    <a:gs pos="43000">
                      <a:srgbClr val="DCA5C2"/>
                    </a:gs>
                    <a:gs pos="90000">
                      <a:srgbClr val="4472C4">
                        <a:lumMod val="45000"/>
                        <a:lumOff val="55000"/>
                      </a:srgbClr>
                    </a:gs>
                    <a:gs pos="100000">
                      <a:srgbClr val="4472C4">
                        <a:lumMod val="30000"/>
                        <a:lumOff val="7000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血糖管理自进化系统</a:t>
            </a:r>
            <a:endParaRPr kumimoji="0" lang="zh-CN" altLang="en-US" sz="6000" b="1" i="0" u="none" strike="noStrike" kern="1200" cap="none" spc="-130" normalizeH="0" baseline="0" noProof="0" dirty="0">
              <a:ln>
                <a:noFill/>
              </a:ln>
              <a:gradFill>
                <a:gsLst>
                  <a:gs pos="20000">
                    <a:srgbClr val="FE93AA"/>
                  </a:gs>
                  <a:gs pos="69000">
                    <a:srgbClr val="4472C4">
                      <a:lumMod val="45000"/>
                      <a:lumOff val="55000"/>
                    </a:srgbClr>
                  </a:gs>
                  <a:gs pos="43000">
                    <a:srgbClr val="DCA5C2"/>
                  </a:gs>
                  <a:gs pos="90000">
                    <a:srgbClr val="4472C4">
                      <a:lumMod val="45000"/>
                      <a:lumOff val="55000"/>
                    </a:srgbClr>
                  </a:gs>
                  <a:gs pos="100000">
                    <a:srgbClr val="4472C4">
                      <a:lumMod val="30000"/>
                      <a:lumOff val="70000"/>
                    </a:srgbClr>
                  </a:gs>
                </a:gsLst>
                <a:lin ang="5400000" scaled="1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37F46D7-AD91-AACA-E1E2-A58FEB494C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8086589" y="1072321"/>
            <a:ext cx="7376799" cy="45647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693A253-3BA8-54F3-FC49-F850A3430E39}"/>
              </a:ext>
            </a:extLst>
          </p:cNvPr>
          <p:cNvSpPr txBox="1"/>
          <p:nvPr/>
        </p:nvSpPr>
        <p:spPr>
          <a:xfrm>
            <a:off x="1133326" y="1649591"/>
            <a:ext cx="9997068" cy="988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面向智能客服的</a:t>
            </a:r>
            <a:endParaRPr kumimoji="0" lang="en-US" altLang="zh-CN" sz="44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087257" y="740228"/>
            <a:ext cx="2017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29829" y="2192439"/>
            <a:ext cx="2462404" cy="3352278"/>
            <a:chOff x="854293" y="2207188"/>
            <a:chExt cx="2462404" cy="3352278"/>
          </a:xfrm>
        </p:grpSpPr>
        <p:sp>
          <p:nvSpPr>
            <p:cNvPr id="26" name="矩形 25"/>
            <p:cNvSpPr/>
            <p:nvPr/>
          </p:nvSpPr>
          <p:spPr>
            <a:xfrm>
              <a:off x="1111517" y="4565785"/>
              <a:ext cx="1947969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项目介绍</a:t>
              </a:r>
            </a:p>
          </p:txBody>
        </p:sp>
        <p:sp>
          <p:nvSpPr>
            <p:cNvPr id="34" name="等腰三角形 33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854293" y="5190134"/>
              <a:ext cx="24624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Introduction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3556966" y="2192439"/>
            <a:ext cx="2160000" cy="3352278"/>
            <a:chOff x="1005495" y="2207188"/>
            <a:chExt cx="2160000" cy="3352278"/>
          </a:xfrm>
        </p:grpSpPr>
        <p:sp>
          <p:nvSpPr>
            <p:cNvPr id="39" name="矩形 38"/>
            <p:cNvSpPr/>
            <p:nvPr/>
          </p:nvSpPr>
          <p:spPr>
            <a:xfrm>
              <a:off x="1172426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项目进展</a:t>
              </a:r>
            </a:p>
          </p:txBody>
        </p:sp>
        <p:sp>
          <p:nvSpPr>
            <p:cNvPr id="40" name="等腰三角形 3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095576" y="5190134"/>
              <a:ext cx="19798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Project progress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231941" y="2192439"/>
            <a:ext cx="2561920" cy="3352278"/>
            <a:chOff x="804535" y="2207188"/>
            <a:chExt cx="2561920" cy="3352278"/>
          </a:xfrm>
        </p:grpSpPr>
        <p:sp>
          <p:nvSpPr>
            <p:cNvPr id="44" name="矩形 43"/>
            <p:cNvSpPr/>
            <p:nvPr/>
          </p:nvSpPr>
          <p:spPr>
            <a:xfrm>
              <a:off x="1172426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45" name="等腰三角形 44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107875" y="2192439"/>
            <a:ext cx="2561920" cy="3352278"/>
            <a:chOff x="804535" y="2207188"/>
            <a:chExt cx="2561920" cy="3352278"/>
          </a:xfrm>
        </p:grpSpPr>
        <p:sp>
          <p:nvSpPr>
            <p:cNvPr id="49" name="矩形 48"/>
            <p:cNvSpPr/>
            <p:nvPr/>
          </p:nvSpPr>
          <p:spPr>
            <a:xfrm>
              <a:off x="1172424" y="4565785"/>
              <a:ext cx="1826141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项目介绍</a:t>
              </a:r>
            </a:p>
          </p:txBody>
        </p:sp>
        <p:sp>
          <p:nvSpPr>
            <p:cNvPr id="50" name="等腰三角形 49"/>
            <p:cNvSpPr/>
            <p:nvPr/>
          </p:nvSpPr>
          <p:spPr>
            <a:xfrm>
              <a:off x="1005495" y="2207188"/>
              <a:ext cx="2160000" cy="1800000"/>
            </a:xfrm>
            <a:prstGeom prst="triangle">
              <a:avLst/>
            </a:prstGeom>
            <a:noFill/>
            <a:ln>
              <a:solidFill>
                <a:srgbClr val="33619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067857" y="2501901"/>
              <a:ext cx="2035277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74000">
                        <a:srgbClr val="C05EA6"/>
                      </a:gs>
                      <a:gs pos="0">
                        <a:srgbClr val="F682B0"/>
                      </a:gs>
                      <a:gs pos="22000">
                        <a:srgbClr val="FE93AA"/>
                      </a:gs>
                      <a:gs pos="45000">
                        <a:srgbClr val="FD8EAC"/>
                      </a:gs>
                      <a:gs pos="99091">
                        <a:srgbClr val="80508A"/>
                      </a:gs>
                    </a:gsLst>
                    <a:lin ang="0" scaled="1"/>
                  </a:gradFill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74000">
                      <a:srgbClr val="C05EA6"/>
                    </a:gs>
                    <a:gs pos="0">
                      <a:srgbClr val="F682B0"/>
                    </a:gs>
                    <a:gs pos="22000">
                      <a:srgbClr val="FE93AA"/>
                    </a:gs>
                    <a:gs pos="45000">
                      <a:srgbClr val="FD8EAC"/>
                    </a:gs>
                    <a:gs pos="99091">
                      <a:srgbClr val="80508A"/>
                    </a:gs>
                  </a:gsLst>
                  <a:lin ang="0" scaled="1"/>
                </a:gradFill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804535" y="5190134"/>
              <a:ext cx="256192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点击添加具体文案内容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>
            <a:off x="2888584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等腰三角形 53"/>
          <p:cNvSpPr/>
          <p:nvPr/>
        </p:nvSpPr>
        <p:spPr>
          <a:xfrm>
            <a:off x="0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等腰三角形 54"/>
          <p:cNvSpPr/>
          <p:nvPr/>
        </p:nvSpPr>
        <p:spPr>
          <a:xfrm>
            <a:off x="5850193" y="-1076632"/>
            <a:ext cx="6341807" cy="5412657"/>
          </a:xfrm>
          <a:prstGeom prst="triangle">
            <a:avLst/>
          </a:prstGeom>
          <a:noFill/>
          <a:ln w="6350">
            <a:gradFill flip="none" rotWithShape="1">
              <a:gsLst>
                <a:gs pos="0">
                  <a:srgbClr val="F682B0"/>
                </a:gs>
                <a:gs pos="38000">
                  <a:srgbClr val="C05EA6"/>
                </a:gs>
                <a:gs pos="66000">
                  <a:srgbClr val="4C2A5E"/>
                </a:gs>
                <a:gs pos="97000">
                  <a:srgbClr val="040000"/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3847230" y="560439"/>
            <a:ext cx="4424516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 录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CONTENTS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846548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754762" y="1740310"/>
              <a:ext cx="3362632" cy="2354672"/>
            </a:xfrm>
            <a:prstGeom prst="parallelogram">
              <a:avLst>
                <a:gd name="adj" fmla="val 109952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 rot="19068212">
              <a:off x="7167714" y="3321310"/>
              <a:ext cx="144000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813754" y="3734982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1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6118482" y="2487330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6118482" y="4094982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A4D8CD4-BCEC-095C-A838-E920219D91D9}"/>
              </a:ext>
            </a:extLst>
          </p:cNvPr>
          <p:cNvSpPr/>
          <p:nvPr/>
        </p:nvSpPr>
        <p:spPr>
          <a:xfrm>
            <a:off x="3505552" y="3670766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项目介绍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EDB5B2-A72B-13F3-39DF-A65638B57A60}"/>
              </a:ext>
            </a:extLst>
          </p:cNvPr>
          <p:cNvSpPr/>
          <p:nvPr/>
        </p:nvSpPr>
        <p:spPr>
          <a:xfrm>
            <a:off x="3187417" y="4295115"/>
            <a:ext cx="2462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Introduction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图片 7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5007275" y="1950448"/>
            <a:ext cx="2457450" cy="2473325"/>
          </a:xfrm>
          <a:prstGeom prst="ellipse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800600"/>
            <a:ext cx="12191999" cy="2057400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Freeform 15"/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Freeform 15"/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3911211" y="5519172"/>
            <a:ext cx="0" cy="71720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" name="组合 3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4" name="椭圆 13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项目简介</a:t>
              </a:r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88EF9C89-A627-C3AD-D3D6-4AFF0CF47346}"/>
              </a:ext>
            </a:extLst>
          </p:cNvPr>
          <p:cNvSpPr txBox="1"/>
          <p:nvPr/>
        </p:nvSpPr>
        <p:spPr>
          <a:xfrm>
            <a:off x="4145671" y="5642613"/>
            <a:ext cx="89627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576D38-3716-A6DD-57A8-B569753B2543}"/>
              </a:ext>
            </a:extLst>
          </p:cNvPr>
          <p:cNvSpPr txBox="1"/>
          <p:nvPr/>
        </p:nvSpPr>
        <p:spPr>
          <a:xfrm>
            <a:off x="1946031" y="5642613"/>
            <a:ext cx="16718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项目名称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2DB9BB18-0AE4-EEC5-590E-DE66366FC841}"/>
              </a:ext>
            </a:extLst>
          </p:cNvPr>
          <p:cNvGrpSpPr/>
          <p:nvPr/>
        </p:nvGrpSpPr>
        <p:grpSpPr>
          <a:xfrm>
            <a:off x="1621137" y="2378198"/>
            <a:ext cx="4579144" cy="1048345"/>
            <a:chOff x="1621639" y="2495841"/>
            <a:chExt cx="4579144" cy="1048345"/>
          </a:xfrm>
        </p:grpSpPr>
        <p:sp>
          <p:nvSpPr>
            <p:cNvPr id="10" name="Shape 4">
              <a:extLst>
                <a:ext uri="{FF2B5EF4-FFF2-40B4-BE49-F238E27FC236}">
                  <a16:creationId xmlns:a16="http://schemas.microsoft.com/office/drawing/2014/main" id="{DCB3D5BA-448B-29B3-48DC-9EFCAACF16DB}"/>
                </a:ext>
              </a:extLst>
            </p:cNvPr>
            <p:cNvSpPr/>
            <p:nvPr/>
          </p:nvSpPr>
          <p:spPr>
            <a:xfrm>
              <a:off x="1621639" y="2495841"/>
              <a:ext cx="285750" cy="285750"/>
            </a:xfrm>
            <a:prstGeom prst="rect">
              <a:avLst/>
            </a:prstGeom>
            <a:solidFill>
              <a:srgbClr val="FFC700">
                <a:alpha val="15000"/>
              </a:srgbClr>
            </a:solidFill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pic>
          <p:nvPicPr>
            <p:cNvPr id="12" name="Image 2" descr="preencoded.png">
              <a:extLst>
                <a:ext uri="{FF2B5EF4-FFF2-40B4-BE49-F238E27FC236}">
                  <a16:creationId xmlns:a16="http://schemas.microsoft.com/office/drawing/2014/main" id="{84BB660E-1B62-5A6A-710D-8D2B0E76C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50000"/>
            </a:blip>
            <a:stretch>
              <a:fillRect/>
            </a:stretch>
          </p:blipFill>
          <p:spPr>
            <a:xfrm>
              <a:off x="1693077" y="2567278"/>
              <a:ext cx="142875" cy="142875"/>
            </a:xfrm>
            <a:prstGeom prst="rect">
              <a:avLst/>
            </a:prstGeom>
          </p:spPr>
        </p:pic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DB3E85CE-E81A-AFED-256A-57BA9698A061}"/>
                </a:ext>
              </a:extLst>
            </p:cNvPr>
            <p:cNvSpPr/>
            <p:nvPr/>
          </p:nvSpPr>
          <p:spPr>
            <a:xfrm>
              <a:off x="2007402" y="2538703"/>
              <a:ext cx="1087282" cy="242888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糖尿病现状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8" name="Text 6">
              <a:extLst>
                <a:ext uri="{FF2B5EF4-FFF2-40B4-BE49-F238E27FC236}">
                  <a16:creationId xmlns:a16="http://schemas.microsoft.com/office/drawing/2014/main" id="{13954F34-D7D8-FBE8-2160-BCEB32343965}"/>
                </a:ext>
              </a:extLst>
            </p:cNvPr>
            <p:cNvSpPr/>
            <p:nvPr/>
          </p:nvSpPr>
          <p:spPr>
            <a:xfrm>
              <a:off x="1621639" y="2867316"/>
              <a:ext cx="4579144" cy="457200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3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FE93AA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1.4亿</a:t>
              </a: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 </a:t>
              </a: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E0E0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患者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  <p:sp>
          <p:nvSpPr>
            <p:cNvPr id="19" name="Text 7">
              <a:extLst>
                <a:ext uri="{FF2B5EF4-FFF2-40B4-BE49-F238E27FC236}">
                  <a16:creationId xmlns:a16="http://schemas.microsoft.com/office/drawing/2014/main" id="{00EEB8E1-C0F0-2ABD-02AD-2BA59E9D158B}"/>
                </a:ext>
              </a:extLst>
            </p:cNvPr>
            <p:cNvSpPr/>
            <p:nvPr/>
          </p:nvSpPr>
          <p:spPr>
            <a:xfrm>
              <a:off x="1621639" y="3379880"/>
              <a:ext cx="4579144" cy="1643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2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Helvetica Neue" pitchFamily="34" charset="-120"/>
                </a:rPr>
                <a:t>我国糖尿病患者数量庞大，血糖管理需求巨大且迫切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微软雅黑"/>
                <a:cs typeface="+mn-cs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2018E2D-BF7F-AA80-AC12-DA6AF53C51AC}"/>
              </a:ext>
            </a:extLst>
          </p:cNvPr>
          <p:cNvGrpSpPr/>
          <p:nvPr/>
        </p:nvGrpSpPr>
        <p:grpSpPr>
          <a:xfrm>
            <a:off x="8627055" y="2378198"/>
            <a:ext cx="3337463" cy="1038010"/>
            <a:chOff x="8235996" y="2026556"/>
            <a:chExt cx="3337463" cy="1038010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26A2DEE-4093-9932-DD65-383432A6358F}"/>
                </a:ext>
              </a:extLst>
            </p:cNvPr>
            <p:cNvGrpSpPr/>
            <p:nvPr/>
          </p:nvGrpSpPr>
          <p:grpSpPr>
            <a:xfrm>
              <a:off x="8235996" y="2026556"/>
              <a:ext cx="3337463" cy="1038010"/>
              <a:chOff x="8383778" y="2129449"/>
              <a:chExt cx="3337463" cy="1038010"/>
            </a:xfrm>
          </p:grpSpPr>
          <p:sp>
            <p:nvSpPr>
              <p:cNvPr id="20" name="Shape 18">
                <a:extLst>
                  <a:ext uri="{FF2B5EF4-FFF2-40B4-BE49-F238E27FC236}">
                    <a16:creationId xmlns:a16="http://schemas.microsoft.com/office/drawing/2014/main" id="{086EC741-7D1B-ED80-E905-C920FFD28666}"/>
                  </a:ext>
                </a:extLst>
              </p:cNvPr>
              <p:cNvSpPr/>
              <p:nvPr/>
            </p:nvSpPr>
            <p:spPr>
              <a:xfrm>
                <a:off x="8383779" y="2129449"/>
                <a:ext cx="257175" cy="257175"/>
              </a:xfrm>
              <a:prstGeom prst="rect">
                <a:avLst/>
              </a:prstGeom>
              <a:solidFill>
                <a:srgbClr val="FFFFFF">
                  <a:alpha val="10000"/>
                </a:srgbClr>
              </a:solid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endParaRPr>
              </a:p>
            </p:txBody>
          </p:sp>
          <p:sp>
            <p:nvSpPr>
              <p:cNvPr id="22" name="Text 19">
                <a:extLst>
                  <a:ext uri="{FF2B5EF4-FFF2-40B4-BE49-F238E27FC236}">
                    <a16:creationId xmlns:a16="http://schemas.microsoft.com/office/drawing/2014/main" id="{9CEA3B76-4796-D32B-B8ED-F184C7A177A6}"/>
                  </a:ext>
                </a:extLst>
              </p:cNvPr>
              <p:cNvSpPr/>
              <p:nvPr/>
            </p:nvSpPr>
            <p:spPr>
              <a:xfrm>
                <a:off x="8726679" y="2168739"/>
                <a:ext cx="1150144" cy="156707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智能客服趋势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3" name="Text 20">
                <a:extLst>
                  <a:ext uri="{FF2B5EF4-FFF2-40B4-BE49-F238E27FC236}">
                    <a16:creationId xmlns:a16="http://schemas.microsoft.com/office/drawing/2014/main" id="{2E2942AA-51C0-3700-1633-19078A4A8239}"/>
                  </a:ext>
                </a:extLst>
              </p:cNvPr>
              <p:cNvSpPr/>
              <p:nvPr/>
            </p:nvSpPr>
            <p:spPr>
              <a:xfrm>
                <a:off x="8383778" y="2478211"/>
                <a:ext cx="2986087" cy="250031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45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9C97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Helvetica Neue" pitchFamily="34" charset="-120"/>
                  </a:rPr>
                  <a:t>AI Agent</a:t>
                </a: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279C97"/>
                  </a:solidFill>
                  <a:effectLst/>
                  <a:uLnTx/>
                  <a:uFillTx/>
                  <a:latin typeface="Calibri" panose="020F0502020204030204"/>
                  <a:ea typeface="微软雅黑"/>
                  <a:cs typeface="+mn-cs"/>
                </a:endParaRPr>
              </a:p>
            </p:txBody>
          </p:sp>
          <p:sp>
            <p:nvSpPr>
              <p:cNvPr id="26" name="Text 21">
                <a:extLst>
                  <a:ext uri="{FF2B5EF4-FFF2-40B4-BE49-F238E27FC236}">
                    <a16:creationId xmlns:a16="http://schemas.microsoft.com/office/drawing/2014/main" id="{DD2FDCA6-0464-8613-3B9E-4FC29E5D969E}"/>
                  </a:ext>
                </a:extLst>
              </p:cNvPr>
              <p:cNvSpPr/>
              <p:nvPr/>
            </p:nvSpPr>
            <p:spPr>
              <a:xfrm>
                <a:off x="8383778" y="2989239"/>
                <a:ext cx="3337463" cy="178220"/>
              </a:xfrm>
              <a:prstGeom prst="rect">
                <a:avLst/>
              </a:prstGeom>
              <a:ln/>
            </p:spPr>
            <p:txBody>
              <a:bodyPr wrap="square" lIns="0" tIns="0" rIns="0" bIns="0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ts val="126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“</a:t>
                </a: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Multi Agent</a:t>
                </a:r>
                <a:r>
                  <a:rPr kumimoji="0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Helvetica Neue" pitchFamily="34" charset="-122"/>
                    <a:cs typeface="+mn-cs"/>
                  </a:rPr>
                  <a:t>”不是炫技，⽽是场景驱动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Helvetica Neue" pitchFamily="34" charset="-122"/>
                  <a:cs typeface="+mn-cs"/>
                </a:endParaRPr>
              </a:p>
            </p:txBody>
          </p:sp>
        </p:grpSp>
        <p:pic>
          <p:nvPicPr>
            <p:cNvPr id="29" name="Image 4" descr="preencoded.png">
              <a:extLst>
                <a:ext uri="{FF2B5EF4-FFF2-40B4-BE49-F238E27FC236}">
                  <a16:creationId xmlns:a16="http://schemas.microsoft.com/office/drawing/2014/main" id="{6C870602-C27C-F541-1703-F6C64D997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81515" y="2093965"/>
              <a:ext cx="164306" cy="128588"/>
            </a:xfrm>
            <a:prstGeom prst="rect">
              <a:avLst/>
            </a:prstGeom>
          </p:spPr>
        </p:pic>
      </p:grpSp>
      <p:sp>
        <p:nvSpPr>
          <p:cNvPr id="38" name="Shape 9">
            <a:extLst>
              <a:ext uri="{FF2B5EF4-FFF2-40B4-BE49-F238E27FC236}">
                <a16:creationId xmlns:a16="http://schemas.microsoft.com/office/drawing/2014/main" id="{0FCDEE03-D144-52C3-DB4D-1374BFD9D994}"/>
              </a:ext>
            </a:extLst>
          </p:cNvPr>
          <p:cNvSpPr/>
          <p:nvPr/>
        </p:nvSpPr>
        <p:spPr>
          <a:xfrm>
            <a:off x="4820840" y="1156748"/>
            <a:ext cx="285750" cy="285750"/>
          </a:xfrm>
          <a:prstGeom prst="rect">
            <a:avLst/>
          </a:prstGeom>
          <a:solidFill>
            <a:srgbClr val="FFC700">
              <a:alpha val="15000"/>
            </a:srgbClr>
          </a:solidFill>
          <a:ln>
            <a:solidFill>
              <a:schemeClr val="bg1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AFFDCE03-EE14-72DC-7AB0-36B82A5B6303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4892278" y="1228185"/>
            <a:ext cx="142875" cy="142875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C4780A18-43A7-3E5D-CE1C-59425E7D43AD}"/>
              </a:ext>
            </a:extLst>
          </p:cNvPr>
          <p:cNvSpPr/>
          <p:nvPr/>
        </p:nvSpPr>
        <p:spPr>
          <a:xfrm>
            <a:off x="5206603" y="1199610"/>
            <a:ext cx="812879" cy="1921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Helvetica Neue" pitchFamily="34" charset="-120"/>
              </a:rPr>
              <a:t>现有问题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/>
              <a:cs typeface="+mn-cs"/>
            </a:endParaRPr>
          </a:p>
        </p:txBody>
      </p:sp>
      <p:sp>
        <p:nvSpPr>
          <p:cNvPr id="41" name="Shape 11">
            <a:extLst>
              <a:ext uri="{FF2B5EF4-FFF2-40B4-BE49-F238E27FC236}">
                <a16:creationId xmlns:a16="http://schemas.microsoft.com/office/drawing/2014/main" id="{01FEEDB8-A26D-5883-ED13-8BD12772953D}"/>
              </a:ext>
            </a:extLst>
          </p:cNvPr>
          <p:cNvSpPr/>
          <p:nvPr/>
        </p:nvSpPr>
        <p:spPr>
          <a:xfrm>
            <a:off x="6019482" y="1060767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FBEA09A7-2DAC-A105-EA7D-7A1CD3631D62}"/>
              </a:ext>
            </a:extLst>
          </p:cNvPr>
          <p:cNvSpPr/>
          <p:nvPr/>
        </p:nvSpPr>
        <p:spPr>
          <a:xfrm>
            <a:off x="6148070" y="1007188"/>
            <a:ext cx="2298920" cy="11485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专家资源稀缺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AE903104-C8BB-5093-37F9-5E13BA1B1437}"/>
              </a:ext>
            </a:extLst>
          </p:cNvPr>
          <p:cNvSpPr/>
          <p:nvPr/>
        </p:nvSpPr>
        <p:spPr>
          <a:xfrm>
            <a:off x="6019482" y="1282223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C631562F-2073-8236-FA6E-840258DAEDAA}"/>
              </a:ext>
            </a:extLst>
          </p:cNvPr>
          <p:cNvSpPr/>
          <p:nvPr/>
        </p:nvSpPr>
        <p:spPr>
          <a:xfrm>
            <a:off x="6148070" y="1228645"/>
            <a:ext cx="2571057" cy="23501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传统模式无法 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7×24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实时响应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  <p:sp>
        <p:nvSpPr>
          <p:cNvPr id="45" name="Shape 15">
            <a:extLst>
              <a:ext uri="{FF2B5EF4-FFF2-40B4-BE49-F238E27FC236}">
                <a16:creationId xmlns:a16="http://schemas.microsoft.com/office/drawing/2014/main" id="{92A8B4B5-FFF2-A6D4-0D4A-2C83116F9A4C}"/>
              </a:ext>
            </a:extLst>
          </p:cNvPr>
          <p:cNvSpPr/>
          <p:nvPr/>
        </p:nvSpPr>
        <p:spPr>
          <a:xfrm>
            <a:off x="6019482" y="1503679"/>
            <a:ext cx="42863" cy="42863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8B04DF6B-5069-1E9D-EA1F-A28DB1AE32A5}"/>
              </a:ext>
            </a:extLst>
          </p:cNvPr>
          <p:cNvSpPr/>
          <p:nvPr/>
        </p:nvSpPr>
        <p:spPr>
          <a:xfrm>
            <a:off x="6148070" y="1450101"/>
            <a:ext cx="1887566" cy="15001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126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Helvetica Neue" pitchFamily="34" charset="-122"/>
                <a:cs typeface="+mn-cs"/>
              </a:rPr>
              <a:t>两次门诊之间管理不连续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Helvetica Neue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项目框架图</a:t>
              </a: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1E89BC8F-A1AF-69AB-ED26-1CE1756A0490}"/>
              </a:ext>
            </a:extLst>
          </p:cNvPr>
          <p:cNvSpPr txBox="1"/>
          <p:nvPr/>
        </p:nvSpPr>
        <p:spPr>
          <a:xfrm>
            <a:off x="4783906" y="1777239"/>
            <a:ext cx="890980" cy="25945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 tools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1998B81-31D9-D17E-BECF-789305240E03}"/>
              </a:ext>
            </a:extLst>
          </p:cNvPr>
          <p:cNvSpPr/>
          <p:nvPr/>
        </p:nvSpPr>
        <p:spPr>
          <a:xfrm>
            <a:off x="5833639" y="1313583"/>
            <a:ext cx="1903609" cy="1154032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0132962-2F58-6DC3-FACC-0D502E6DDE53}"/>
              </a:ext>
            </a:extLst>
          </p:cNvPr>
          <p:cNvSpPr/>
          <p:nvPr/>
        </p:nvSpPr>
        <p:spPr>
          <a:xfrm>
            <a:off x="5151470" y="3097518"/>
            <a:ext cx="4407242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36305480-9E14-B3CE-AD7F-DA46305137FB}"/>
              </a:ext>
            </a:extLst>
          </p:cNvPr>
          <p:cNvSpPr txBox="1"/>
          <p:nvPr/>
        </p:nvSpPr>
        <p:spPr>
          <a:xfrm>
            <a:off x="5291512" y="3258544"/>
            <a:ext cx="1508445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Ledger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append-only JSONL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69D9D8A-412F-5CD6-C883-C1E7A34189D4}"/>
              </a:ext>
            </a:extLst>
          </p:cNvPr>
          <p:cNvSpPr txBox="1"/>
          <p:nvPr/>
        </p:nvSpPr>
        <p:spPr>
          <a:xfrm>
            <a:off x="9801597" y="5675688"/>
            <a:ext cx="2426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项目整体框架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BCF089F3-2E9D-8EEF-1E04-25A94CAD68B6}"/>
              </a:ext>
            </a:extLst>
          </p:cNvPr>
          <p:cNvSpPr/>
          <p:nvPr/>
        </p:nvSpPr>
        <p:spPr>
          <a:xfrm>
            <a:off x="6231672" y="2887146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Daemon · single writer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AD98AC8-7683-88E5-2E79-2B017E7678D1}"/>
              </a:ext>
            </a:extLst>
          </p:cNvPr>
          <p:cNvSpPr txBox="1"/>
          <p:nvPr/>
        </p:nvSpPr>
        <p:spPr>
          <a:xfrm>
            <a:off x="6940000" y="3272960"/>
            <a:ext cx="822864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Manager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140094-5876-A7FF-4CFE-B5B497062843}"/>
              </a:ext>
            </a:extLst>
          </p:cNvPr>
          <p:cNvSpPr txBox="1"/>
          <p:nvPr/>
        </p:nvSpPr>
        <p:spPr>
          <a:xfrm>
            <a:off x="7892680" y="3272960"/>
            <a:ext cx="1534226" cy="400110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Automation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Rules · Nudge · Cron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65707AE-6FB9-F240-E34A-EDCE3623DB2C}"/>
              </a:ext>
            </a:extLst>
          </p:cNvPr>
          <p:cNvSpPr/>
          <p:nvPr/>
        </p:nvSpPr>
        <p:spPr>
          <a:xfrm>
            <a:off x="6252567" y="542915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IM Bridges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F0CF03C-EB09-F514-D167-DD4DEC9A9499}"/>
              </a:ext>
            </a:extLst>
          </p:cNvPr>
          <p:cNvSpPr/>
          <p:nvPr/>
        </p:nvSpPr>
        <p:spPr>
          <a:xfrm>
            <a:off x="5444527" y="5651916"/>
            <a:ext cx="3650242" cy="909875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2426A062-5E83-E1F9-4F28-DD19DA2C34DE}"/>
              </a:ext>
            </a:extLst>
          </p:cNvPr>
          <p:cNvSpPr txBox="1"/>
          <p:nvPr/>
        </p:nvSpPr>
        <p:spPr>
          <a:xfrm>
            <a:off x="6779491" y="5789724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Slack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03552F60-BC4D-C96D-A8E4-A4A4D6139728}"/>
              </a:ext>
            </a:extLst>
          </p:cNvPr>
          <p:cNvCxnSpPr>
            <a:cxnSpLocks/>
          </p:cNvCxnSpPr>
          <p:nvPr/>
        </p:nvCxnSpPr>
        <p:spPr>
          <a:xfrm>
            <a:off x="7175825" y="2479692"/>
            <a:ext cx="0" cy="38779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1EED6256-0354-F6DF-7DF1-B65302C7EBCC}"/>
              </a:ext>
            </a:extLst>
          </p:cNvPr>
          <p:cNvSpPr/>
          <p:nvPr/>
        </p:nvSpPr>
        <p:spPr>
          <a:xfrm>
            <a:off x="6238676" y="4204050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Control Plane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D72F979-7B81-5FA4-D3CA-F111C30C7DA9}"/>
              </a:ext>
            </a:extLst>
          </p:cNvPr>
          <p:cNvSpPr/>
          <p:nvPr/>
        </p:nvSpPr>
        <p:spPr>
          <a:xfrm>
            <a:off x="5705516" y="1206084"/>
            <a:ext cx="2800230" cy="1401768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3377A80-56B5-378B-13CF-7A3D5125BA0F}"/>
              </a:ext>
            </a:extLst>
          </p:cNvPr>
          <p:cNvSpPr/>
          <p:nvPr/>
        </p:nvSpPr>
        <p:spPr>
          <a:xfrm>
            <a:off x="6096000" y="988345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Actor</a:t>
            </a: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8AD5716-8807-9172-516E-2F19BFFC7212}"/>
              </a:ext>
            </a:extLst>
          </p:cNvPr>
          <p:cNvSpPr txBox="1"/>
          <p:nvPr/>
        </p:nvSpPr>
        <p:spPr>
          <a:xfrm>
            <a:off x="5927266" y="148392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主治医生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024FB784-663B-9A49-C6B5-92303386CB9F}"/>
              </a:ext>
            </a:extLst>
          </p:cNvPr>
          <p:cNvSpPr txBox="1"/>
          <p:nvPr/>
        </p:nvSpPr>
        <p:spPr>
          <a:xfrm>
            <a:off x="5911800" y="2130405"/>
            <a:ext cx="711224" cy="23505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药剂师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634B9B4-B06A-BB87-119C-D849F93D4544}"/>
              </a:ext>
            </a:extLst>
          </p:cNvPr>
          <p:cNvSpPr txBox="1"/>
          <p:nvPr/>
        </p:nvSpPr>
        <p:spPr>
          <a:xfrm>
            <a:off x="7991696" y="1303859"/>
            <a:ext cx="411883" cy="833551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记忆管理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C4DE8FE-EE27-FFF3-F65E-65A82EC0F158}"/>
              </a:ext>
            </a:extLst>
          </p:cNvPr>
          <p:cNvSpPr txBox="1"/>
          <p:nvPr/>
        </p:nvSpPr>
        <p:spPr>
          <a:xfrm>
            <a:off x="5927266" y="1811628"/>
            <a:ext cx="676091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营养师</a:t>
            </a:r>
          </a:p>
        </p:txBody>
      </p:sp>
      <p:sp>
        <p:nvSpPr>
          <p:cNvPr id="98" name="右大括号 97">
            <a:extLst>
              <a:ext uri="{FF2B5EF4-FFF2-40B4-BE49-F238E27FC236}">
                <a16:creationId xmlns:a16="http://schemas.microsoft.com/office/drawing/2014/main" id="{40E58138-3214-0C4E-3D22-57C6DA0890AE}"/>
              </a:ext>
            </a:extLst>
          </p:cNvPr>
          <p:cNvSpPr/>
          <p:nvPr/>
        </p:nvSpPr>
        <p:spPr>
          <a:xfrm>
            <a:off x="7735279" y="1421804"/>
            <a:ext cx="267469" cy="925799"/>
          </a:xfrm>
          <a:prstGeom prst="rightBrace">
            <a:avLst>
              <a:gd name="adj1" fmla="val 0"/>
              <a:gd name="adj2" fmla="val 50000"/>
            </a:avLst>
          </a:prstGeom>
          <a:noFill/>
          <a:ln w="6350" cap="flat" cmpd="sng" algn="ctr">
            <a:solidFill>
              <a:srgbClr val="AFABAB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01921A49-9A50-E357-24CD-51F8C652442F}"/>
              </a:ext>
            </a:extLst>
          </p:cNvPr>
          <p:cNvSpPr txBox="1"/>
          <p:nvPr/>
        </p:nvSpPr>
        <p:spPr>
          <a:xfrm>
            <a:off x="6707020" y="1811628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代谢病医生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C4B9BDAF-F915-6711-CD2D-5DFA5F4E2523}"/>
              </a:ext>
            </a:extLst>
          </p:cNvPr>
          <p:cNvSpPr txBox="1"/>
          <p:nvPr/>
        </p:nvSpPr>
        <p:spPr>
          <a:xfrm>
            <a:off x="6810647" y="1485954"/>
            <a:ext cx="82710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科普老师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E5DBD4B-2AFC-369E-A0C0-07F076102534}"/>
              </a:ext>
            </a:extLst>
          </p:cNvPr>
          <p:cNvSpPr/>
          <p:nvPr/>
        </p:nvSpPr>
        <p:spPr>
          <a:xfrm>
            <a:off x="9819844" y="1246952"/>
            <a:ext cx="1846735" cy="2730372"/>
          </a:xfrm>
          <a:prstGeom prst="rect">
            <a:avLst/>
          </a:prstGeom>
          <a:noFill/>
          <a:ln w="28575" cap="flat" cmpd="sng" algn="ctr">
            <a:solidFill>
              <a:srgbClr val="238A87"/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D3D13E5E-64AE-478B-CFE0-539FFC7C5A30}"/>
              </a:ext>
            </a:extLst>
          </p:cNvPr>
          <p:cNvCxnSpPr>
            <a:cxnSpLocks/>
          </p:cNvCxnSpPr>
          <p:nvPr/>
        </p:nvCxnSpPr>
        <p:spPr>
          <a:xfrm>
            <a:off x="7189716" y="3862100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19821EDC-FD55-EA9A-0213-244AF369C72D}"/>
              </a:ext>
            </a:extLst>
          </p:cNvPr>
          <p:cNvSpPr/>
          <p:nvPr/>
        </p:nvSpPr>
        <p:spPr>
          <a:xfrm>
            <a:off x="5151470" y="4419752"/>
            <a:ext cx="4407242" cy="675817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90EB66B8-A800-FAA3-C926-627FBC319ACD}"/>
              </a:ext>
            </a:extLst>
          </p:cNvPr>
          <p:cNvSpPr txBox="1"/>
          <p:nvPr/>
        </p:nvSpPr>
        <p:spPr>
          <a:xfrm>
            <a:off x="5291512" y="4580778"/>
            <a:ext cx="1508445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Web UI:8848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CE655959-6FED-82A1-DF57-D980400872F1}"/>
              </a:ext>
            </a:extLst>
          </p:cNvPr>
          <p:cNvSpPr txBox="1"/>
          <p:nvPr/>
        </p:nvSpPr>
        <p:spPr>
          <a:xfrm>
            <a:off x="6940000" y="4595194"/>
            <a:ext cx="822864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CLI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CF09E1FD-0C76-A546-6675-3AA10C202F18}"/>
              </a:ext>
            </a:extLst>
          </p:cNvPr>
          <p:cNvSpPr txBox="1"/>
          <p:nvPr/>
        </p:nvSpPr>
        <p:spPr>
          <a:xfrm>
            <a:off x="7892680" y="4595194"/>
            <a:ext cx="1534226" cy="40011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MCP(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stdio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)</a:t>
            </a: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48724D41-3A3E-DFBB-F86F-A6B7DBC74DAE}"/>
              </a:ext>
            </a:extLst>
          </p:cNvPr>
          <p:cNvCxnSpPr>
            <a:cxnSpLocks/>
          </p:cNvCxnSpPr>
          <p:nvPr/>
        </p:nvCxnSpPr>
        <p:spPr>
          <a:xfrm>
            <a:off x="5099267" y="2352821"/>
            <a:ext cx="606249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2DEAAEBD-B8A2-C31E-356A-9446563872F0}"/>
              </a:ext>
            </a:extLst>
          </p:cNvPr>
          <p:cNvSpPr/>
          <p:nvPr/>
        </p:nvSpPr>
        <p:spPr>
          <a:xfrm>
            <a:off x="2849958" y="1839469"/>
            <a:ext cx="1874298" cy="242475"/>
          </a:xfrm>
          <a:prstGeom prst="rect">
            <a:avLst/>
          </a:prstGeom>
          <a:solidFill>
            <a:srgbClr val="AFABA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Agent Runtimes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E29E31A8-40E8-11D6-359B-B6C60BDB04A4}"/>
              </a:ext>
            </a:extLst>
          </p:cNvPr>
          <p:cNvSpPr/>
          <p:nvPr/>
        </p:nvSpPr>
        <p:spPr>
          <a:xfrm>
            <a:off x="2324918" y="2053816"/>
            <a:ext cx="2749173" cy="715422"/>
          </a:xfrm>
          <a:prstGeom prst="rect">
            <a:avLst/>
          </a:prstGeom>
          <a:noFill/>
          <a:ln w="28575" cap="flat" cmpd="sng" algn="ctr">
            <a:solidFill>
              <a:srgbClr val="E7E6E6">
                <a:lumMod val="75000"/>
              </a:srgbClr>
            </a:soli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76969CB-BE6A-296A-7141-1BC913FFC289}"/>
              </a:ext>
            </a:extLst>
          </p:cNvPr>
          <p:cNvSpPr txBox="1"/>
          <p:nvPr/>
        </p:nvSpPr>
        <p:spPr>
          <a:xfrm>
            <a:off x="2446915" y="2156178"/>
            <a:ext cx="1099351" cy="24968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Claude Code</a:t>
            </a: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F8FCBBF7-54F7-D249-4FC2-F437E2306A0F}"/>
              </a:ext>
            </a:extLst>
          </p:cNvPr>
          <p:cNvSpPr txBox="1"/>
          <p:nvPr/>
        </p:nvSpPr>
        <p:spPr>
          <a:xfrm>
            <a:off x="3630381" y="2163389"/>
            <a:ext cx="1287256" cy="233776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Codex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F93E9057-FD5C-8CC3-4EE6-9E2FC228E143}"/>
              </a:ext>
            </a:extLst>
          </p:cNvPr>
          <p:cNvSpPr txBox="1"/>
          <p:nvPr/>
        </p:nvSpPr>
        <p:spPr>
          <a:xfrm>
            <a:off x="2446915" y="2475682"/>
            <a:ext cx="893611" cy="2424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Gemini CLI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9D501C6-276E-F66E-C270-CCFAD6B0C717}"/>
              </a:ext>
            </a:extLst>
          </p:cNvPr>
          <p:cNvSpPr txBox="1"/>
          <p:nvPr/>
        </p:nvSpPr>
        <p:spPr>
          <a:xfrm>
            <a:off x="3430653" y="2473034"/>
            <a:ext cx="1486984" cy="233775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+ 5 more + custom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CBCD34B-665C-B3F8-571D-CC670125D6A3}"/>
              </a:ext>
            </a:extLst>
          </p:cNvPr>
          <p:cNvSpPr/>
          <p:nvPr/>
        </p:nvSpPr>
        <p:spPr>
          <a:xfrm>
            <a:off x="9811948" y="1024630"/>
            <a:ext cx="1874298" cy="242475"/>
          </a:xfrm>
          <a:prstGeom prst="rect">
            <a:avLst/>
          </a:prstGeom>
          <a:solidFill>
            <a:srgbClr val="238A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三层记忆管理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B28550C8-5238-C4B7-1C8D-E13D06947BE6}"/>
              </a:ext>
            </a:extLst>
          </p:cNvPr>
          <p:cNvCxnSpPr>
            <a:cxnSpLocks/>
          </p:cNvCxnSpPr>
          <p:nvPr/>
        </p:nvCxnSpPr>
        <p:spPr>
          <a:xfrm flipH="1">
            <a:off x="8381807" y="1720634"/>
            <a:ext cx="1633050" cy="0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162C694A-E954-9266-9F9E-A7A79701DA2A}"/>
              </a:ext>
            </a:extLst>
          </p:cNvPr>
          <p:cNvSpPr txBox="1"/>
          <p:nvPr/>
        </p:nvSpPr>
        <p:spPr>
          <a:xfrm>
            <a:off x="6707020" y="2127965"/>
            <a:ext cx="950099" cy="237498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心理咨询师</a:t>
            </a: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F773707-8E63-4A45-BD65-D771CCFBA939}"/>
              </a:ext>
            </a:extLst>
          </p:cNvPr>
          <p:cNvSpPr txBox="1"/>
          <p:nvPr/>
        </p:nvSpPr>
        <p:spPr>
          <a:xfrm>
            <a:off x="5674886" y="5785487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Telegram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F18E668-210A-5745-8379-D17F159EF219}"/>
              </a:ext>
            </a:extLst>
          </p:cNvPr>
          <p:cNvSpPr txBox="1"/>
          <p:nvPr/>
        </p:nvSpPr>
        <p:spPr>
          <a:xfrm>
            <a:off x="7884096" y="5797220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Discord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83C29AD7-622C-B8AE-3A5E-1912D755F890}"/>
              </a:ext>
            </a:extLst>
          </p:cNvPr>
          <p:cNvSpPr txBox="1"/>
          <p:nvPr/>
        </p:nvSpPr>
        <p:spPr>
          <a:xfrm>
            <a:off x="5686194" y="6155522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Feishu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DA7F230-0618-978B-63F7-8ADFA76B202F}"/>
              </a:ext>
            </a:extLst>
          </p:cNvPr>
          <p:cNvSpPr txBox="1"/>
          <p:nvPr/>
        </p:nvSpPr>
        <p:spPr>
          <a:xfrm>
            <a:off x="6779491" y="6157336"/>
            <a:ext cx="983836" cy="259960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DingTalk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C0C4ADF0-7D86-88CA-EE28-CF70D6ECC9D6}"/>
              </a:ext>
            </a:extLst>
          </p:cNvPr>
          <p:cNvCxnSpPr>
            <a:cxnSpLocks/>
          </p:cNvCxnSpPr>
          <p:nvPr/>
        </p:nvCxnSpPr>
        <p:spPr>
          <a:xfrm>
            <a:off x="7165392" y="5125342"/>
            <a:ext cx="0" cy="299999"/>
          </a:xfrm>
          <a:prstGeom prst="straightConnector1">
            <a:avLst/>
          </a:prstGeom>
          <a:noFill/>
          <a:ln w="22225" cap="flat" cmpd="sng" algn="ctr">
            <a:solidFill>
              <a:srgbClr val="AFABAB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129" name="矩形 128">
            <a:extLst>
              <a:ext uri="{FF2B5EF4-FFF2-40B4-BE49-F238E27FC236}">
                <a16:creationId xmlns:a16="http://schemas.microsoft.com/office/drawing/2014/main" id="{0F1FF495-0DA7-DD2F-6A58-8A323F75D2E2}"/>
              </a:ext>
            </a:extLst>
          </p:cNvPr>
          <p:cNvSpPr/>
          <p:nvPr/>
        </p:nvSpPr>
        <p:spPr>
          <a:xfrm>
            <a:off x="9948515" y="1379220"/>
            <a:ext cx="1616364" cy="2438853"/>
          </a:xfrm>
          <a:prstGeom prst="rect">
            <a:avLst/>
          </a:prstGeom>
          <a:solidFill>
            <a:srgbClr val="D5E8D4">
              <a:alpha val="36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7A9A3ADA-244E-249D-3DFB-93448F2F9368}"/>
              </a:ext>
            </a:extLst>
          </p:cNvPr>
          <p:cNvSpPr txBox="1"/>
          <p:nvPr/>
        </p:nvSpPr>
        <p:spPr>
          <a:xfrm>
            <a:off x="10123752" y="1523536"/>
            <a:ext cx="1305536" cy="510843"/>
          </a:xfrm>
          <a:prstGeom prst="rect">
            <a:avLst/>
          </a:prstGeom>
          <a:solidFill>
            <a:srgbClr val="238A87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碎片化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1621FE4B-5AB3-B9DA-8193-98B8A776F1D7}"/>
              </a:ext>
            </a:extLst>
          </p:cNvPr>
          <p:cNvSpPr txBox="1"/>
          <p:nvPr/>
        </p:nvSpPr>
        <p:spPr>
          <a:xfrm>
            <a:off x="10134149" y="2290154"/>
            <a:ext cx="1295140" cy="512537"/>
          </a:xfrm>
          <a:prstGeom prst="rect">
            <a:avLst/>
          </a:prstGeom>
          <a:solidFill>
            <a:srgbClr val="186A85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中等活力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已整合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F6D2E660-5B2D-5EE5-7CEB-44B7E4A5EAE7}"/>
              </a:ext>
            </a:extLst>
          </p:cNvPr>
          <p:cNvSpPr txBox="1"/>
          <p:nvPr/>
        </p:nvSpPr>
        <p:spPr>
          <a:xfrm>
            <a:off x="10134148" y="3097517"/>
            <a:ext cx="1295140" cy="490005"/>
          </a:xfrm>
          <a:prstGeom prst="rect">
            <a:avLst/>
          </a:prstGeom>
          <a:solidFill>
            <a:srgbClr val="0E4B7A"/>
          </a:soli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长期记忆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高活力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·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永久锁定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35DF963-DE1C-E001-AC60-CBCC27485EF2}"/>
              </a:ext>
            </a:extLst>
          </p:cNvPr>
          <p:cNvGrpSpPr/>
          <p:nvPr/>
        </p:nvGrpSpPr>
        <p:grpSpPr>
          <a:xfrm rot="5400000">
            <a:off x="765143" y="2820124"/>
            <a:ext cx="335714" cy="738576"/>
            <a:chOff x="334611" y="1353173"/>
            <a:chExt cx="653622" cy="1437977"/>
          </a:xfrm>
        </p:grpSpPr>
        <p:sp>
          <p:nvSpPr>
            <p:cNvPr id="134" name="Arrow: Chevron 30">
              <a:extLst>
                <a:ext uri="{FF2B5EF4-FFF2-40B4-BE49-F238E27FC236}">
                  <a16:creationId xmlns:a16="http://schemas.microsoft.com/office/drawing/2014/main" id="{AE504542-570C-0908-3CEE-37CCDEA5720E}"/>
                </a:ext>
              </a:extLst>
            </p:cNvPr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5" name="Arrow: Chevron 31">
              <a:extLst>
                <a:ext uri="{FF2B5EF4-FFF2-40B4-BE49-F238E27FC236}">
                  <a16:creationId xmlns:a16="http://schemas.microsoft.com/office/drawing/2014/main" id="{DF256C95-DBCA-4EAA-36D6-F0BB450A1EF9}"/>
                </a:ext>
              </a:extLst>
            </p:cNvPr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6" name="Arrow: Chevron 32">
              <a:extLst>
                <a:ext uri="{FF2B5EF4-FFF2-40B4-BE49-F238E27FC236}">
                  <a16:creationId xmlns:a16="http://schemas.microsoft.com/office/drawing/2014/main" id="{92E32C8A-5D85-DEB5-3BFE-DFFC54E57DDB}"/>
                </a:ext>
              </a:extLst>
            </p:cNvPr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137" name="Arrow: Chevron 33">
              <a:extLst>
                <a:ext uri="{FF2B5EF4-FFF2-40B4-BE49-F238E27FC236}">
                  <a16:creationId xmlns:a16="http://schemas.microsoft.com/office/drawing/2014/main" id="{EF14E828-84B1-82D9-B68D-8B88696C224F}"/>
                </a:ext>
              </a:extLst>
            </p:cNvPr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140" name="文本框 139">
            <a:extLst>
              <a:ext uri="{FF2B5EF4-FFF2-40B4-BE49-F238E27FC236}">
                <a16:creationId xmlns:a16="http://schemas.microsoft.com/office/drawing/2014/main" id="{BA78FC38-8207-ED3C-F1A8-161B14C48419}"/>
              </a:ext>
            </a:extLst>
          </p:cNvPr>
          <p:cNvSpPr txBox="1"/>
          <p:nvPr/>
        </p:nvSpPr>
        <p:spPr>
          <a:xfrm>
            <a:off x="1349466" y="3015015"/>
            <a:ext cx="8073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Architecture Layers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C38DD2C0-4605-9A85-C568-9CBCDFB0F0DF}"/>
              </a:ext>
            </a:extLst>
          </p:cNvPr>
          <p:cNvGrpSpPr/>
          <p:nvPr/>
        </p:nvGrpSpPr>
        <p:grpSpPr>
          <a:xfrm>
            <a:off x="212883" y="3581948"/>
            <a:ext cx="4639747" cy="3001060"/>
            <a:chOff x="99802" y="3388227"/>
            <a:chExt cx="4639747" cy="3104140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089515AA-3043-A05D-61A5-ED228C00EC16}"/>
                </a:ext>
              </a:extLst>
            </p:cNvPr>
            <p:cNvSpPr/>
            <p:nvPr/>
          </p:nvSpPr>
          <p:spPr>
            <a:xfrm>
              <a:off x="441247" y="3388227"/>
              <a:ext cx="4094833" cy="3104140"/>
            </a:xfrm>
            <a:prstGeom prst="rect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A73187B8-9DD8-7AB6-3BB3-3E1A47E6D4D9}"/>
                </a:ext>
              </a:extLst>
            </p:cNvPr>
            <p:cNvCxnSpPr/>
            <p:nvPr/>
          </p:nvCxnSpPr>
          <p:spPr>
            <a:xfrm>
              <a:off x="450631" y="405012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A2FB6854-EA37-8640-13D6-457A6B4D07F0}"/>
                </a:ext>
              </a:extLst>
            </p:cNvPr>
            <p:cNvSpPr txBox="1"/>
            <p:nvPr/>
          </p:nvSpPr>
          <p:spPr>
            <a:xfrm>
              <a:off x="525706" y="3419286"/>
              <a:ext cx="4003841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Ports (Entry)                        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Web UI (React)  │  CLI  │  IM Bridge  │  MCP Server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946CB01A-BA66-9A36-99E7-6451B382DFA1}"/>
                </a:ext>
              </a:extLst>
            </p:cNvPr>
            <p:cNvSpPr txBox="1"/>
            <p:nvPr/>
          </p:nvSpPr>
          <p:spPr>
            <a:xfrm>
              <a:off x="99802" y="4172073"/>
              <a:ext cx="4639747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Daemon (</a:t>
              </a:r>
              <a:r>
                <a:rPr kumimoji="0" lang="en-US" altLang="zh-CN" sz="12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ccccd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)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IPC Server  │  Delivery  │  Automation  │  Runners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cxnSp>
          <p:nvCxnSpPr>
            <p:cNvPr id="155" name="直接连接符 154">
              <a:extLst>
                <a:ext uri="{FF2B5EF4-FFF2-40B4-BE49-F238E27FC236}">
                  <a16:creationId xmlns:a16="http://schemas.microsoft.com/office/drawing/2014/main" id="{277A8E23-FDF1-3E44-C01F-E5A81B696CFC}"/>
                </a:ext>
              </a:extLst>
            </p:cNvPr>
            <p:cNvCxnSpPr/>
            <p:nvPr/>
          </p:nvCxnSpPr>
          <p:spPr>
            <a:xfrm>
              <a:off x="441247" y="488609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0A302755-AC33-03CB-D1FD-8C3EA5F7D9CD}"/>
                </a:ext>
              </a:extLst>
            </p:cNvPr>
            <p:cNvCxnSpPr/>
            <p:nvPr/>
          </p:nvCxnSpPr>
          <p:spPr>
            <a:xfrm>
              <a:off x="441246" y="5701533"/>
              <a:ext cx="406599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id="{0F7FF950-F7D1-F269-3E91-E679C55832B4}"/>
                </a:ext>
              </a:extLst>
            </p:cNvPr>
            <p:cNvSpPr txBox="1"/>
            <p:nvPr/>
          </p:nvSpPr>
          <p:spPr>
            <a:xfrm>
              <a:off x="470087" y="4977764"/>
              <a:ext cx="4118912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Kernel  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               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Group  │  Actor  │  Ledger  │  Inbox  │  Permissions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5F9E5CD9-A93C-4BFA-48EE-628E591E0514}"/>
                </a:ext>
              </a:extLst>
            </p:cNvPr>
            <p:cNvSpPr txBox="1"/>
            <p:nvPr/>
          </p:nvSpPr>
          <p:spPr>
            <a:xfrm>
              <a:off x="268052" y="5831513"/>
              <a:ext cx="4065994" cy="6136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      Contracts (v1)                        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  Event  │  Message  │  Actor  │  IPC 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152C4A97-A155-1F7B-8124-15604A73F931}"/>
              </a:ext>
            </a:extLst>
          </p:cNvPr>
          <p:cNvSpPr txBox="1"/>
          <p:nvPr/>
        </p:nvSpPr>
        <p:spPr>
          <a:xfrm>
            <a:off x="4499177" y="400848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68" name="图片 167">
            <a:extLst>
              <a:ext uri="{FF2B5EF4-FFF2-40B4-BE49-F238E27FC236}">
                <a16:creationId xmlns:a16="http://schemas.microsoft.com/office/drawing/2014/main" id="{37F51E29-59BD-054A-7A67-0D74BF612A4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rgbClr val="5E759C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>
            <a:off x="9785880" y="4495923"/>
            <a:ext cx="2077283" cy="2074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:a16="http://schemas.microsoft.com/office/drawing/2014/main" id="{EE16C19B-3C14-FCFF-F844-79002166BCCD}"/>
              </a:ext>
            </a:extLst>
          </p:cNvPr>
          <p:cNvGrpSpPr/>
          <p:nvPr/>
        </p:nvGrpSpPr>
        <p:grpSpPr>
          <a:xfrm flipH="1">
            <a:off x="8532843" y="1866513"/>
            <a:ext cx="319766" cy="1223647"/>
            <a:chOff x="2474685" y="2249714"/>
            <a:chExt cx="720000" cy="2755220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56A21957-FA1B-A7CF-9925-F9F63E9D7C8A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1F129F8E-FC2D-1ADC-FB82-8795D4DDD4F1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64E07ED7-8F97-80D3-D0A4-4BD356BB9AAF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3369477A-2B39-BE6D-FDC7-4984F1C2042C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5FC789B6-5B39-BA93-4599-292F9C872B62}"/>
              </a:ext>
            </a:extLst>
          </p:cNvPr>
          <p:cNvSpPr/>
          <p:nvPr/>
        </p:nvSpPr>
        <p:spPr>
          <a:xfrm>
            <a:off x="7838884" y="2191804"/>
            <a:ext cx="2420578" cy="1075315"/>
          </a:xfrm>
          <a:prstGeom prst="roundRect">
            <a:avLst/>
          </a:prstGeom>
          <a:solidFill>
            <a:srgbClr val="FF8F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CB4553EA-9ACF-C275-F0B0-A19DB8FAD41E}"/>
              </a:ext>
            </a:extLst>
          </p:cNvPr>
          <p:cNvSpPr/>
          <p:nvPr/>
        </p:nvSpPr>
        <p:spPr>
          <a:xfrm>
            <a:off x="7788456" y="909770"/>
            <a:ext cx="2398137" cy="876520"/>
          </a:xfrm>
          <a:prstGeom prst="roundRect">
            <a:avLst/>
          </a:prstGeom>
          <a:solidFill>
            <a:srgbClr val="29A29A"/>
          </a:solidFill>
          <a:ln w="3175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02815B1-75AE-893F-2DCE-B0D4441F5391}"/>
              </a:ext>
            </a:extLst>
          </p:cNvPr>
          <p:cNvSpPr/>
          <p:nvPr/>
        </p:nvSpPr>
        <p:spPr>
          <a:xfrm>
            <a:off x="6416192" y="973677"/>
            <a:ext cx="1089580" cy="2309748"/>
          </a:xfrm>
          <a:prstGeom prst="roundRect">
            <a:avLst/>
          </a:prstGeom>
          <a:solidFill>
            <a:srgbClr val="A270AC"/>
          </a:solidFill>
          <a:ln w="317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3B3934B1-7A16-2F07-741E-1D6117007305}"/>
              </a:ext>
            </a:extLst>
          </p:cNvPr>
          <p:cNvSpPr/>
          <p:nvPr/>
        </p:nvSpPr>
        <p:spPr>
          <a:xfrm>
            <a:off x="6298536" y="430104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BDC6D0-622D-0758-43E3-71ED027FCA74}"/>
              </a:ext>
            </a:extLst>
          </p:cNvPr>
          <p:cNvSpPr txBox="1"/>
          <p:nvPr/>
        </p:nvSpPr>
        <p:spPr>
          <a:xfrm>
            <a:off x="288963" y="5489056"/>
            <a:ext cx="6096000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Foreman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唯一：确保治疗决策有明确最终责任人。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可质疑组长：体现多学科协作中的制衡机制，提高决策质量。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辅助决策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只能管理自己：避免权限混乱，保障系统安全。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D6F1FE-8100-FBAC-B4B6-AFDC520D413A}"/>
              </a:ext>
            </a:extLst>
          </p:cNvPr>
          <p:cNvSpPr txBox="1"/>
          <p:nvPr/>
        </p:nvSpPr>
        <p:spPr>
          <a:xfrm>
            <a:off x="1229305" y="5033127"/>
            <a:ext cx="302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权限与职权解释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5B9083B-F284-5EFC-5119-B6511EE2895F}"/>
              </a:ext>
            </a:extLst>
          </p:cNvPr>
          <p:cNvGraphicFramePr>
            <a:graphicFrameLocks noGrp="1"/>
          </p:cNvGraphicFramePr>
          <p:nvPr/>
        </p:nvGraphicFramePr>
        <p:xfrm>
          <a:off x="399979" y="1156043"/>
          <a:ext cx="5634870" cy="3678879"/>
        </p:xfrm>
        <a:graphic>
          <a:graphicData uri="http://schemas.openxmlformats.org/drawingml/2006/table">
            <a:tbl>
              <a:tblPr/>
              <a:tblGrid>
                <a:gridCol w="1067052">
                  <a:extLst>
                    <a:ext uri="{9D8B030D-6E8A-4147-A177-3AD203B41FA5}">
                      <a16:colId xmlns:a16="http://schemas.microsoft.com/office/drawing/2014/main" val="3506160742"/>
                    </a:ext>
                  </a:extLst>
                </a:gridCol>
                <a:gridCol w="840446">
                  <a:extLst>
                    <a:ext uri="{9D8B030D-6E8A-4147-A177-3AD203B41FA5}">
                      <a16:colId xmlns:a16="http://schemas.microsoft.com/office/drawing/2014/main" val="2205201762"/>
                    </a:ext>
                  </a:extLst>
                </a:gridCol>
                <a:gridCol w="3727372">
                  <a:extLst>
                    <a:ext uri="{9D8B030D-6E8A-4147-A177-3AD203B41FA5}">
                      <a16:colId xmlns:a16="http://schemas.microsoft.com/office/drawing/2014/main" val="3975172907"/>
                    </a:ext>
                  </a:extLst>
                </a:gridCol>
              </a:tblGrid>
              <a:tr h="321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</a:t>
                      </a: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角色定位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权限与职责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A2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597021"/>
                  </a:ext>
                </a:extLst>
              </a:tr>
              <a:tr h="5023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主治医生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effectLst/>
                        </a:rPr>
                        <a:t>Foreman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全局负责人，可添加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启动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停止任何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Actor，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接收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idle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和 </a:t>
                      </a:r>
                      <a:r>
                        <a:rPr lang="en-US" sz="1050" dirty="0">
                          <a:solidFill>
                            <a:schemeClr val="bg1"/>
                          </a:solidFill>
                          <a:effectLst/>
                        </a:rPr>
                        <a:t>quiet-review 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通知，可对任何任务做出最终决策。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84549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药剂师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负责用药方案，可质疑主治医生的处方，但只能管理与自己相关的任务（如药物审核）。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876072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营养师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制定饮食计划，可对代谢相关问题提出建议，但无权修改其他领域的方案。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5165439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代谢病医生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辅助决策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专注于胰岛素抵抗、血糖波动等代谢异常，可挑战主治医生的代谢相关决策。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00285"/>
                  </a:ext>
                </a:extLst>
              </a:tr>
              <a:tr h="48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科普老师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生成患者教育内容，可被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要求制作科普材料，但不能干预临床治疗。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14175"/>
                  </a:ext>
                </a:extLst>
              </a:tr>
              <a:tr h="500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心理咨询师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拓展角色</a:t>
                      </a:r>
                      <a:endParaRPr lang="en-US" altLang="zh-CN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关注患者心理状态，可发起心理干预或转诊建议，但不能修改药物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/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饮食方案。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462952"/>
                  </a:ext>
                </a:extLst>
              </a:tr>
              <a:tr h="458553"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记忆管理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4161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记忆模块</a:t>
                      </a:r>
                    </a:p>
                  </a:txBody>
                  <a:tcPr marL="58882" marR="58882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所有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Agent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记忆的储存及管理</a:t>
                      </a:r>
                    </a:p>
                  </a:txBody>
                  <a:tcPr marL="58882" marR="44161" marT="36801" marB="36801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D4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892302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118FD61E-01B6-3A6A-DECC-774754666066}"/>
              </a:ext>
            </a:extLst>
          </p:cNvPr>
          <p:cNvGrpSpPr/>
          <p:nvPr/>
        </p:nvGrpSpPr>
        <p:grpSpPr>
          <a:xfrm>
            <a:off x="485775" y="374650"/>
            <a:ext cx="2886075" cy="551815"/>
            <a:chOff x="449" y="450"/>
            <a:chExt cx="4545" cy="86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CDA878A-BD34-B6D5-93F7-EA74F500C660}"/>
                </a:ext>
              </a:extLst>
            </p:cNvPr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01EBFE56-D95C-2CA1-ECC5-6C76144BCAE7}"/>
                  </a:ext>
                </a:extLst>
              </p:cNvPr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E4063412-A82E-FAD4-ADC4-70EDF8063204}"/>
                  </a:ext>
                </a:extLst>
              </p:cNvPr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446749F8-7417-40E1-4FCB-583D1E278D25}"/>
                  </a:ext>
                </a:extLst>
              </p:cNvPr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EE1BC200-A832-53BF-38F3-62F6D30D3FCF}"/>
                  </a:ext>
                </a:extLst>
              </p:cNvPr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D905CF9-524D-029B-6BAD-BB6F9A45E0F5}"/>
                </a:ext>
              </a:extLst>
            </p:cNvPr>
            <p:cNvSpPr txBox="1"/>
            <p:nvPr/>
          </p:nvSpPr>
          <p:spPr>
            <a:xfrm>
              <a:off x="1477" y="576"/>
              <a:ext cx="3517" cy="6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Agent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角色架构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8EA7A97-4E40-ADA8-DDEA-F0C700D7DDEA}"/>
              </a:ext>
            </a:extLst>
          </p:cNvPr>
          <p:cNvGrpSpPr/>
          <p:nvPr/>
        </p:nvGrpSpPr>
        <p:grpSpPr>
          <a:xfrm rot="5400000">
            <a:off x="601410" y="4863070"/>
            <a:ext cx="335714" cy="738576"/>
            <a:chOff x="334611" y="1353173"/>
            <a:chExt cx="653622" cy="1437977"/>
          </a:xfrm>
        </p:grpSpPr>
        <p:sp>
          <p:nvSpPr>
            <p:cNvPr id="17" name="Arrow: Chevron 30">
              <a:extLst>
                <a:ext uri="{FF2B5EF4-FFF2-40B4-BE49-F238E27FC236}">
                  <a16:creationId xmlns:a16="http://schemas.microsoft.com/office/drawing/2014/main" id="{44EA0564-9481-E8BE-F486-55D7D4C65215}"/>
                </a:ext>
              </a:extLst>
            </p:cNvPr>
            <p:cNvSpPr/>
            <p:nvPr/>
          </p:nvSpPr>
          <p:spPr>
            <a:xfrm rot="16200000">
              <a:off x="478706" y="120907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8" name="Arrow: Chevron 31">
              <a:extLst>
                <a:ext uri="{FF2B5EF4-FFF2-40B4-BE49-F238E27FC236}">
                  <a16:creationId xmlns:a16="http://schemas.microsoft.com/office/drawing/2014/main" id="{42225C9A-58DE-5FE9-0F0A-52ECD8FD2DCD}"/>
                </a:ext>
              </a:extLst>
            </p:cNvPr>
            <p:cNvSpPr/>
            <p:nvPr/>
          </p:nvSpPr>
          <p:spPr>
            <a:xfrm rot="16200000">
              <a:off x="478706" y="1548988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9" name="Arrow: Chevron 32">
              <a:extLst>
                <a:ext uri="{FF2B5EF4-FFF2-40B4-BE49-F238E27FC236}">
                  <a16:creationId xmlns:a16="http://schemas.microsoft.com/office/drawing/2014/main" id="{1F8D3763-F8DE-4143-F6B3-E4B5270215A9}"/>
                </a:ext>
              </a:extLst>
            </p:cNvPr>
            <p:cNvSpPr/>
            <p:nvPr/>
          </p:nvSpPr>
          <p:spPr>
            <a:xfrm rot="16200000">
              <a:off x="478706" y="1914419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0" name="Arrow: Chevron 33">
              <a:extLst>
                <a:ext uri="{FF2B5EF4-FFF2-40B4-BE49-F238E27FC236}">
                  <a16:creationId xmlns:a16="http://schemas.microsoft.com/office/drawing/2014/main" id="{27563CD0-3711-83A0-7FAF-861054FC2166}"/>
                </a:ext>
              </a:extLst>
            </p:cNvPr>
            <p:cNvSpPr/>
            <p:nvPr/>
          </p:nvSpPr>
          <p:spPr>
            <a:xfrm rot="16200000">
              <a:off x="478706" y="2281624"/>
              <a:ext cx="365431" cy="653622"/>
            </a:xfrm>
            <a:prstGeom prst="chevron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DC64FF5F-AC83-CD55-3B2F-562437B382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138" y="1331731"/>
            <a:ext cx="671519" cy="671519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A4217D92-7126-6D91-6E95-A3E2875CFAA3}"/>
              </a:ext>
            </a:extLst>
          </p:cNvPr>
          <p:cNvSpPr/>
          <p:nvPr/>
        </p:nvSpPr>
        <p:spPr>
          <a:xfrm>
            <a:off x="10485247" y="1136174"/>
            <a:ext cx="1124347" cy="2143271"/>
          </a:xfrm>
          <a:prstGeom prst="rect">
            <a:avLst/>
          </a:prstGeom>
          <a:solidFill>
            <a:srgbClr val="D5E8D4">
              <a:alpha val="68000"/>
            </a:srgbClr>
          </a:solidFill>
          <a:ln w="34925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64A6E6F-6B53-83AB-D478-FF95E82EDD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644" y="1769398"/>
            <a:ext cx="925183" cy="925183"/>
          </a:xfrm>
          <a:prstGeom prst="rect">
            <a:avLst/>
          </a:prstGeom>
        </p:spPr>
      </p:pic>
      <p:grpSp>
        <p:nvGrpSpPr>
          <p:cNvPr id="42" name="组合 41">
            <a:extLst>
              <a:ext uri="{FF2B5EF4-FFF2-40B4-BE49-F238E27FC236}">
                <a16:creationId xmlns:a16="http://schemas.microsoft.com/office/drawing/2014/main" id="{DA7B4603-4B73-1DA3-4E18-477F4033D074}"/>
              </a:ext>
            </a:extLst>
          </p:cNvPr>
          <p:cNvGrpSpPr/>
          <p:nvPr/>
        </p:nvGrpSpPr>
        <p:grpSpPr>
          <a:xfrm>
            <a:off x="7248042" y="1133240"/>
            <a:ext cx="1241043" cy="1241043"/>
            <a:chOff x="5169988" y="2277563"/>
            <a:chExt cx="1800000" cy="1800000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68304FFB-BA37-9423-2FCC-8AF1B3D899D2}"/>
                </a:ext>
              </a:extLst>
            </p:cNvPr>
            <p:cNvSpPr/>
            <p:nvPr/>
          </p:nvSpPr>
          <p:spPr>
            <a:xfrm>
              <a:off x="5169988" y="2277563"/>
              <a:ext cx="1800000" cy="1800000"/>
            </a:xfrm>
            <a:prstGeom prst="ellipse">
              <a:avLst/>
            </a:prstGeom>
            <a:noFill/>
            <a:ln w="31750" cap="flat" cmpd="sng" algn="ctr">
              <a:solidFill>
                <a:srgbClr val="80508A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4" name="等腰三角形 43">
              <a:extLst>
                <a:ext uri="{FF2B5EF4-FFF2-40B4-BE49-F238E27FC236}">
                  <a16:creationId xmlns:a16="http://schemas.microsoft.com/office/drawing/2014/main" id="{DD3A788C-887A-BB35-D6D0-A3F4E3B11B6D}"/>
                </a:ext>
              </a:extLst>
            </p:cNvPr>
            <p:cNvSpPr/>
            <p:nvPr/>
          </p:nvSpPr>
          <p:spPr>
            <a:xfrm flipV="1">
              <a:off x="5449888" y="3100388"/>
              <a:ext cx="1219200" cy="514350"/>
            </a:xfrm>
            <a:prstGeom prst="triangle">
              <a:avLst>
                <a:gd name="adj" fmla="val 64063"/>
              </a:avLst>
            </a:prstGeom>
            <a:noFill/>
            <a:ln w="12700" cap="flat" cmpd="sng" algn="ctr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DBF8B9B-2440-9951-578A-BA6AE15294AC}"/>
                </a:ext>
              </a:extLst>
            </p:cNvPr>
            <p:cNvSpPr/>
            <p:nvPr/>
          </p:nvSpPr>
          <p:spPr>
            <a:xfrm>
              <a:off x="6629400" y="3067050"/>
              <a:ext cx="108000" cy="108000"/>
            </a:xfrm>
            <a:prstGeom prst="ellipse">
              <a:avLst/>
            </a:prstGeom>
            <a:solidFill>
              <a:srgbClr val="FF84A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46205C2-5499-3FAF-9C77-AF922148D327}"/>
                </a:ext>
              </a:extLst>
            </p:cNvPr>
            <p:cNvSpPr/>
            <p:nvPr/>
          </p:nvSpPr>
          <p:spPr>
            <a:xfrm>
              <a:off x="6172200" y="35623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2FDFAFB-0E27-90E6-4C8B-DD45B36AEBAD}"/>
                </a:ext>
              </a:extLst>
            </p:cNvPr>
            <p:cNvSpPr/>
            <p:nvPr/>
          </p:nvSpPr>
          <p:spPr>
            <a:xfrm>
              <a:off x="5410200" y="3067050"/>
              <a:ext cx="108000" cy="108000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EDAF06D6-FEE5-0636-E60B-637186F9635E}"/>
              </a:ext>
            </a:extLst>
          </p:cNvPr>
          <p:cNvSpPr/>
          <p:nvPr/>
        </p:nvSpPr>
        <p:spPr>
          <a:xfrm>
            <a:off x="10097306" y="2771413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1D644D2D-EC5D-21BC-AC1F-307BA69D3D74}"/>
              </a:ext>
            </a:extLst>
          </p:cNvPr>
          <p:cNvSpPr/>
          <p:nvPr/>
        </p:nvSpPr>
        <p:spPr>
          <a:xfrm>
            <a:off x="9890463" y="1666840"/>
            <a:ext cx="895927" cy="0"/>
          </a:xfrm>
          <a:custGeom>
            <a:avLst/>
            <a:gdLst>
              <a:gd name="connsiteX0" fmla="*/ 0 w 895927"/>
              <a:gd name="connsiteY0" fmla="*/ 0 h 0"/>
              <a:gd name="connsiteX1" fmla="*/ 895927 w 89592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5927">
                <a:moveTo>
                  <a:pt x="0" y="0"/>
                </a:moveTo>
                <a:lnTo>
                  <a:pt x="895927" y="0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E511D17-0091-26DC-FC96-1922C94FF7DA}"/>
              </a:ext>
            </a:extLst>
          </p:cNvPr>
          <p:cNvGrpSpPr/>
          <p:nvPr/>
        </p:nvGrpSpPr>
        <p:grpSpPr>
          <a:xfrm flipH="1">
            <a:off x="6320651" y="2553285"/>
            <a:ext cx="319766" cy="1223647"/>
            <a:chOff x="2474685" y="2249714"/>
            <a:chExt cx="720000" cy="2755220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FD6ED44-E431-B89E-F500-1173B523F677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CD277B4C-6169-B6F4-B873-08D6F215846D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EB2AF9C-3DD2-7B29-444F-325C8E2E9A0F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19019AB6-4E79-5F7D-25F5-457FB98FA15D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B57E800D-E532-129F-1DFA-3D4699F6B4C1}"/>
              </a:ext>
            </a:extLst>
          </p:cNvPr>
          <p:cNvGrpSpPr/>
          <p:nvPr/>
        </p:nvGrpSpPr>
        <p:grpSpPr>
          <a:xfrm flipH="1">
            <a:off x="7456091" y="2935622"/>
            <a:ext cx="290401" cy="1009601"/>
            <a:chOff x="2474685" y="2249714"/>
            <a:chExt cx="720000" cy="2755220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612FCDD-79D0-F9DD-2F0D-978A6479C47C}"/>
                </a:ext>
              </a:extLst>
            </p:cNvPr>
            <p:cNvSpPr/>
            <p:nvPr/>
          </p:nvSpPr>
          <p:spPr>
            <a:xfrm>
              <a:off x="2474685" y="2501220"/>
              <a:ext cx="720000" cy="2503714"/>
            </a:xfrm>
            <a:prstGeom prst="rect">
              <a:avLst/>
            </a:prstGeom>
            <a:gradFill flip="none" rotWithShape="1">
              <a:gsLst>
                <a:gs pos="95455">
                  <a:srgbClr val="000000"/>
                </a:gs>
                <a:gs pos="74000">
                  <a:srgbClr val="6D2EA6"/>
                </a:gs>
                <a:gs pos="2000">
                  <a:srgbClr val="DE84A8"/>
                </a:gs>
                <a:gs pos="57000">
                  <a:srgbClr val="7A4D83"/>
                </a:gs>
                <a:gs pos="19000">
                  <a:srgbClr val="FF8FAC"/>
                </a:gs>
                <a:gs pos="38000">
                  <a:srgbClr val="A270AC"/>
                </a:gs>
              </a:gsLst>
              <a:lin ang="54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C4DB8992-8B4D-CC9C-9B74-273C7D20F1C5}"/>
                </a:ext>
              </a:extLst>
            </p:cNvPr>
            <p:cNvSpPr/>
            <p:nvPr/>
          </p:nvSpPr>
          <p:spPr>
            <a:xfrm>
              <a:off x="2474685" y="2249714"/>
              <a:ext cx="720000" cy="478972"/>
            </a:xfrm>
            <a:prstGeom prst="ellipse">
              <a:avLst/>
            </a:prstGeom>
            <a:solidFill>
              <a:srgbClr val="09BB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82FF8C00-88F0-D17F-44EB-8D28DCC9E9A3}"/>
                </a:ext>
              </a:extLst>
            </p:cNvPr>
            <p:cNvSpPr/>
            <p:nvPr/>
          </p:nvSpPr>
          <p:spPr>
            <a:xfrm>
              <a:off x="2546685" y="2309200"/>
              <a:ext cx="576000" cy="360000"/>
            </a:xfrm>
            <a:prstGeom prst="ellipse">
              <a:avLst/>
            </a:prstGeom>
            <a:solidFill>
              <a:srgbClr val="6D2EA6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A37F7BA3-1668-B3E5-F9A9-89B48A0B611A}"/>
                </a:ext>
              </a:extLst>
            </p:cNvPr>
            <p:cNvSpPr/>
            <p:nvPr/>
          </p:nvSpPr>
          <p:spPr>
            <a:xfrm>
              <a:off x="2618685" y="2345200"/>
              <a:ext cx="432000" cy="288000"/>
            </a:xfrm>
            <a:prstGeom prst="ellipse">
              <a:avLst/>
            </a:prstGeom>
            <a:solidFill>
              <a:srgbClr val="FF8FAC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950796B-F2B9-DC45-35BC-DF42A5AC791B}"/>
              </a:ext>
            </a:extLst>
          </p:cNvPr>
          <p:cNvSpPr/>
          <p:nvPr/>
        </p:nvSpPr>
        <p:spPr>
          <a:xfrm>
            <a:off x="7431042" y="4291805"/>
            <a:ext cx="863213" cy="219995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05A6ED1F-6437-4ACB-933A-CA2B61180756}"/>
              </a:ext>
            </a:extLst>
          </p:cNvPr>
          <p:cNvSpPr/>
          <p:nvPr/>
        </p:nvSpPr>
        <p:spPr>
          <a:xfrm>
            <a:off x="9429886" y="4229770"/>
            <a:ext cx="2398735" cy="359341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85738CF-9AB5-278D-AB68-6466384E6B5C}"/>
              </a:ext>
            </a:extLst>
          </p:cNvPr>
          <p:cNvSpPr/>
          <p:nvPr/>
        </p:nvSpPr>
        <p:spPr>
          <a:xfrm>
            <a:off x="9435042" y="4666682"/>
            <a:ext cx="2498043" cy="241333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259C4B7E-2DFA-CB4A-9FA5-18A4AF1110AC}"/>
              </a:ext>
            </a:extLst>
          </p:cNvPr>
          <p:cNvSpPr/>
          <p:nvPr/>
        </p:nvSpPr>
        <p:spPr>
          <a:xfrm>
            <a:off x="9437179" y="5019559"/>
            <a:ext cx="2471020" cy="224277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0" name="矩形: 圆角 89">
            <a:extLst>
              <a:ext uri="{FF2B5EF4-FFF2-40B4-BE49-F238E27FC236}">
                <a16:creationId xmlns:a16="http://schemas.microsoft.com/office/drawing/2014/main" id="{5BD93D99-EA6C-A07A-4088-ED9D8433E153}"/>
              </a:ext>
            </a:extLst>
          </p:cNvPr>
          <p:cNvSpPr/>
          <p:nvPr/>
        </p:nvSpPr>
        <p:spPr>
          <a:xfrm>
            <a:off x="7424327" y="4642139"/>
            <a:ext cx="1839209" cy="2362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842CCD75-4804-4A60-AFD1-4BA6ECA4EC7F}"/>
              </a:ext>
            </a:extLst>
          </p:cNvPr>
          <p:cNvSpPr/>
          <p:nvPr/>
        </p:nvSpPr>
        <p:spPr>
          <a:xfrm>
            <a:off x="7431043" y="4943543"/>
            <a:ext cx="1939094" cy="390883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9282458E-F7BA-BFFA-11E6-DC38B80C35ED}"/>
              </a:ext>
            </a:extLst>
          </p:cNvPr>
          <p:cNvSpPr/>
          <p:nvPr/>
        </p:nvSpPr>
        <p:spPr>
          <a:xfrm>
            <a:off x="7442768" y="5442830"/>
            <a:ext cx="933248" cy="237689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AA0FEC67-C2FE-9EAC-A954-4A6E5231ADE1}"/>
              </a:ext>
            </a:extLst>
          </p:cNvPr>
          <p:cNvSpPr/>
          <p:nvPr/>
        </p:nvSpPr>
        <p:spPr>
          <a:xfrm>
            <a:off x="7442767" y="5911917"/>
            <a:ext cx="1736067" cy="228098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42811C93-0E82-672D-B0E2-42BB080A56B2}"/>
              </a:ext>
            </a:extLst>
          </p:cNvPr>
          <p:cNvSpPr/>
          <p:nvPr/>
        </p:nvSpPr>
        <p:spPr>
          <a:xfrm>
            <a:off x="7433563" y="6324408"/>
            <a:ext cx="1392845" cy="264024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098C21A5-D5BB-BB74-A501-7DA9E8E98F92}"/>
              </a:ext>
            </a:extLst>
          </p:cNvPr>
          <p:cNvSpPr/>
          <p:nvPr/>
        </p:nvSpPr>
        <p:spPr>
          <a:xfrm>
            <a:off x="6293542" y="4657446"/>
            <a:ext cx="1024434" cy="220917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A3D14019-A009-226A-11B5-D8764E04D12A}"/>
              </a:ext>
            </a:extLst>
          </p:cNvPr>
          <p:cNvSpPr/>
          <p:nvPr/>
        </p:nvSpPr>
        <p:spPr>
          <a:xfrm>
            <a:off x="6302355" y="5021158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E46E8A31-F5B5-3040-3A0B-FD743C8B66F8}"/>
              </a:ext>
            </a:extLst>
          </p:cNvPr>
          <p:cNvSpPr/>
          <p:nvPr/>
        </p:nvSpPr>
        <p:spPr>
          <a:xfrm>
            <a:off x="6294062" y="5450412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D48E60E8-28C3-F1A0-5747-7403018F5FEF}"/>
              </a:ext>
            </a:extLst>
          </p:cNvPr>
          <p:cNvSpPr/>
          <p:nvPr/>
        </p:nvSpPr>
        <p:spPr>
          <a:xfrm>
            <a:off x="6294275" y="5884323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760061F0-F76C-2559-625B-E79DC84BF15F}"/>
              </a:ext>
            </a:extLst>
          </p:cNvPr>
          <p:cNvSpPr/>
          <p:nvPr/>
        </p:nvSpPr>
        <p:spPr>
          <a:xfrm>
            <a:off x="6293800" y="6349411"/>
            <a:ext cx="1024435" cy="212721"/>
          </a:xfrm>
          <a:prstGeom prst="roundRect">
            <a:avLst/>
          </a:prstGeom>
          <a:solidFill>
            <a:srgbClr val="29A29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BBA9DFF-620E-9FC3-F1D8-FDB60F477293}"/>
              </a:ext>
            </a:extLst>
          </p:cNvPr>
          <p:cNvSpPr/>
          <p:nvPr/>
        </p:nvSpPr>
        <p:spPr>
          <a:xfrm>
            <a:off x="9437047" y="5366089"/>
            <a:ext cx="2287071" cy="402389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30D576A5-BFE9-CB8C-8724-1826B9D93AED}"/>
              </a:ext>
            </a:extLst>
          </p:cNvPr>
          <p:cNvSpPr/>
          <p:nvPr/>
        </p:nvSpPr>
        <p:spPr>
          <a:xfrm>
            <a:off x="9437046" y="5814424"/>
            <a:ext cx="2287071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2" name="矩形: 圆角 101">
            <a:extLst>
              <a:ext uri="{FF2B5EF4-FFF2-40B4-BE49-F238E27FC236}">
                <a16:creationId xmlns:a16="http://schemas.microsoft.com/office/drawing/2014/main" id="{D1AD2D91-8A7B-1C6D-A77E-409C6E9E6168}"/>
              </a:ext>
            </a:extLst>
          </p:cNvPr>
          <p:cNvSpPr/>
          <p:nvPr/>
        </p:nvSpPr>
        <p:spPr>
          <a:xfrm>
            <a:off x="9435962" y="6261811"/>
            <a:ext cx="2458532" cy="382132"/>
          </a:xfrm>
          <a:prstGeom prst="roundRect">
            <a:avLst/>
          </a:prstGeom>
          <a:solidFill>
            <a:srgbClr val="D5E8D4">
              <a:alpha val="4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07" name="Straight Connector 36">
            <a:extLst>
              <a:ext uri="{FF2B5EF4-FFF2-40B4-BE49-F238E27FC236}">
                <a16:creationId xmlns:a16="http://schemas.microsoft.com/office/drawing/2014/main" id="{A2819A41-38CF-E604-AEAD-0C326E31A846}"/>
              </a:ext>
            </a:extLst>
          </p:cNvPr>
          <p:cNvCxnSpPr>
            <a:cxnSpLocks/>
          </p:cNvCxnSpPr>
          <p:nvPr/>
        </p:nvCxnSpPr>
        <p:spPr>
          <a:xfrm>
            <a:off x="6317533" y="3642187"/>
            <a:ext cx="4616970" cy="0"/>
          </a:xfrm>
          <a:prstGeom prst="line">
            <a:avLst/>
          </a:prstGeom>
          <a:ln w="63500">
            <a:solidFill>
              <a:srgbClr val="29A29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ounded Rectangle 1">
            <a:extLst>
              <a:ext uri="{FF2B5EF4-FFF2-40B4-BE49-F238E27FC236}">
                <a16:creationId xmlns:a16="http://schemas.microsoft.com/office/drawing/2014/main" id="{26B92188-D8DB-2425-77A6-459EA41BD360}"/>
              </a:ext>
            </a:extLst>
          </p:cNvPr>
          <p:cNvSpPr/>
          <p:nvPr/>
        </p:nvSpPr>
        <p:spPr>
          <a:xfrm>
            <a:off x="6302355" y="3820425"/>
            <a:ext cx="1051589" cy="321843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13" name="Rounded Rectangle 1">
            <a:extLst>
              <a:ext uri="{FF2B5EF4-FFF2-40B4-BE49-F238E27FC236}">
                <a16:creationId xmlns:a16="http://schemas.microsoft.com/office/drawing/2014/main" id="{62FB1182-BAD3-ADB6-D09B-63B9AD28AF88}"/>
              </a:ext>
            </a:extLst>
          </p:cNvPr>
          <p:cNvSpPr/>
          <p:nvPr/>
        </p:nvSpPr>
        <p:spPr>
          <a:xfrm>
            <a:off x="7431042" y="3816112"/>
            <a:ext cx="1848054" cy="321842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E2EF4768-DF81-EFF6-3681-FBBAEAA1E3BE}"/>
              </a:ext>
            </a:extLst>
          </p:cNvPr>
          <p:cNvGrpSpPr/>
          <p:nvPr/>
        </p:nvGrpSpPr>
        <p:grpSpPr>
          <a:xfrm rot="5400000">
            <a:off x="10166880" y="1936208"/>
            <a:ext cx="3047413" cy="900000"/>
            <a:chOff x="4244551" y="1792911"/>
            <a:chExt cx="3047413" cy="900000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67E9618D-AF21-1DC5-D2EB-FC11D1EFB37E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6BDED4F0-64AC-E3EA-5B72-0A6D3BE0EA8F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4" name="Rounded Rectangle 1">
            <a:extLst>
              <a:ext uri="{FF2B5EF4-FFF2-40B4-BE49-F238E27FC236}">
                <a16:creationId xmlns:a16="http://schemas.microsoft.com/office/drawing/2014/main" id="{8529AABD-CD9C-5947-3586-7BF4166908C4}"/>
              </a:ext>
            </a:extLst>
          </p:cNvPr>
          <p:cNvSpPr/>
          <p:nvPr/>
        </p:nvSpPr>
        <p:spPr>
          <a:xfrm>
            <a:off x="9422553" y="3807355"/>
            <a:ext cx="2498043" cy="302341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68A83469-5230-43DF-0C5B-50C6AB9B1415}"/>
              </a:ext>
            </a:extLst>
          </p:cNvPr>
          <p:cNvGrpSpPr/>
          <p:nvPr/>
        </p:nvGrpSpPr>
        <p:grpSpPr>
          <a:xfrm rot="5400000">
            <a:off x="9247657" y="725795"/>
            <a:ext cx="1227464" cy="362510"/>
            <a:chOff x="4244551" y="1792911"/>
            <a:chExt cx="3047413" cy="900000"/>
          </a:xfrm>
        </p:grpSpPr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22B5406C-0387-3CAA-032A-294B1DF881C6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D702C119-2DE3-4796-FD1B-7E6BF5DA341E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A6F66E9E-2F21-E971-2A7F-1D9A8BEC7BC1}"/>
              </a:ext>
            </a:extLst>
          </p:cNvPr>
          <p:cNvSpPr/>
          <p:nvPr/>
        </p:nvSpPr>
        <p:spPr>
          <a:xfrm>
            <a:off x="6907118" y="746749"/>
            <a:ext cx="4036291" cy="564912"/>
          </a:xfrm>
          <a:custGeom>
            <a:avLst/>
            <a:gdLst>
              <a:gd name="connsiteX0" fmla="*/ 0 w 4036291"/>
              <a:gd name="connsiteY0" fmla="*/ 609600 h 803564"/>
              <a:gd name="connsiteX1" fmla="*/ 0 w 4036291"/>
              <a:gd name="connsiteY1" fmla="*/ 0 h 803564"/>
              <a:gd name="connsiteX2" fmla="*/ 4036291 w 4036291"/>
              <a:gd name="connsiteY2" fmla="*/ 0 h 803564"/>
              <a:gd name="connsiteX3" fmla="*/ 4036291 w 4036291"/>
              <a:gd name="connsiteY3" fmla="*/ 803564 h 803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36291" h="803564">
                <a:moveTo>
                  <a:pt x="0" y="609600"/>
                </a:moveTo>
                <a:lnTo>
                  <a:pt x="0" y="0"/>
                </a:lnTo>
                <a:lnTo>
                  <a:pt x="4036291" y="0"/>
                </a:lnTo>
                <a:lnTo>
                  <a:pt x="4036291" y="803564"/>
                </a:lnTo>
              </a:path>
            </a:pathLst>
          </a:custGeom>
          <a:noFill/>
          <a:ln w="22225">
            <a:solidFill>
              <a:srgbClr val="975FA2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108B92EC-293E-F66D-42E2-7365ECCFC3F5}"/>
              </a:ext>
            </a:extLst>
          </p:cNvPr>
          <p:cNvGrpSpPr/>
          <p:nvPr/>
        </p:nvGrpSpPr>
        <p:grpSpPr>
          <a:xfrm rot="5400000">
            <a:off x="10222743" y="3191184"/>
            <a:ext cx="978412" cy="288957"/>
            <a:chOff x="4244551" y="1792911"/>
            <a:chExt cx="3047413" cy="900000"/>
          </a:xfrm>
        </p:grpSpPr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F3367BF9-C615-39AC-8E9B-CBA7DC9FA2B4}"/>
                </a:ext>
              </a:extLst>
            </p:cNvPr>
            <p:cNvSpPr/>
            <p:nvPr/>
          </p:nvSpPr>
          <p:spPr>
            <a:xfrm>
              <a:off x="5066120" y="2144750"/>
              <a:ext cx="2225844" cy="260392"/>
            </a:xfrm>
            <a:prstGeom prst="rect">
              <a:avLst/>
            </a:prstGeom>
            <a:gradFill>
              <a:gsLst>
                <a:gs pos="75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259695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1AE72B8C-88BF-CD57-F22B-21DFE81873F5}"/>
                </a:ext>
              </a:extLst>
            </p:cNvPr>
            <p:cNvSpPr/>
            <p:nvPr/>
          </p:nvSpPr>
          <p:spPr>
            <a:xfrm flipH="1">
              <a:off x="4244551" y="1792911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26" name="椭圆 125">
            <a:extLst>
              <a:ext uri="{FF2B5EF4-FFF2-40B4-BE49-F238E27FC236}">
                <a16:creationId xmlns:a16="http://schemas.microsoft.com/office/drawing/2014/main" id="{82B6FABB-781F-91D5-F017-39E276E672F9}"/>
              </a:ext>
            </a:extLst>
          </p:cNvPr>
          <p:cNvSpPr/>
          <p:nvPr/>
        </p:nvSpPr>
        <p:spPr>
          <a:xfrm>
            <a:off x="1185454" y="1660386"/>
            <a:ext cx="175974" cy="175974"/>
          </a:xfrm>
          <a:prstGeom prst="ellipse">
            <a:avLst/>
          </a:prstGeom>
          <a:solidFill>
            <a:srgbClr val="29A29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6127944-791F-32D2-68BE-B959B1E46150}"/>
              </a:ext>
            </a:extLst>
          </p:cNvPr>
          <p:cNvSpPr/>
          <p:nvPr/>
        </p:nvSpPr>
        <p:spPr>
          <a:xfrm>
            <a:off x="1185454" y="4561403"/>
            <a:ext cx="175974" cy="175974"/>
          </a:xfrm>
          <a:prstGeom prst="ellipse">
            <a:avLst/>
          </a:prstGeom>
          <a:solidFill>
            <a:srgbClr val="B1BBBA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9" name="椭圆 128">
            <a:extLst>
              <a:ext uri="{FF2B5EF4-FFF2-40B4-BE49-F238E27FC236}">
                <a16:creationId xmlns:a16="http://schemas.microsoft.com/office/drawing/2014/main" id="{1D4462AC-9F38-E5F0-D1A2-8E6D3D72A5D8}"/>
              </a:ext>
            </a:extLst>
          </p:cNvPr>
          <p:cNvSpPr/>
          <p:nvPr/>
        </p:nvSpPr>
        <p:spPr>
          <a:xfrm>
            <a:off x="1185454" y="214768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E7546379-E574-A9F7-E739-ACFAB32457DA}"/>
              </a:ext>
            </a:extLst>
          </p:cNvPr>
          <p:cNvSpPr txBox="1"/>
          <p:nvPr/>
        </p:nvSpPr>
        <p:spPr>
          <a:xfrm>
            <a:off x="8412573" y="2224185"/>
            <a:ext cx="873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辅助</a:t>
            </a: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E08BC229-E646-0C41-8B05-4217EFA7A38B}"/>
              </a:ext>
            </a:extLst>
          </p:cNvPr>
          <p:cNvSpPr txBox="1"/>
          <p:nvPr/>
        </p:nvSpPr>
        <p:spPr>
          <a:xfrm>
            <a:off x="8405764" y="968690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主要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决策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8F4EDCF6-8BDD-A955-FA77-CA1BC0C7FFA6}"/>
              </a:ext>
            </a:extLst>
          </p:cNvPr>
          <p:cNvSpPr txBox="1"/>
          <p:nvPr/>
        </p:nvSpPr>
        <p:spPr>
          <a:xfrm>
            <a:off x="11262083" y="1164355"/>
            <a:ext cx="87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记忆</a:t>
            </a:r>
            <a:r>
              <a:rPr kumimoji="0" lang="zh-CN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.PingFangUITextSC-Regular"/>
                <a:ea typeface="微软雅黑"/>
                <a:cs typeface="+mn-cs"/>
              </a:rPr>
              <a:t>管理</a:t>
            </a:r>
            <a:endParaRPr kumimoji="0" lang="zh-CN" altLang="en-US" sz="16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8F2E4A0-84C2-AFD7-8C3C-354258DC6826}"/>
              </a:ext>
            </a:extLst>
          </p:cNvPr>
          <p:cNvSpPr txBox="1"/>
          <p:nvPr/>
        </p:nvSpPr>
        <p:spPr>
          <a:xfrm>
            <a:off x="6528867" y="121618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sng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拓展⻆⾊</a:t>
            </a:r>
          </a:p>
        </p:txBody>
      </p:sp>
      <p:pic>
        <p:nvPicPr>
          <p:cNvPr id="136" name="图片 135">
            <a:extLst>
              <a:ext uri="{FF2B5EF4-FFF2-40B4-BE49-F238E27FC236}">
                <a16:creationId xmlns:a16="http://schemas.microsoft.com/office/drawing/2014/main" id="{6C1EE82E-E54D-3E76-C971-5CF7E0EDE0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731" y="1574942"/>
            <a:ext cx="642095" cy="642095"/>
          </a:xfrm>
          <a:prstGeom prst="rect">
            <a:avLst/>
          </a:prstGeom>
        </p:spPr>
      </p:pic>
      <p:pic>
        <p:nvPicPr>
          <p:cNvPr id="138" name="图片 137">
            <a:extLst>
              <a:ext uri="{FF2B5EF4-FFF2-40B4-BE49-F238E27FC236}">
                <a16:creationId xmlns:a16="http://schemas.microsoft.com/office/drawing/2014/main" id="{61C2FF9D-6F82-E245-8E47-0E61F37BB21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513" y="2384195"/>
            <a:ext cx="663999" cy="663999"/>
          </a:xfrm>
          <a:prstGeom prst="rect">
            <a:avLst/>
          </a:prstGeom>
        </p:spPr>
      </p:pic>
      <p:sp>
        <p:nvSpPr>
          <p:cNvPr id="139" name="椭圆 138">
            <a:extLst>
              <a:ext uri="{FF2B5EF4-FFF2-40B4-BE49-F238E27FC236}">
                <a16:creationId xmlns:a16="http://schemas.microsoft.com/office/drawing/2014/main" id="{595013B3-3224-810B-46D3-DF0FC05F18B7}"/>
              </a:ext>
            </a:extLst>
          </p:cNvPr>
          <p:cNvSpPr/>
          <p:nvPr/>
        </p:nvSpPr>
        <p:spPr>
          <a:xfrm>
            <a:off x="1185454" y="2639319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2666A7A4-C273-DDF5-95F7-B054560F3795}"/>
              </a:ext>
            </a:extLst>
          </p:cNvPr>
          <p:cNvSpPr/>
          <p:nvPr/>
        </p:nvSpPr>
        <p:spPr>
          <a:xfrm>
            <a:off x="1185454" y="3096533"/>
            <a:ext cx="175974" cy="175974"/>
          </a:xfrm>
          <a:prstGeom prst="ellipse">
            <a:avLst/>
          </a:prstGeom>
          <a:solidFill>
            <a:srgbClr val="FF8F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4FF72BC3-F2ED-280D-32E4-0F3B86CF1729}"/>
              </a:ext>
            </a:extLst>
          </p:cNvPr>
          <p:cNvSpPr/>
          <p:nvPr/>
        </p:nvSpPr>
        <p:spPr>
          <a:xfrm>
            <a:off x="1185454" y="357384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6AAFC584-558B-8844-DE2E-6BBE6D41AD5A}"/>
              </a:ext>
            </a:extLst>
          </p:cNvPr>
          <p:cNvSpPr/>
          <p:nvPr/>
        </p:nvSpPr>
        <p:spPr>
          <a:xfrm>
            <a:off x="1185454" y="4048660"/>
            <a:ext cx="175974" cy="175974"/>
          </a:xfrm>
          <a:prstGeom prst="ellipse">
            <a:avLst/>
          </a:prstGeom>
          <a:solidFill>
            <a:srgbClr val="A270AC"/>
          </a:solidFill>
          <a:ln w="12700" cap="flat" cmpd="sng" algn="ctr">
            <a:solidFill>
              <a:srgbClr val="3E3E3E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46" name="图片 145">
            <a:extLst>
              <a:ext uri="{FF2B5EF4-FFF2-40B4-BE49-F238E27FC236}">
                <a16:creationId xmlns:a16="http://schemas.microsoft.com/office/drawing/2014/main" id="{D8FD48D2-D813-0035-6C04-FC4190E62DE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469" y="2473731"/>
            <a:ext cx="564668" cy="535231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291DED67-1FB2-EB47-53EC-2055D016911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480" y="2487235"/>
            <a:ext cx="564668" cy="535231"/>
          </a:xfrm>
          <a:prstGeom prst="rect">
            <a:avLst/>
          </a:prstGeom>
        </p:spPr>
      </p:pic>
      <p:pic>
        <p:nvPicPr>
          <p:cNvPr id="148" name="图片 147">
            <a:extLst>
              <a:ext uri="{FF2B5EF4-FFF2-40B4-BE49-F238E27FC236}">
                <a16:creationId xmlns:a16="http://schemas.microsoft.com/office/drawing/2014/main" id="{AA0CA17C-F563-5633-E8AC-9669B7D5CE2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8491" y="2503798"/>
            <a:ext cx="564668" cy="535231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455EFAB4-844B-5FE2-CD0A-01249D360586}"/>
              </a:ext>
            </a:extLst>
          </p:cNvPr>
          <p:cNvSpPr txBox="1"/>
          <p:nvPr/>
        </p:nvSpPr>
        <p:spPr>
          <a:xfrm>
            <a:off x="6369397" y="3849553"/>
            <a:ext cx="8764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规则类型</a:t>
            </a: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01DCAEED-90B9-6F24-54BF-3DC5EDF07CE8}"/>
              </a:ext>
            </a:extLst>
          </p:cNvPr>
          <p:cNvSpPr txBox="1"/>
          <p:nvPr/>
        </p:nvSpPr>
        <p:spPr>
          <a:xfrm>
            <a:off x="7420986" y="3854648"/>
            <a:ext cx="1343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触发条件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4CE1A94E-980A-8976-3E21-96820C046D1A}"/>
              </a:ext>
            </a:extLst>
          </p:cNvPr>
          <p:cNvSpPr txBox="1"/>
          <p:nvPr/>
        </p:nvSpPr>
        <p:spPr>
          <a:xfrm>
            <a:off x="9447137" y="3850305"/>
            <a:ext cx="13003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执行动作</a:t>
            </a:r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E2787E56-6396-295F-DACA-FCE080730EEB}"/>
              </a:ext>
            </a:extLst>
          </p:cNvPr>
          <p:cNvGraphicFramePr>
            <a:graphicFrameLocks noGrp="1"/>
          </p:cNvGraphicFramePr>
          <p:nvPr/>
        </p:nvGraphicFramePr>
        <p:xfrm>
          <a:off x="6369397" y="3909912"/>
          <a:ext cx="5392182" cy="2773092"/>
        </p:xfrm>
        <a:graphic>
          <a:graphicData uri="http://schemas.openxmlformats.org/drawingml/2006/table">
            <a:tbl>
              <a:tblPr/>
              <a:tblGrid>
                <a:gridCol w="1014148">
                  <a:extLst>
                    <a:ext uri="{9D8B030D-6E8A-4147-A177-3AD203B41FA5}">
                      <a16:colId xmlns:a16="http://schemas.microsoft.com/office/drawing/2014/main" val="1982104941"/>
                    </a:ext>
                  </a:extLst>
                </a:gridCol>
                <a:gridCol w="2050473">
                  <a:extLst>
                    <a:ext uri="{9D8B030D-6E8A-4147-A177-3AD203B41FA5}">
                      <a16:colId xmlns:a16="http://schemas.microsoft.com/office/drawing/2014/main" val="211402304"/>
                    </a:ext>
                  </a:extLst>
                </a:gridCol>
                <a:gridCol w="2327561">
                  <a:extLst>
                    <a:ext uri="{9D8B030D-6E8A-4147-A177-3AD203B41FA5}">
                      <a16:colId xmlns:a16="http://schemas.microsoft.com/office/drawing/2014/main" val="458023603"/>
                    </a:ext>
                  </a:extLst>
                </a:gridCol>
              </a:tblGrid>
              <a:tr h="2149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501166"/>
                  </a:ext>
                </a:extLst>
              </a:tr>
              <a:tr h="337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每日摘要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每天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8:00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主治医生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昨日血糖数据汇总，请查收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41853"/>
                  </a:ext>
                </a:extLst>
              </a:tr>
              <a:tr h="242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药物审核催办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药剂师被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小时未回复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向主治医生发送升级提醒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85040"/>
                  </a:ext>
                </a:extLst>
              </a:tr>
              <a:tr h="235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饮食方案确认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营养师提交方案后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24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小时未获主治医生确认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主治医生 “待确认饮食方案”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15673"/>
                  </a:ext>
                </a:extLst>
              </a:tr>
              <a:tr h="21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定期科普推送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每周三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10:00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</a:rPr>
                        <a:t>科普老师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本周主题：低血糖识别与应对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4762157"/>
                  </a:ext>
                </a:extLst>
              </a:tr>
              <a:tr h="3369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>
                          <a:solidFill>
                            <a:schemeClr val="bg1"/>
                          </a:solidFill>
                          <a:effectLst/>
                        </a:rPr>
                        <a:t>心理干预触发</a:t>
                      </a:r>
                      <a:endParaRPr lang="zh-CN" altLang="en-US" sz="105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患者连续 </a:t>
                      </a:r>
                      <a:r>
                        <a:rPr lang="en-US" altLang="zh-CN" sz="1050" dirty="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天情绪记录异常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自动</a:t>
                      </a:r>
                      <a:r>
                        <a:rPr lang="en-US" altLang="zh-CN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@</a:t>
                      </a:r>
                      <a:r>
                        <a:rPr lang="zh-CN" altLang="en-US" sz="1050" kern="1200" dirty="0">
                          <a:solidFill>
                            <a:srgbClr val="FFC000"/>
                          </a:solidFill>
                          <a:effectLst/>
                          <a:latin typeface="var(--ds-font-family-code)"/>
                          <a:ea typeface="+mn-ea"/>
                          <a:cs typeface="+mn-cs"/>
                        </a:rPr>
                        <a:t>心理咨询师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 “请评估患者心理状态”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848593"/>
                  </a:ext>
                </a:extLst>
              </a:tr>
              <a:tr h="432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effectLst/>
                        </a:rPr>
                        <a:t>代谢异常告警</a:t>
                      </a:r>
                      <a:endParaRPr lang="zh-CN" altLang="en-US" sz="105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3102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</a:rPr>
                        <a:t>连续血糖值超过阈值</a:t>
                      </a:r>
                    </a:p>
                  </a:txBody>
                  <a:tcPr marL="97469" marR="97469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发送 </a:t>
                      </a:r>
                      <a:r>
                        <a:rPr lang="en-US" altLang="zh-CN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@</a:t>
                      </a:r>
                      <a:r>
                        <a:rPr lang="zh-CN" altLang="en-US" sz="1050" dirty="0">
                          <a:solidFill>
                            <a:srgbClr val="FF8FAC"/>
                          </a:solidFill>
                          <a:effectLst/>
                          <a:latin typeface="var(--ds-font-family-code)"/>
                        </a:rPr>
                        <a:t>代谢病医生 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需调整胰岛素剂量</a:t>
                      </a:r>
                      <a:r>
                        <a:rPr lang="en-US" altLang="zh-CN" sz="1050" dirty="0">
                          <a:solidFill>
                            <a:schemeClr val="bg1"/>
                          </a:solidFill>
                          <a:effectLst/>
                          <a:latin typeface="var(--ds-font-family-code)"/>
                        </a:rPr>
                        <a:t>"</a:t>
                      </a:r>
                      <a:r>
                        <a:rPr lang="zh-CN" altLang="en-US" sz="1050" dirty="0">
                          <a:solidFill>
                            <a:schemeClr val="bg1"/>
                          </a:solidFill>
                          <a:effectLst/>
                        </a:rPr>
                        <a:t> 并同时抄送主治医生</a:t>
                      </a:r>
                    </a:p>
                  </a:txBody>
                  <a:tcPr marL="97469" marR="73102" marT="60918" marB="609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537781"/>
                  </a:ext>
                </a:extLst>
              </a:tr>
            </a:tbl>
          </a:graphicData>
        </a:graphic>
      </p:graphicFrame>
      <p:sp>
        <p:nvSpPr>
          <p:cNvPr id="156" name="文本框 155">
            <a:extLst>
              <a:ext uri="{FF2B5EF4-FFF2-40B4-BE49-F238E27FC236}">
                <a16:creationId xmlns:a16="http://schemas.microsoft.com/office/drawing/2014/main" id="{E489BA1B-67C4-0040-6D22-C692767720DF}"/>
              </a:ext>
            </a:extLst>
          </p:cNvPr>
          <p:cNvSpPr txBox="1"/>
          <p:nvPr/>
        </p:nvSpPr>
        <p:spPr>
          <a:xfrm>
            <a:off x="9465094" y="3019460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营养师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2CD4332E-815C-2BFA-1A71-1C9CA1F9B53C}"/>
              </a:ext>
            </a:extLst>
          </p:cNvPr>
          <p:cNvSpPr txBox="1"/>
          <p:nvPr/>
        </p:nvSpPr>
        <p:spPr>
          <a:xfrm>
            <a:off x="8588686" y="3006542"/>
            <a:ext cx="9620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代谢病医生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60FA39AE-7ABB-2970-FF60-5AC6C79D0EB8}"/>
              </a:ext>
            </a:extLst>
          </p:cNvPr>
          <p:cNvSpPr txBox="1"/>
          <p:nvPr/>
        </p:nvSpPr>
        <p:spPr>
          <a:xfrm>
            <a:off x="7939221" y="3012485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药剂师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5F2FA04-4F22-AA2D-CF8D-A41D065E69DD}"/>
              </a:ext>
            </a:extLst>
          </p:cNvPr>
          <p:cNvSpPr txBox="1"/>
          <p:nvPr/>
        </p:nvSpPr>
        <p:spPr>
          <a:xfrm>
            <a:off x="6449639" y="2185680"/>
            <a:ext cx="10281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心理咨询师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28DE6F4-10DA-A964-81F2-50E1DD2D13FA}"/>
              </a:ext>
            </a:extLst>
          </p:cNvPr>
          <p:cNvSpPr txBox="1"/>
          <p:nvPr/>
        </p:nvSpPr>
        <p:spPr>
          <a:xfrm>
            <a:off x="6645450" y="2973594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科普老师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0C00173E-7A57-2CC7-6544-87C69F71F6E7}"/>
              </a:ext>
            </a:extLst>
          </p:cNvPr>
          <p:cNvSpPr txBox="1"/>
          <p:nvPr/>
        </p:nvSpPr>
        <p:spPr>
          <a:xfrm>
            <a:off x="9447137" y="1357268"/>
            <a:ext cx="60941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主治医生</a:t>
            </a: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154D682A-303B-9FEE-3A90-80E049C9F04A}"/>
              </a:ext>
            </a:extLst>
          </p:cNvPr>
          <p:cNvSpPr txBox="1"/>
          <p:nvPr/>
        </p:nvSpPr>
        <p:spPr>
          <a:xfrm>
            <a:off x="10818804" y="2992772"/>
            <a:ext cx="8733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记忆模块</a:t>
            </a:r>
          </a:p>
        </p:txBody>
      </p:sp>
    </p:spTree>
    <p:extLst>
      <p:ext uri="{BB962C8B-B14F-4D97-AF65-F5344CB8AC3E}">
        <p14:creationId xmlns:p14="http://schemas.microsoft.com/office/powerpoint/2010/main" val="3357065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-530946" y="-1171015"/>
            <a:ext cx="15313748" cy="7725192"/>
            <a:chOff x="-471952" y="-433596"/>
            <a:chExt cx="15313748" cy="7725192"/>
          </a:xfrm>
        </p:grpSpPr>
        <p:sp>
          <p:nvSpPr>
            <p:cNvPr id="5" name="矩形 4"/>
            <p:cNvSpPr/>
            <p:nvPr/>
          </p:nvSpPr>
          <p:spPr>
            <a:xfrm>
              <a:off x="-471952" y="5196348"/>
              <a:ext cx="12960000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-324466" y="1710813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809309" y="-433596"/>
              <a:ext cx="4500357" cy="772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49600" b="1" i="0" u="none" strike="noStrike" kern="1200" cap="none" spc="0" normalizeH="0" baseline="0" noProof="0" dirty="0">
                  <a:ln>
                    <a:solidFill>
                      <a:srgbClr val="44C9F5"/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49600" b="1" i="0" u="none" strike="noStrike" kern="1200" cap="none" spc="0" normalizeH="0" baseline="0" noProof="0" dirty="0">
                <a:ln>
                  <a:solidFill>
                    <a:srgbClr val="44C9F5"/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6" name="饼形 5"/>
            <p:cNvSpPr/>
            <p:nvPr/>
          </p:nvSpPr>
          <p:spPr>
            <a:xfrm>
              <a:off x="4660490" y="1739613"/>
              <a:ext cx="630000" cy="630000"/>
            </a:xfrm>
            <a:prstGeom prst="pie">
              <a:avLst>
                <a:gd name="adj1" fmla="val 5351128"/>
                <a:gd name="adj2" fmla="val 16200000"/>
              </a:avLst>
            </a:prstGeom>
            <a:gradFill>
              <a:gsLst>
                <a:gs pos="0">
                  <a:srgbClr val="F682B0"/>
                </a:gs>
                <a:gs pos="33000">
                  <a:srgbClr val="FE93AA"/>
                </a:gs>
                <a:gs pos="77000">
                  <a:srgbClr val="F8BCCC"/>
                </a:gs>
                <a:gs pos="53000">
                  <a:srgbClr val="FD8EAC"/>
                </a:gs>
                <a:gs pos="97000">
                  <a:schemeClr val="bg1">
                    <a:lumMod val="9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9591370" y="1745226"/>
              <a:ext cx="5250426" cy="630000"/>
            </a:xfrm>
            <a:prstGeom prst="rect">
              <a:avLst/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6843250" y="1740310"/>
              <a:ext cx="3244645" cy="3834580"/>
            </a:xfrm>
            <a:prstGeom prst="parallelogram">
              <a:avLst>
                <a:gd name="adj" fmla="val 81140"/>
              </a:avLst>
            </a:pr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9207908" y="1568245"/>
              <a:ext cx="900000" cy="90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403689" y="5397910"/>
              <a:ext cx="2477730" cy="265471"/>
            </a:xfrm>
            <a:prstGeom prst="rect">
              <a:avLst/>
            </a:prstGeom>
            <a:gradFill>
              <a:gsLst>
                <a:gs pos="74000">
                  <a:srgbClr val="975FA2"/>
                </a:gs>
                <a:gs pos="50000">
                  <a:srgbClr val="F682B0"/>
                </a:gs>
                <a:gs pos="7000">
                  <a:srgbClr val="FE93AA"/>
                </a:gs>
                <a:gs pos="30000">
                  <a:srgbClr val="FD8EAC"/>
                </a:gs>
                <a:gs pos="97000">
                  <a:srgbClr val="38CEEC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784257" y="5132438"/>
              <a:ext cx="720000" cy="720000"/>
            </a:xfrm>
            <a:prstGeom prst="ellipse">
              <a:avLst/>
            </a:prstGeom>
            <a:gradFill flip="none" rotWithShape="1">
              <a:gsLst>
                <a:gs pos="82000">
                  <a:srgbClr val="C05EA6"/>
                </a:gs>
                <a:gs pos="0">
                  <a:srgbClr val="F682B0"/>
                </a:gs>
                <a:gs pos="29000">
                  <a:srgbClr val="FE93AA"/>
                </a:gs>
                <a:gs pos="56000">
                  <a:srgbClr val="FD8EAC"/>
                </a:gs>
                <a:gs pos="97000">
                  <a:srgbClr val="B45BA4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392598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8538624" y="2007263"/>
              <a:ext cx="4500357" cy="31547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9900" b="1" i="0" u="none" strike="noStrike" kern="1200" cap="none" spc="0" normalizeH="0" baseline="0" noProof="0" dirty="0">
                  <a:ln>
                    <a:solidFill>
                      <a:srgbClr val="000000">
                        <a:lumMod val="85000"/>
                        <a:lumOff val="15000"/>
                      </a:srgbClr>
                    </a:solidFill>
                  </a:ln>
                  <a:noFill/>
                  <a:effectLst/>
                  <a:uLnTx/>
                  <a:uFillTx/>
                  <a:latin typeface="OCR A Extended" panose="02010509020102010303" pitchFamily="50" charset="0"/>
                  <a:ea typeface="微软雅黑" panose="020B0503020204020204" pitchFamily="34" charset="-122"/>
                  <a:cs typeface="IrisUPC" panose="020B0604020202020204" pitchFamily="34" charset="-34"/>
                </a:rPr>
                <a:t>2</a:t>
              </a:r>
              <a:endParaRPr kumimoji="0" lang="zh-CN" altLang="en-US" sz="19900" b="1" i="0" u="none" strike="noStrike" kern="1200" cap="none" spc="0" normalizeH="0" baseline="0" noProof="0" dirty="0">
                <a:ln>
                  <a:solidFill>
                    <a:srgbClr val="000000">
                      <a:lumMod val="85000"/>
                      <a:lumOff val="15000"/>
                    </a:srgbClr>
                  </a:solidFill>
                </a:ln>
                <a:noFill/>
                <a:effectLst/>
                <a:uLnTx/>
                <a:uFillTx/>
                <a:latin typeface="OCR A Extended" panose="02010509020102010303" pitchFamily="50" charset="0"/>
                <a:ea typeface="微软雅黑" panose="020B0503020204020204" pitchFamily="34" charset="-122"/>
                <a:cs typeface="IrisUPC" panose="020B0604020202020204" pitchFamily="34" charset="-34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661577" y="5181599"/>
              <a:ext cx="442451" cy="630000"/>
              <a:chOff x="7593320" y="7069392"/>
              <a:chExt cx="442451" cy="6300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2554287" y="5186515"/>
              <a:ext cx="442451" cy="630000"/>
              <a:chOff x="7593320" y="7069392"/>
              <a:chExt cx="442451" cy="630000"/>
            </a:xfrm>
          </p:grpSpPr>
          <p:sp>
            <p:nvSpPr>
              <p:cNvPr id="23" name="椭圆 22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10729810" y="5220928"/>
              <a:ext cx="442451" cy="630000"/>
              <a:chOff x="7593320" y="7069392"/>
              <a:chExt cx="442451" cy="630000"/>
            </a:xfrm>
          </p:grpSpPr>
          <p:sp>
            <p:nvSpPr>
              <p:cNvPr id="26" name="椭圆 25"/>
              <p:cNvSpPr/>
              <p:nvPr/>
            </p:nvSpPr>
            <p:spPr>
              <a:xfrm>
                <a:off x="7762926" y="7295901"/>
                <a:ext cx="103239" cy="176982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7593320" y="7069392"/>
                <a:ext cx="442451" cy="630000"/>
              </a:xfrm>
              <a:prstGeom prst="ellipse">
                <a:avLst/>
              </a:prstGeom>
              <a:noFill/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 flipH="1" flipV="1">
              <a:off x="5145088" y="2035277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 rot="10800000">
              <a:off x="6312311" y="2005781"/>
              <a:ext cx="825909" cy="530944"/>
            </a:xfrm>
            <a:prstGeom prst="curvedConnector3">
              <a:avLst>
                <a:gd name="adj1" fmla="val 10714"/>
              </a:avLst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108723" y="2929783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454804" y="3751006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 flipV="1">
              <a:off x="5107859" y="4704505"/>
              <a:ext cx="0" cy="85556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 flipV="1">
              <a:off x="5454804" y="5550309"/>
              <a:ext cx="1209368" cy="0"/>
            </a:xfrm>
            <a:prstGeom prst="line">
              <a:avLst/>
            </a:prstGeom>
            <a:ln w="152400">
              <a:gradFill flip="none" rotWithShape="1">
                <a:gsLst>
                  <a:gs pos="0">
                    <a:srgbClr val="42A9BE"/>
                  </a:gs>
                  <a:gs pos="50000">
                    <a:srgbClr val="2E578E"/>
                  </a:gs>
                  <a:gs pos="27000">
                    <a:srgbClr val="3E76C0"/>
                  </a:gs>
                  <a:gs pos="74000">
                    <a:srgbClr val="172C49"/>
                  </a:gs>
                  <a:gs pos="100000">
                    <a:schemeClr val="tx1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C7E6FC30-B6BD-F262-56B4-5561B6E78E43}"/>
              </a:ext>
            </a:extLst>
          </p:cNvPr>
          <p:cNvSpPr/>
          <p:nvPr/>
        </p:nvSpPr>
        <p:spPr>
          <a:xfrm>
            <a:off x="2440361" y="3362045"/>
            <a:ext cx="1826141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项目进展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FB54F3-DFCD-8FC8-732D-A9FB9457D7FE}"/>
              </a:ext>
            </a:extLst>
          </p:cNvPr>
          <p:cNvSpPr/>
          <p:nvPr/>
        </p:nvSpPr>
        <p:spPr>
          <a:xfrm>
            <a:off x="2055732" y="3986394"/>
            <a:ext cx="259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Project progress</a:t>
            </a:r>
            <a:endParaRPr kumimoji="0" lang="zh-CN" altLang="en-US" sz="18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椭圆 42"/>
          <p:cNvSpPr/>
          <p:nvPr/>
        </p:nvSpPr>
        <p:spPr>
          <a:xfrm>
            <a:off x="11278507" y="2186214"/>
            <a:ext cx="144000" cy="144000"/>
          </a:xfrm>
          <a:prstGeom prst="ellipse">
            <a:avLst/>
          </a:prstGeom>
          <a:solidFill>
            <a:srgbClr val="A270A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7611836" y="5510893"/>
            <a:ext cx="144000" cy="144000"/>
          </a:xfrm>
          <a:prstGeom prst="ellipse">
            <a:avLst/>
          </a:prstGeom>
          <a:solidFill>
            <a:srgbClr val="42A9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5210628" y="2271486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1703615" y="6437993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3200400" y="6172200"/>
            <a:ext cx="144000" cy="144000"/>
          </a:xfrm>
          <a:prstGeom prst="ellipse">
            <a:avLst/>
          </a:prstGeom>
          <a:solidFill>
            <a:srgbClr val="FF84A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椭圆 47"/>
          <p:cNvSpPr/>
          <p:nvPr/>
        </p:nvSpPr>
        <p:spPr>
          <a:xfrm>
            <a:off x="1861457" y="2530929"/>
            <a:ext cx="144000" cy="144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椭圆 48"/>
          <p:cNvSpPr/>
          <p:nvPr/>
        </p:nvSpPr>
        <p:spPr>
          <a:xfrm>
            <a:off x="8210550" y="3962400"/>
            <a:ext cx="72000" cy="72000"/>
          </a:xfrm>
          <a:prstGeom prst="ellipse">
            <a:avLst/>
          </a:prstGeom>
          <a:solidFill>
            <a:srgbClr val="975F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椭圆 49"/>
          <p:cNvSpPr/>
          <p:nvPr/>
        </p:nvSpPr>
        <p:spPr>
          <a:xfrm>
            <a:off x="76200" y="480060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10058400" y="2305050"/>
            <a:ext cx="108000" cy="108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53" name="组合 52"/>
          <p:cNvGrpSpPr/>
          <p:nvPr/>
        </p:nvGrpSpPr>
        <p:grpSpPr>
          <a:xfrm>
            <a:off x="595085" y="1857830"/>
            <a:ext cx="10608224" cy="6820352"/>
            <a:chOff x="595085" y="1857830"/>
            <a:chExt cx="10608224" cy="6820352"/>
          </a:xfrm>
        </p:grpSpPr>
        <p:grpSp>
          <p:nvGrpSpPr>
            <p:cNvPr id="6" name="组合 5"/>
            <p:cNvGrpSpPr/>
            <p:nvPr/>
          </p:nvGrpSpPr>
          <p:grpSpPr>
            <a:xfrm>
              <a:off x="2359479" y="3216049"/>
              <a:ext cx="2160000" cy="5322887"/>
              <a:chOff x="2228850" y="2214563"/>
              <a:chExt cx="2160000" cy="5322887"/>
            </a:xfrm>
          </p:grpSpPr>
          <p:sp>
            <p:nvSpPr>
              <p:cNvPr id="3" name="菱形 2"/>
              <p:cNvSpPr/>
              <p:nvPr/>
            </p:nvSpPr>
            <p:spPr>
              <a:xfrm>
                <a:off x="2228850" y="2214563"/>
                <a:ext cx="2160000" cy="114300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" name="平行四边形 3"/>
              <p:cNvSpPr/>
              <p:nvPr/>
            </p:nvSpPr>
            <p:spPr>
              <a:xfrm rot="16200000">
                <a:off x="394744" y="461064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平行四边形 4"/>
              <p:cNvSpPr/>
              <p:nvPr/>
            </p:nvSpPr>
            <p:spPr>
              <a:xfrm rot="5400000" flipH="1">
                <a:off x="1473744" y="4623344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5712006" y="4833257"/>
              <a:ext cx="1240337" cy="2879492"/>
              <a:chOff x="2228850" y="2214564"/>
              <a:chExt cx="2160000" cy="4132312"/>
            </a:xfrm>
          </p:grpSpPr>
          <p:sp>
            <p:nvSpPr>
              <p:cNvPr id="8" name="菱形 7"/>
              <p:cNvSpPr/>
              <p:nvPr/>
            </p:nvSpPr>
            <p:spPr>
              <a:xfrm>
                <a:off x="2228850" y="2214564"/>
                <a:ext cx="2160000" cy="1041460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6200000">
                <a:off x="962853" y="4000878"/>
                <a:ext cx="3611995" cy="1080001"/>
              </a:xfrm>
              <a:prstGeom prst="parallelogram">
                <a:avLst>
                  <a:gd name="adj" fmla="val 60114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平行四边形 9"/>
              <p:cNvSpPr/>
              <p:nvPr/>
            </p:nvSpPr>
            <p:spPr>
              <a:xfrm rot="5400000" flipH="1">
                <a:off x="2041851" y="3992748"/>
                <a:ext cx="3611995" cy="1080001"/>
              </a:xfrm>
              <a:prstGeom prst="parallelogram">
                <a:avLst>
                  <a:gd name="adj" fmla="val 58938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7982854" y="1857830"/>
              <a:ext cx="892629" cy="5530086"/>
              <a:chOff x="2228850" y="2579171"/>
              <a:chExt cx="2160000" cy="4790279"/>
            </a:xfrm>
          </p:grpSpPr>
          <p:sp>
            <p:nvSpPr>
              <p:cNvPr id="12" name="菱形 11"/>
              <p:cNvSpPr/>
              <p:nvPr/>
            </p:nvSpPr>
            <p:spPr>
              <a:xfrm>
                <a:off x="2228850" y="2579171"/>
                <a:ext cx="2160000" cy="402321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平行四边形 12"/>
              <p:cNvSpPr/>
              <p:nvPr/>
            </p:nvSpPr>
            <p:spPr>
              <a:xfrm rot="16200000">
                <a:off x="472458" y="4532929"/>
                <a:ext cx="4592786" cy="1080001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平行四边形 13"/>
              <p:cNvSpPr/>
              <p:nvPr/>
            </p:nvSpPr>
            <p:spPr>
              <a:xfrm rot="5400000" flipH="1">
                <a:off x="1551452" y="4533056"/>
                <a:ext cx="4592786" cy="1080001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9043309" y="2134960"/>
              <a:ext cx="2160000" cy="6543222"/>
              <a:chOff x="2228850" y="2214563"/>
              <a:chExt cx="2160000" cy="5162564"/>
            </a:xfrm>
          </p:grpSpPr>
          <p:sp>
            <p:nvSpPr>
              <p:cNvPr id="16" name="菱形 15"/>
              <p:cNvSpPr/>
              <p:nvPr/>
            </p:nvSpPr>
            <p:spPr>
              <a:xfrm>
                <a:off x="2228850" y="2214563"/>
                <a:ext cx="2160000" cy="847424"/>
              </a:xfrm>
              <a:prstGeom prst="diamond">
                <a:avLst/>
              </a:prstGeom>
              <a:gradFill flip="none" rotWithShape="1">
                <a:gsLst>
                  <a:gs pos="26000">
                    <a:srgbClr val="80508A"/>
                  </a:gs>
                  <a:gs pos="9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平行四边形 16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gradFill flip="none" rotWithShape="1">
                <a:gsLst>
                  <a:gs pos="22000">
                    <a:srgbClr val="80508A"/>
                  </a:gs>
                  <a:gs pos="8000">
                    <a:srgbClr val="56365C"/>
                  </a:gs>
                  <a:gs pos="60000">
                    <a:srgbClr val="E57BA3"/>
                  </a:gs>
                  <a:gs pos="85458">
                    <a:srgbClr val="EE7EA3"/>
                  </a:gs>
                  <a:gs pos="41000">
                    <a:srgbClr val="975FA2"/>
                  </a:gs>
                  <a:gs pos="100000">
                    <a:srgbClr val="FF84A4"/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gradFill flip="none" rotWithShape="1">
                <a:gsLst>
                  <a:gs pos="29000">
                    <a:srgbClr val="80508A"/>
                  </a:gs>
                  <a:gs pos="12000">
                    <a:srgbClr val="56365C"/>
                  </a:gs>
                  <a:gs pos="71000">
                    <a:srgbClr val="E57BA3"/>
                  </a:gs>
                  <a:gs pos="90000">
                    <a:srgbClr val="EE7EA3"/>
                  </a:gs>
                  <a:gs pos="49000">
                    <a:srgbClr val="975FA2"/>
                  </a:gs>
                  <a:gs pos="100000">
                    <a:srgbClr val="FF84A4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95085" y="2394858"/>
              <a:ext cx="1485995" cy="5316764"/>
              <a:chOff x="2228850" y="2242598"/>
              <a:chExt cx="2160000" cy="5134529"/>
            </a:xfrm>
          </p:grpSpPr>
          <p:sp>
            <p:nvSpPr>
              <p:cNvPr id="20" name="菱形 19"/>
              <p:cNvSpPr/>
              <p:nvPr/>
            </p:nvSpPr>
            <p:spPr>
              <a:xfrm>
                <a:off x="2228850" y="2242598"/>
                <a:ext cx="2160000" cy="770924"/>
              </a:xfrm>
              <a:prstGeom prst="diamond">
                <a:avLst/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>
              <a:xfrm rot="16200000">
                <a:off x="394744" y="4450324"/>
                <a:ext cx="4748212" cy="1080000"/>
              </a:xfrm>
              <a:prstGeom prst="parallelogram">
                <a:avLst>
                  <a:gd name="adj" fmla="val 53093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平行四边形 21"/>
              <p:cNvSpPr/>
              <p:nvPr/>
            </p:nvSpPr>
            <p:spPr>
              <a:xfrm rot="5400000" flipH="1">
                <a:off x="1473744" y="4463021"/>
                <a:ext cx="4748212" cy="1080000"/>
              </a:xfrm>
              <a:prstGeom prst="parallelogram">
                <a:avLst>
                  <a:gd name="adj" fmla="val 51917"/>
                </a:avLst>
              </a:prstGeom>
              <a:noFill/>
              <a:ln>
                <a:solidFill>
                  <a:srgbClr val="5636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2136430" y="1171633"/>
            <a:ext cx="2881243" cy="914043"/>
            <a:chOff x="2136430" y="1171633"/>
            <a:chExt cx="2881243" cy="914043"/>
          </a:xfrm>
        </p:grpSpPr>
        <p:sp>
          <p:nvSpPr>
            <p:cNvPr id="23" name="文本框 22"/>
            <p:cNvSpPr txBox="1"/>
            <p:nvPr/>
          </p:nvSpPr>
          <p:spPr>
            <a:xfrm>
              <a:off x="2136430" y="1777899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自进化系统整体框架的初步搭建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自进化系统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048001" y="2540000"/>
            <a:ext cx="936000" cy="936000"/>
            <a:chOff x="3077029" y="2540000"/>
            <a:chExt cx="936000" cy="936000"/>
          </a:xfrm>
        </p:grpSpPr>
        <p:sp>
          <p:nvSpPr>
            <p:cNvPr id="25" name="泪滴形 24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74003" y="4455885"/>
            <a:ext cx="540000" cy="540000"/>
            <a:chOff x="3077029" y="2540000"/>
            <a:chExt cx="936000" cy="936000"/>
          </a:xfrm>
        </p:grpSpPr>
        <p:sp>
          <p:nvSpPr>
            <p:cNvPr id="29" name="泪滴形 28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915917" y="2852082"/>
            <a:ext cx="2881243" cy="783271"/>
            <a:chOff x="2136431" y="1171633"/>
            <a:chExt cx="2881243" cy="783271"/>
          </a:xfrm>
        </p:grpSpPr>
        <p:sp>
          <p:nvSpPr>
            <p:cNvPr id="33" name="文本框 32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多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Agent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架构及代码实现</a:t>
              </a: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Multi Agent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789888" y="1705789"/>
            <a:ext cx="720000" cy="720000"/>
            <a:chOff x="3077029" y="2540000"/>
            <a:chExt cx="936000" cy="936000"/>
          </a:xfrm>
        </p:grpSpPr>
        <p:sp>
          <p:nvSpPr>
            <p:cNvPr id="36" name="泪滴形 35"/>
            <p:cNvSpPr/>
            <p:nvPr/>
          </p:nvSpPr>
          <p:spPr>
            <a:xfrm rot="8163337">
              <a:off x="3077029" y="2540000"/>
              <a:ext cx="936000" cy="936000"/>
            </a:xfrm>
            <a:prstGeom prst="teardrop">
              <a:avLst/>
            </a:prstGeom>
            <a:gradFill flip="none" rotWithShape="1">
              <a:gsLst>
                <a:gs pos="29000">
                  <a:srgbClr val="80508A"/>
                </a:gs>
                <a:gs pos="12000">
                  <a:srgbClr val="56365C"/>
                </a:gs>
                <a:gs pos="71000">
                  <a:srgbClr val="E57BA3"/>
                </a:gs>
                <a:gs pos="90000">
                  <a:srgbClr val="EE7EA3"/>
                </a:gs>
                <a:gs pos="49000">
                  <a:srgbClr val="975FA2"/>
                </a:gs>
                <a:gs pos="100000">
                  <a:srgbClr val="FF84A4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3265716" y="2759507"/>
              <a:ext cx="540000" cy="54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8725919" y="464480"/>
            <a:ext cx="2881243" cy="783271"/>
            <a:chOff x="2136431" y="1171633"/>
            <a:chExt cx="2881243" cy="783271"/>
          </a:xfrm>
        </p:grpSpPr>
        <p:sp>
          <p:nvSpPr>
            <p:cNvPr id="39" name="文本框 38"/>
            <p:cNvSpPr txBox="1"/>
            <p:nvPr/>
          </p:nvSpPr>
          <p:spPr>
            <a:xfrm>
              <a:off x="2136431" y="1647127"/>
              <a:ext cx="2881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三层记忆架构设计及初步配置</a:t>
              </a: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2326399" y="1171633"/>
              <a:ext cx="2501307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记忆管理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A85E8A-D768-004A-877F-F08E2AAC3FA6}"/>
              </a:ext>
            </a:extLst>
          </p:cNvPr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64DC5CCB-E0B8-CB23-9F92-AAC203690F92}"/>
                </a:ext>
              </a:extLst>
            </p:cNvPr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EFD90FFA-60F6-B606-CDB5-302152DD7B06}"/>
                  </a:ext>
                </a:extLst>
              </p:cNvPr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24C272C0-546F-4B02-FF10-E0E55A1579E3}"/>
                  </a:ext>
                </a:extLst>
              </p:cNvPr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36A3F18F-7F74-B4EC-36D3-F573E591342D}"/>
                  </a:ext>
                </a:extLst>
              </p:cNvPr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717B7F0B-95EC-42F1-86E2-86BB9815EAE9}"/>
                  </a:ext>
                </a:extLst>
              </p:cNvPr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7E0C401-C68D-A2CF-617F-01BC5638420F}"/>
                </a:ext>
              </a:extLst>
            </p:cNvPr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Calibri"/>
                  <a:ea typeface="等线" panose="02010600030101010101" pitchFamily="2" charset="-122"/>
                  <a:sym typeface="+mn-lt"/>
                </a:rPr>
                <a:t>项目进展</a:t>
              </a:r>
            </a:p>
          </p:txBody>
        </p:sp>
      </p:grpSp>
      <p:sp>
        <p:nvSpPr>
          <p:cNvPr id="59" name="Rectangle 10">
            <a:extLst>
              <a:ext uri="{FF2B5EF4-FFF2-40B4-BE49-F238E27FC236}">
                <a16:creationId xmlns:a16="http://schemas.microsoft.com/office/drawing/2014/main" id="{B4949FCA-125A-DB34-B720-0C3101CF0402}"/>
              </a:ext>
            </a:extLst>
          </p:cNvPr>
          <p:cNvSpPr/>
          <p:nvPr/>
        </p:nvSpPr>
        <p:spPr>
          <a:xfrm>
            <a:off x="0" y="6141575"/>
            <a:ext cx="12191999" cy="716424"/>
          </a:xfrm>
          <a:prstGeom prst="rect">
            <a:avLst/>
          </a:prstGeom>
          <a:gradFill>
            <a:gsLst>
              <a:gs pos="0">
                <a:srgbClr val="2BA89C"/>
              </a:gs>
              <a:gs pos="83000">
                <a:srgbClr val="0E4B7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0" name="Freeform 15">
            <a:extLst>
              <a:ext uri="{FF2B5EF4-FFF2-40B4-BE49-F238E27FC236}">
                <a16:creationId xmlns:a16="http://schemas.microsoft.com/office/drawing/2014/main" id="{81CF381A-6ACB-815B-770C-A9C98DFB6045}"/>
              </a:ext>
            </a:extLst>
          </p:cNvPr>
          <p:cNvSpPr/>
          <p:nvPr/>
        </p:nvSpPr>
        <p:spPr bwMode="auto">
          <a:xfrm rot="5400000">
            <a:off x="11658276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1" name="Freeform 15">
            <a:extLst>
              <a:ext uri="{FF2B5EF4-FFF2-40B4-BE49-F238E27FC236}">
                <a16:creationId xmlns:a16="http://schemas.microsoft.com/office/drawing/2014/main" id="{0F0CD724-81AA-3114-995B-B12AC952F336}"/>
              </a:ext>
            </a:extLst>
          </p:cNvPr>
          <p:cNvSpPr/>
          <p:nvPr/>
        </p:nvSpPr>
        <p:spPr bwMode="auto">
          <a:xfrm rot="16200000">
            <a:off x="183412" y="6409809"/>
            <a:ext cx="321489" cy="200149"/>
          </a:xfrm>
          <a:custGeom>
            <a:avLst/>
            <a:gdLst>
              <a:gd name="T0" fmla="*/ 167 w 334"/>
              <a:gd name="T1" fmla="*/ 0 h 206"/>
              <a:gd name="T2" fmla="*/ 195 w 334"/>
              <a:gd name="T3" fmla="*/ 12 h 206"/>
              <a:gd name="T4" fmla="*/ 318 w 334"/>
              <a:gd name="T5" fmla="*/ 134 h 206"/>
              <a:gd name="T6" fmla="*/ 318 w 334"/>
              <a:gd name="T7" fmla="*/ 191 h 206"/>
              <a:gd name="T8" fmla="*/ 261 w 334"/>
              <a:gd name="T9" fmla="*/ 191 h 206"/>
              <a:gd name="T10" fmla="*/ 167 w 334"/>
              <a:gd name="T11" fmla="*/ 96 h 206"/>
              <a:gd name="T12" fmla="*/ 73 w 334"/>
              <a:gd name="T13" fmla="*/ 191 h 206"/>
              <a:gd name="T14" fmla="*/ 16 w 334"/>
              <a:gd name="T15" fmla="*/ 191 h 206"/>
              <a:gd name="T16" fmla="*/ 16 w 334"/>
              <a:gd name="T17" fmla="*/ 134 h 206"/>
              <a:gd name="T18" fmla="*/ 139 w 334"/>
              <a:gd name="T19" fmla="*/ 12 h 206"/>
              <a:gd name="T20" fmla="*/ 167 w 334"/>
              <a:gd name="T21" fmla="*/ 0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34" h="206">
                <a:moveTo>
                  <a:pt x="167" y="0"/>
                </a:moveTo>
                <a:cubicBezTo>
                  <a:pt x="177" y="0"/>
                  <a:pt x="188" y="4"/>
                  <a:pt x="195" y="12"/>
                </a:cubicBezTo>
                <a:cubicBezTo>
                  <a:pt x="318" y="134"/>
                  <a:pt x="318" y="134"/>
                  <a:pt x="318" y="134"/>
                </a:cubicBezTo>
                <a:cubicBezTo>
                  <a:pt x="334" y="150"/>
                  <a:pt x="334" y="175"/>
                  <a:pt x="318" y="191"/>
                </a:cubicBezTo>
                <a:cubicBezTo>
                  <a:pt x="302" y="206"/>
                  <a:pt x="277" y="206"/>
                  <a:pt x="261" y="191"/>
                </a:cubicBezTo>
                <a:cubicBezTo>
                  <a:pt x="167" y="96"/>
                  <a:pt x="167" y="96"/>
                  <a:pt x="167" y="96"/>
                </a:cubicBezTo>
                <a:cubicBezTo>
                  <a:pt x="73" y="191"/>
                  <a:pt x="73" y="191"/>
                  <a:pt x="73" y="191"/>
                </a:cubicBezTo>
                <a:cubicBezTo>
                  <a:pt x="57" y="206"/>
                  <a:pt x="32" y="206"/>
                  <a:pt x="16" y="191"/>
                </a:cubicBezTo>
                <a:cubicBezTo>
                  <a:pt x="0" y="175"/>
                  <a:pt x="0" y="150"/>
                  <a:pt x="16" y="134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7" y="4"/>
                  <a:pt x="157" y="0"/>
                  <a:pt x="16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2" name="Rectangle 8">
            <a:extLst>
              <a:ext uri="{FF2B5EF4-FFF2-40B4-BE49-F238E27FC236}">
                <a16:creationId xmlns:a16="http://schemas.microsoft.com/office/drawing/2014/main" id="{1633D3AC-3F81-3142-7D82-5F0146248CA9}"/>
              </a:ext>
            </a:extLst>
          </p:cNvPr>
          <p:cNvSpPr/>
          <p:nvPr/>
        </p:nvSpPr>
        <p:spPr>
          <a:xfrm>
            <a:off x="0" y="5915874"/>
            <a:ext cx="12191999" cy="225701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  <a:sym typeface="+mn-lt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0646FD6-6CB5-0943-1A6D-13745C65E0E6}"/>
              </a:ext>
            </a:extLst>
          </p:cNvPr>
          <p:cNvSpPr txBox="1"/>
          <p:nvPr/>
        </p:nvSpPr>
        <p:spPr>
          <a:xfrm>
            <a:off x="3718567" y="6307823"/>
            <a:ext cx="89627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面向智能客服的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AI Agent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等线" panose="02010600030101010101" pitchFamily="2" charset="-122"/>
                <a:cs typeface="+mn-cs"/>
              </a:rPr>
              <a:t>血糖管理自进化系统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49520722-C506-3829-A1C3-60DEBDA78C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3027355" y="6411765"/>
            <a:ext cx="329019" cy="340455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4CEA293-4FF3-59CC-2888-F4DA02FD04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2606185" y="6211574"/>
            <a:ext cx="532232" cy="550732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9B5FE27-BE62-8414-F733-AA80B29B52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/>
          <a:stretch>
            <a:fillRect/>
          </a:stretch>
        </p:blipFill>
        <p:spPr>
          <a:xfrm>
            <a:off x="1673392" y="6398159"/>
            <a:ext cx="329019" cy="340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图片 70">
            <a:extLst>
              <a:ext uri="{FF2B5EF4-FFF2-40B4-BE49-F238E27FC236}">
                <a16:creationId xmlns:a16="http://schemas.microsoft.com/office/drawing/2014/main" id="{5F1645A1-FCF5-5BA7-9E0D-B9BC76226D6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4715" y="704409"/>
            <a:ext cx="6249169" cy="6249169"/>
          </a:xfrm>
          <a:prstGeom prst="rect">
            <a:avLst/>
          </a:prstGeom>
        </p:spPr>
      </p:pic>
      <p:sp>
        <p:nvSpPr>
          <p:cNvPr id="23" name="ïSlîdê"/>
          <p:cNvSpPr/>
          <p:nvPr/>
        </p:nvSpPr>
        <p:spPr>
          <a:xfrm rot="20752402">
            <a:off x="3840612" y="2302392"/>
            <a:ext cx="2977377" cy="3031847"/>
          </a:xfrm>
          <a:prstGeom prst="ellipse">
            <a:avLst/>
          </a:prstGeom>
          <a:noFill/>
          <a:ln w="19050" cap="flat" cmpd="sng">
            <a:solidFill>
              <a:schemeClr val="bg1">
                <a:lumMod val="8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40" tIns="45720" rIns="91440" bIns="4572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 bwMode="auto">
          <a:xfrm>
            <a:off x="430662" y="2424943"/>
            <a:ext cx="2691129" cy="1292636"/>
            <a:chOff x="833850" y="5108274"/>
            <a:chExt cx="2691597" cy="1293602"/>
          </a:xfrm>
        </p:grpSpPr>
        <p:sp>
          <p:nvSpPr>
            <p:cNvPr id="31" name="矩形 30"/>
            <p:cNvSpPr/>
            <p:nvPr/>
          </p:nvSpPr>
          <p:spPr bwMode="auto">
            <a:xfrm>
              <a:off x="833850" y="5755062"/>
              <a:ext cx="2691597" cy="64681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Agent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自进化（提示词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+memory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）</a:t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  <a:p>
              <a:pPr marL="171450" marR="0" lvl="0" indent="-17145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三层记忆管理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44361" y="5108274"/>
              <a:ext cx="1844860" cy="369608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项目创新点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8985852" y="3163938"/>
            <a:ext cx="3206148" cy="889244"/>
            <a:chOff x="8206653" y="2292873"/>
            <a:chExt cx="3206148" cy="889244"/>
          </a:xfrm>
        </p:grpSpPr>
        <p:sp>
          <p:nvSpPr>
            <p:cNvPr id="33" name="矩形 32"/>
            <p:cNvSpPr/>
            <p:nvPr/>
          </p:nvSpPr>
          <p:spPr bwMode="auto">
            <a:xfrm>
              <a:off x="8206653" y="2751230"/>
              <a:ext cx="3009889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Evaluator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双维度评估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Analyzer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归因框架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+  Memory&amp;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提示词优化边界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/>
          </p:nvSpPr>
          <p:spPr bwMode="auto">
            <a:xfrm>
              <a:off x="8206653" y="2292873"/>
              <a:ext cx="3206148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构建自检与双维度评估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911114" y="1622174"/>
            <a:ext cx="2894418" cy="907882"/>
            <a:chOff x="8198474" y="2307321"/>
            <a:chExt cx="2894418" cy="907882"/>
          </a:xfrm>
        </p:grpSpPr>
        <p:sp>
          <p:nvSpPr>
            <p:cNvPr id="37" name="矩形 36"/>
            <p:cNvSpPr/>
            <p:nvPr/>
          </p:nvSpPr>
          <p:spPr bwMode="auto">
            <a:xfrm>
              <a:off x="8198474" y="2784316"/>
              <a:ext cx="2894418" cy="43088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进一步优化三层记忆管理，借鉴⼈脑的记忆筛选、重构与遗忘机制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auto">
            <a:xfrm>
              <a:off x="8198474" y="2307321"/>
              <a:ext cx="1844539" cy="3690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记忆管理接⼊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7964338" y="4890060"/>
            <a:ext cx="2824912" cy="862058"/>
            <a:chOff x="8198473" y="2256057"/>
            <a:chExt cx="2824912" cy="862058"/>
          </a:xfrm>
        </p:grpSpPr>
        <p:sp>
          <p:nvSpPr>
            <p:cNvPr id="40" name="矩形 39"/>
            <p:cNvSpPr/>
            <p:nvPr/>
          </p:nvSpPr>
          <p:spPr bwMode="auto">
            <a:xfrm>
              <a:off x="8198473" y="2654398"/>
              <a:ext cx="2824912" cy="463717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完善⾯向 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prompt + memory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的双闭环⾃进化机制</a:t>
              </a:r>
              <a:endParaRPr kumimoji="0" lang="en-US" altLang="zh-CN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/>
          </p:nvSpPr>
          <p:spPr bwMode="auto">
            <a:xfrm>
              <a:off x="8198473" y="2256057"/>
              <a:ext cx="2655039" cy="369332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en-US"/>
              </a:defPPr>
              <a:lvl1pPr>
                <a:defRPr sz="2800" b="1" spc="30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Segoe UI Light" panose="020B0502040204020203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1200" cap="none" spc="30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rPr>
                <a:t>实现⾃进化与双闭环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85775" y="374650"/>
            <a:ext cx="2885440" cy="551180"/>
            <a:chOff x="449" y="450"/>
            <a:chExt cx="4544" cy="868"/>
          </a:xfrm>
        </p:grpSpPr>
        <p:grpSp>
          <p:nvGrpSpPr>
            <p:cNvPr id="9" name="组合 8"/>
            <p:cNvGrpSpPr/>
            <p:nvPr/>
          </p:nvGrpSpPr>
          <p:grpSpPr>
            <a:xfrm>
              <a:off x="449" y="450"/>
              <a:ext cx="887" cy="869"/>
              <a:chOff x="257122" y="251474"/>
              <a:chExt cx="563036" cy="551755"/>
            </a:xfrm>
          </p:grpSpPr>
          <p:sp>
            <p:nvSpPr>
              <p:cNvPr id="10" name="椭圆 9"/>
              <p:cNvSpPr/>
              <p:nvPr/>
            </p:nvSpPr>
            <p:spPr>
              <a:xfrm>
                <a:off x="689634" y="705466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57122" y="538113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89926" y="272997"/>
                <a:ext cx="530232" cy="530232"/>
              </a:xfrm>
              <a:prstGeom prst="ellipse">
                <a:avLst/>
              </a:prstGeom>
              <a:noFill/>
              <a:ln w="3175">
                <a:solidFill>
                  <a:srgbClr val="2BA89C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620885" y="251474"/>
                <a:ext cx="79833" cy="79833"/>
              </a:xfrm>
              <a:prstGeom prst="ellipse">
                <a:avLst/>
              </a:prstGeom>
              <a:solidFill>
                <a:srgbClr val="48C5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1477" y="576"/>
              <a:ext cx="351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000" b="1">
                  <a:solidFill>
                    <a:srgbClr val="2BA89C"/>
                  </a:solidFill>
                  <a:latin typeface="Arial"/>
                  <a:ea typeface="微软雅黑"/>
                  <a:cs typeface="+mn-ea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2BA89C"/>
                  </a:solidFill>
                  <a:effectLst/>
                  <a:uLnTx/>
                  <a:uFillTx/>
                  <a:latin typeface="微软雅黑"/>
                  <a:ea typeface="微软雅黑"/>
                  <a:sym typeface="+mn-lt"/>
                </a:rPr>
                <a:t>下阶段推进及安排</a:t>
              </a:r>
            </a:p>
          </p:txBody>
        </p:sp>
      </p:grpSp>
      <p:sp>
        <p:nvSpPr>
          <p:cNvPr id="15" name="iśḻïďé">
            <a:extLst>
              <a:ext uri="{FF2B5EF4-FFF2-40B4-BE49-F238E27FC236}">
                <a16:creationId xmlns:a16="http://schemas.microsoft.com/office/drawing/2014/main" id="{7A7C5D4F-85F9-26FB-1445-FF8D7DCDA52F}"/>
              </a:ext>
            </a:extLst>
          </p:cNvPr>
          <p:cNvSpPr/>
          <p:nvPr/>
        </p:nvSpPr>
        <p:spPr bwMode="auto">
          <a:xfrm>
            <a:off x="3172292" y="3226743"/>
            <a:ext cx="750297" cy="2054326"/>
          </a:xfrm>
          <a:prstGeom prst="ellipse">
            <a:avLst/>
          </a:pr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îşlïďè">
            <a:extLst>
              <a:ext uri="{FF2B5EF4-FFF2-40B4-BE49-F238E27FC236}">
                <a16:creationId xmlns:a16="http://schemas.microsoft.com/office/drawing/2014/main" id="{D1082975-2A18-E9C9-C6AE-6F029DD72946}"/>
              </a:ext>
            </a:extLst>
          </p:cNvPr>
          <p:cNvSpPr/>
          <p:nvPr/>
        </p:nvSpPr>
        <p:spPr bwMode="auto">
          <a:xfrm>
            <a:off x="2519878" y="3226743"/>
            <a:ext cx="1027563" cy="2054326"/>
          </a:xfrm>
          <a:custGeom>
            <a:avLst/>
            <a:gdLst>
              <a:gd name="T0" fmla="*/ 690 w 1087"/>
              <a:gd name="T1" fmla="*/ 1087 h 2174"/>
              <a:gd name="T2" fmla="*/ 1087 w 1087"/>
              <a:gd name="T3" fmla="*/ 0 h 2174"/>
              <a:gd name="T4" fmla="*/ 0 w 1087"/>
              <a:gd name="T5" fmla="*/ 1087 h 2174"/>
              <a:gd name="T6" fmla="*/ 1087 w 1087"/>
              <a:gd name="T7" fmla="*/ 2174 h 2174"/>
              <a:gd name="T8" fmla="*/ 1087 w 1087"/>
              <a:gd name="T9" fmla="*/ 2174 h 2174"/>
              <a:gd name="T10" fmla="*/ 690 w 1087"/>
              <a:gd name="T11" fmla="*/ 1087 h 2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87" h="2174">
                <a:moveTo>
                  <a:pt x="690" y="1087"/>
                </a:moveTo>
                <a:cubicBezTo>
                  <a:pt x="690" y="487"/>
                  <a:pt x="868" y="0"/>
                  <a:pt x="1087" y="0"/>
                </a:cubicBezTo>
                <a:cubicBezTo>
                  <a:pt x="487" y="0"/>
                  <a:pt x="0" y="487"/>
                  <a:pt x="0" y="1087"/>
                </a:cubicBezTo>
                <a:cubicBezTo>
                  <a:pt x="0" y="1687"/>
                  <a:pt x="487" y="2174"/>
                  <a:pt x="1087" y="2174"/>
                </a:cubicBezTo>
                <a:cubicBezTo>
                  <a:pt x="1087" y="2174"/>
                  <a:pt x="1087" y="2174"/>
                  <a:pt x="1087" y="2174"/>
                </a:cubicBezTo>
                <a:cubicBezTo>
                  <a:pt x="868" y="2174"/>
                  <a:pt x="690" y="1687"/>
                  <a:pt x="690" y="1087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8" name="îṧḷîďê">
            <a:extLst>
              <a:ext uri="{FF2B5EF4-FFF2-40B4-BE49-F238E27FC236}">
                <a16:creationId xmlns:a16="http://schemas.microsoft.com/office/drawing/2014/main" id="{EBC464FD-78EF-7E12-D53B-57FFB04FB5C1}"/>
              </a:ext>
            </a:extLst>
          </p:cNvPr>
          <p:cNvSpPr/>
          <p:nvPr/>
        </p:nvSpPr>
        <p:spPr bwMode="auto">
          <a:xfrm>
            <a:off x="3260921" y="3981253"/>
            <a:ext cx="1236112" cy="584097"/>
          </a:xfrm>
          <a:custGeom>
            <a:avLst/>
            <a:gdLst>
              <a:gd name="T0" fmla="*/ 1042 w 1308"/>
              <a:gd name="T1" fmla="*/ 96 h 618"/>
              <a:gd name="T2" fmla="*/ 602 w 1308"/>
              <a:gd name="T3" fmla="*/ 0 h 618"/>
              <a:gd name="T4" fmla="*/ 0 w 1308"/>
              <a:gd name="T5" fmla="*/ 602 h 618"/>
              <a:gd name="T6" fmla="*/ 301 w 1308"/>
              <a:gd name="T7" fmla="*/ 618 h 618"/>
              <a:gd name="T8" fmla="*/ 1042 w 1308"/>
              <a:gd name="T9" fmla="*/ 506 h 618"/>
              <a:gd name="T10" fmla="*/ 1308 w 1308"/>
              <a:gd name="T11" fmla="*/ 301 h 618"/>
              <a:gd name="T12" fmla="*/ 1042 w 1308"/>
              <a:gd name="T13" fmla="*/ 96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08" h="618">
                <a:moveTo>
                  <a:pt x="1042" y="96"/>
                </a:moveTo>
                <a:cubicBezTo>
                  <a:pt x="918" y="50"/>
                  <a:pt x="767" y="18"/>
                  <a:pt x="602" y="0"/>
                </a:cubicBezTo>
                <a:cubicBezTo>
                  <a:pt x="0" y="602"/>
                  <a:pt x="0" y="602"/>
                  <a:pt x="0" y="602"/>
                </a:cubicBezTo>
                <a:cubicBezTo>
                  <a:pt x="96" y="612"/>
                  <a:pt x="197" y="618"/>
                  <a:pt x="301" y="618"/>
                </a:cubicBezTo>
                <a:cubicBezTo>
                  <a:pt x="582" y="618"/>
                  <a:pt x="846" y="578"/>
                  <a:pt x="1042" y="506"/>
                </a:cubicBezTo>
                <a:cubicBezTo>
                  <a:pt x="1238" y="435"/>
                  <a:pt x="1308" y="353"/>
                  <a:pt x="1308" y="301"/>
                </a:cubicBezTo>
                <a:cubicBezTo>
                  <a:pt x="1308" y="249"/>
                  <a:pt x="1238" y="167"/>
                  <a:pt x="1042" y="96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ï$ľîdê">
            <a:extLst>
              <a:ext uri="{FF2B5EF4-FFF2-40B4-BE49-F238E27FC236}">
                <a16:creationId xmlns:a16="http://schemas.microsoft.com/office/drawing/2014/main" id="{71AFAA06-9B5A-E8F2-FE74-7A4F524D6FE9}"/>
              </a:ext>
            </a:extLst>
          </p:cNvPr>
          <p:cNvSpPr/>
          <p:nvPr/>
        </p:nvSpPr>
        <p:spPr bwMode="auto">
          <a:xfrm>
            <a:off x="3262983" y="4253906"/>
            <a:ext cx="1236112" cy="951254"/>
          </a:xfrm>
          <a:custGeom>
            <a:avLst/>
            <a:gdLst>
              <a:gd name="T0" fmla="*/ 1308 w 1308"/>
              <a:gd name="T1" fmla="*/ 0 h 1007"/>
              <a:gd name="T2" fmla="*/ 1042 w 1308"/>
              <a:gd name="T3" fmla="*/ 205 h 1007"/>
              <a:gd name="T4" fmla="*/ 301 w 1308"/>
              <a:gd name="T5" fmla="*/ 317 h 1007"/>
              <a:gd name="T6" fmla="*/ 0 w 1308"/>
              <a:gd name="T7" fmla="*/ 301 h 1007"/>
              <a:gd name="T8" fmla="*/ 96 w 1308"/>
              <a:gd name="T9" fmla="*/ 741 h 1007"/>
              <a:gd name="T10" fmla="*/ 301 w 1308"/>
              <a:gd name="T11" fmla="*/ 1007 h 1007"/>
              <a:gd name="T12" fmla="*/ 301 w 1308"/>
              <a:gd name="T13" fmla="*/ 1007 h 1007"/>
              <a:gd name="T14" fmla="*/ 1013 w 1308"/>
              <a:gd name="T15" fmla="*/ 712 h 1007"/>
              <a:gd name="T16" fmla="*/ 1308 w 1308"/>
              <a:gd name="T17" fmla="*/ 0 h 1007"/>
              <a:gd name="T18" fmla="*/ 1308 w 1308"/>
              <a:gd name="T19" fmla="*/ 0 h 10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08" h="1007">
                <a:moveTo>
                  <a:pt x="1308" y="0"/>
                </a:moveTo>
                <a:cubicBezTo>
                  <a:pt x="1308" y="53"/>
                  <a:pt x="1238" y="134"/>
                  <a:pt x="1042" y="205"/>
                </a:cubicBezTo>
                <a:cubicBezTo>
                  <a:pt x="846" y="277"/>
                  <a:pt x="582" y="317"/>
                  <a:pt x="301" y="317"/>
                </a:cubicBezTo>
                <a:cubicBezTo>
                  <a:pt x="197" y="317"/>
                  <a:pt x="96" y="311"/>
                  <a:pt x="0" y="301"/>
                </a:cubicBezTo>
                <a:cubicBezTo>
                  <a:pt x="18" y="466"/>
                  <a:pt x="50" y="617"/>
                  <a:pt x="96" y="741"/>
                </a:cubicBezTo>
                <a:cubicBezTo>
                  <a:pt x="167" y="937"/>
                  <a:pt x="249" y="1007"/>
                  <a:pt x="301" y="1007"/>
                </a:cubicBezTo>
                <a:cubicBezTo>
                  <a:pt x="301" y="1007"/>
                  <a:pt x="301" y="1007"/>
                  <a:pt x="301" y="1007"/>
                </a:cubicBezTo>
                <a:cubicBezTo>
                  <a:pt x="570" y="1007"/>
                  <a:pt x="823" y="902"/>
                  <a:pt x="1013" y="712"/>
                </a:cubicBezTo>
                <a:cubicBezTo>
                  <a:pt x="1203" y="522"/>
                  <a:pt x="1308" y="269"/>
                  <a:pt x="1308" y="0"/>
                </a:cubicBezTo>
                <a:cubicBezTo>
                  <a:pt x="1308" y="0"/>
                  <a:pt x="1308" y="0"/>
                  <a:pt x="1308" y="0"/>
                </a:cubicBezTo>
              </a:path>
            </a:pathLst>
          </a:custGeom>
          <a:gradFill>
            <a:gsLst>
              <a:gs pos="29000">
                <a:srgbClr val="80508A"/>
              </a:gs>
              <a:gs pos="12000">
                <a:srgbClr val="56365C"/>
              </a:gs>
              <a:gs pos="71000">
                <a:srgbClr val="E57BA3"/>
              </a:gs>
              <a:gs pos="90000">
                <a:srgbClr val="EE7EA3"/>
              </a:gs>
              <a:gs pos="49000">
                <a:srgbClr val="975FA2"/>
              </a:gs>
              <a:gs pos="100000">
                <a:srgbClr val="FF84A4"/>
              </a:gs>
            </a:gsLst>
            <a:path path="circle">
              <a:fillToRect l="100000" b="10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iṩľídê">
            <a:extLst>
              <a:ext uri="{FF2B5EF4-FFF2-40B4-BE49-F238E27FC236}">
                <a16:creationId xmlns:a16="http://schemas.microsoft.com/office/drawing/2014/main" id="{8FA3CDD7-8D38-B847-3E3B-FE2C810BE1CB}"/>
              </a:ext>
            </a:extLst>
          </p:cNvPr>
          <p:cNvSpPr/>
          <p:nvPr/>
        </p:nvSpPr>
        <p:spPr bwMode="auto">
          <a:xfrm>
            <a:off x="3547440" y="3377761"/>
            <a:ext cx="876145" cy="958446"/>
          </a:xfrm>
          <a:custGeom>
            <a:avLst/>
            <a:gdLst>
              <a:gd name="T0" fmla="*/ 552 w 927"/>
              <a:gd name="T1" fmla="*/ 303 h 1014"/>
              <a:gd name="T2" fmla="*/ 815 w 927"/>
              <a:gd name="T3" fmla="*/ 1014 h 1014"/>
              <a:gd name="T4" fmla="*/ 926 w 927"/>
              <a:gd name="T5" fmla="*/ 927 h 1014"/>
              <a:gd name="T6" fmla="*/ 927 w 927"/>
              <a:gd name="T7" fmla="*/ 927 h 1014"/>
              <a:gd name="T8" fmla="*/ 656 w 927"/>
              <a:gd name="T9" fmla="*/ 271 h 1014"/>
              <a:gd name="T10" fmla="*/ 0 w 927"/>
              <a:gd name="T11" fmla="*/ 0 h 1014"/>
              <a:gd name="T12" fmla="*/ 552 w 927"/>
              <a:gd name="T13" fmla="*/ 303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27" h="1014">
                <a:moveTo>
                  <a:pt x="552" y="303"/>
                </a:moveTo>
                <a:cubicBezTo>
                  <a:pt x="703" y="499"/>
                  <a:pt x="815" y="766"/>
                  <a:pt x="815" y="1014"/>
                </a:cubicBezTo>
                <a:cubicBezTo>
                  <a:pt x="891" y="975"/>
                  <a:pt x="920" y="941"/>
                  <a:pt x="926" y="927"/>
                </a:cubicBezTo>
                <a:cubicBezTo>
                  <a:pt x="927" y="927"/>
                  <a:pt x="927" y="927"/>
                  <a:pt x="927" y="927"/>
                </a:cubicBezTo>
                <a:cubicBezTo>
                  <a:pt x="927" y="679"/>
                  <a:pt x="831" y="446"/>
                  <a:pt x="656" y="271"/>
                </a:cubicBezTo>
                <a:cubicBezTo>
                  <a:pt x="481" y="96"/>
                  <a:pt x="248" y="0"/>
                  <a:pt x="0" y="0"/>
                </a:cubicBezTo>
                <a:cubicBezTo>
                  <a:pt x="248" y="0"/>
                  <a:pt x="503" y="239"/>
                  <a:pt x="552" y="303"/>
                </a:cubicBezTo>
                <a:close/>
              </a:path>
            </a:pathLst>
          </a:custGeom>
          <a:solidFill>
            <a:srgbClr val="80508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îS1iďe">
            <a:extLst>
              <a:ext uri="{FF2B5EF4-FFF2-40B4-BE49-F238E27FC236}">
                <a16:creationId xmlns:a16="http://schemas.microsoft.com/office/drawing/2014/main" id="{F5B90E87-1918-548A-120E-6A33D4547F94}"/>
              </a:ext>
            </a:extLst>
          </p:cNvPr>
          <p:cNvSpPr/>
          <p:nvPr/>
        </p:nvSpPr>
        <p:spPr bwMode="auto">
          <a:xfrm>
            <a:off x="3547440" y="3377761"/>
            <a:ext cx="770273" cy="958446"/>
          </a:xfrm>
          <a:custGeom>
            <a:avLst/>
            <a:gdLst>
              <a:gd name="T0" fmla="*/ 0 w 815"/>
              <a:gd name="T1" fmla="*/ 1 h 1014"/>
              <a:gd name="T2" fmla="*/ 0 w 815"/>
              <a:gd name="T3" fmla="*/ 927 h 1014"/>
              <a:gd name="T4" fmla="*/ 815 w 815"/>
              <a:gd name="T5" fmla="*/ 1014 h 1014"/>
              <a:gd name="T6" fmla="*/ 552 w 815"/>
              <a:gd name="T7" fmla="*/ 286 h 1014"/>
              <a:gd name="T8" fmla="*/ 0 w 815"/>
              <a:gd name="T9" fmla="*/ 0 h 1014"/>
              <a:gd name="T10" fmla="*/ 0 w 815"/>
              <a:gd name="T11" fmla="*/ 1 h 10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15" h="1014">
                <a:moveTo>
                  <a:pt x="0" y="1"/>
                </a:moveTo>
                <a:cubicBezTo>
                  <a:pt x="0" y="927"/>
                  <a:pt x="0" y="927"/>
                  <a:pt x="0" y="927"/>
                </a:cubicBezTo>
                <a:cubicBezTo>
                  <a:pt x="815" y="1014"/>
                  <a:pt x="815" y="1014"/>
                  <a:pt x="815" y="1014"/>
                </a:cubicBezTo>
                <a:cubicBezTo>
                  <a:pt x="815" y="766"/>
                  <a:pt x="727" y="461"/>
                  <a:pt x="552" y="286"/>
                </a:cubicBezTo>
                <a:cubicBezTo>
                  <a:pt x="411" y="145"/>
                  <a:pt x="248" y="0"/>
                  <a:pt x="0" y="0"/>
                </a:cubicBezTo>
                <a:lnTo>
                  <a:pt x="0" y="1"/>
                </a:lnTo>
                <a:close/>
              </a:path>
            </a:pathLst>
          </a:custGeom>
          <a:solidFill>
            <a:srgbClr val="56365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íśļîḑé">
            <a:extLst>
              <a:ext uri="{FF2B5EF4-FFF2-40B4-BE49-F238E27FC236}">
                <a16:creationId xmlns:a16="http://schemas.microsoft.com/office/drawing/2014/main" id="{B356B92A-7624-D156-3B75-64387BF31524}"/>
              </a:ext>
            </a:extLst>
          </p:cNvPr>
          <p:cNvSpPr/>
          <p:nvPr/>
        </p:nvSpPr>
        <p:spPr bwMode="auto">
          <a:xfrm>
            <a:off x="3399219" y="3492423"/>
            <a:ext cx="759885" cy="909705"/>
          </a:xfrm>
          <a:custGeom>
            <a:avLst/>
            <a:gdLst>
              <a:gd name="T0" fmla="*/ 804 w 804"/>
              <a:gd name="T1" fmla="*/ 875 h 963"/>
              <a:gd name="T2" fmla="*/ 589 w 804"/>
              <a:gd name="T3" fmla="*/ 278 h 963"/>
              <a:gd name="T4" fmla="*/ 157 w 804"/>
              <a:gd name="T5" fmla="*/ 0 h 963"/>
              <a:gd name="T6" fmla="*/ 102 w 804"/>
              <a:gd name="T7" fmla="*/ 119 h 963"/>
              <a:gd name="T8" fmla="*/ 4 w 804"/>
              <a:gd name="T9" fmla="*/ 653 h 963"/>
              <a:gd name="T10" fmla="*/ 0 w 804"/>
              <a:gd name="T11" fmla="*/ 806 h 963"/>
              <a:gd name="T12" fmla="*/ 4 w 804"/>
              <a:gd name="T13" fmla="*/ 959 h 963"/>
              <a:gd name="T14" fmla="*/ 157 w 804"/>
              <a:gd name="T15" fmla="*/ 963 h 963"/>
              <a:gd name="T16" fmla="*/ 310 w 804"/>
              <a:gd name="T17" fmla="*/ 959 h 963"/>
              <a:gd name="T18" fmla="*/ 804 w 804"/>
              <a:gd name="T19" fmla="*/ 875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04" h="963">
                <a:moveTo>
                  <a:pt x="804" y="875"/>
                </a:moveTo>
                <a:cubicBezTo>
                  <a:pt x="785" y="653"/>
                  <a:pt x="706" y="418"/>
                  <a:pt x="589" y="278"/>
                </a:cubicBezTo>
                <a:cubicBezTo>
                  <a:pt x="456" y="119"/>
                  <a:pt x="323" y="24"/>
                  <a:pt x="157" y="0"/>
                </a:cubicBezTo>
                <a:cubicBezTo>
                  <a:pt x="141" y="27"/>
                  <a:pt x="122" y="65"/>
                  <a:pt x="102" y="119"/>
                </a:cubicBezTo>
                <a:cubicBezTo>
                  <a:pt x="49" y="264"/>
                  <a:pt x="16" y="450"/>
                  <a:pt x="4" y="653"/>
                </a:cubicBezTo>
                <a:cubicBezTo>
                  <a:pt x="2" y="703"/>
                  <a:pt x="0" y="754"/>
                  <a:pt x="0" y="806"/>
                </a:cubicBezTo>
                <a:cubicBezTo>
                  <a:pt x="0" y="858"/>
                  <a:pt x="2" y="909"/>
                  <a:pt x="4" y="959"/>
                </a:cubicBezTo>
                <a:cubicBezTo>
                  <a:pt x="54" y="961"/>
                  <a:pt x="105" y="963"/>
                  <a:pt x="157" y="963"/>
                </a:cubicBezTo>
                <a:cubicBezTo>
                  <a:pt x="209" y="963"/>
                  <a:pt x="260" y="961"/>
                  <a:pt x="310" y="959"/>
                </a:cubicBezTo>
                <a:cubicBezTo>
                  <a:pt x="495" y="948"/>
                  <a:pt x="666" y="920"/>
                  <a:pt x="804" y="875"/>
                </a:cubicBezTo>
                <a:close/>
              </a:path>
            </a:pathLst>
          </a:custGeom>
          <a:solidFill>
            <a:srgbClr val="FF84A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6F472D72-33F7-83C2-04CC-6307EAA394D8}"/>
              </a:ext>
            </a:extLst>
          </p:cNvPr>
          <p:cNvGrpSpPr/>
          <p:nvPr/>
        </p:nvGrpSpPr>
        <p:grpSpPr>
          <a:xfrm>
            <a:off x="6649421" y="1713134"/>
            <a:ext cx="686644" cy="686644"/>
            <a:chOff x="6708974" y="2051330"/>
            <a:chExt cx="686644" cy="686644"/>
          </a:xfrm>
        </p:grpSpPr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E91241E7-6853-74EC-045A-4394CC163337}"/>
                </a:ext>
              </a:extLst>
            </p:cNvPr>
            <p:cNvSpPr/>
            <p:nvPr/>
          </p:nvSpPr>
          <p:spPr>
            <a:xfrm>
              <a:off x="6708974" y="2051330"/>
              <a:ext cx="686644" cy="686644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C0366B2E-901B-183D-B09E-1B2D35B0446A}"/>
                </a:ext>
              </a:extLst>
            </p:cNvPr>
            <p:cNvSpPr txBox="1"/>
            <p:nvPr/>
          </p:nvSpPr>
          <p:spPr>
            <a:xfrm>
              <a:off x="6842853" y="2137600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1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54058BF-1F88-7221-E757-65C47236C40A}"/>
              </a:ext>
            </a:extLst>
          </p:cNvPr>
          <p:cNvGrpSpPr/>
          <p:nvPr/>
        </p:nvGrpSpPr>
        <p:grpSpPr>
          <a:xfrm>
            <a:off x="7992649" y="3250304"/>
            <a:ext cx="630200" cy="630200"/>
            <a:chOff x="6351496" y="3317075"/>
            <a:chExt cx="630200" cy="630200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B153893C-0EC6-03A7-7D4F-6BEE9AF1FC5B}"/>
                </a:ext>
              </a:extLst>
            </p:cNvPr>
            <p:cNvSpPr/>
            <p:nvPr/>
          </p:nvSpPr>
          <p:spPr>
            <a:xfrm>
              <a:off x="6351496" y="3317075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DFB34715-8CB5-2D19-2DD0-37F389295F1F}"/>
                </a:ext>
              </a:extLst>
            </p:cNvPr>
            <p:cNvSpPr txBox="1"/>
            <p:nvPr/>
          </p:nvSpPr>
          <p:spPr>
            <a:xfrm>
              <a:off x="6468934" y="3370565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2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DD5A93D9-3F50-9CA9-FD54-AAD4CF8227BF}"/>
              </a:ext>
            </a:extLst>
          </p:cNvPr>
          <p:cNvGrpSpPr/>
          <p:nvPr/>
        </p:nvGrpSpPr>
        <p:grpSpPr>
          <a:xfrm>
            <a:off x="6980889" y="4890060"/>
            <a:ext cx="630200" cy="630200"/>
            <a:chOff x="7595582" y="4425846"/>
            <a:chExt cx="630200" cy="630200"/>
          </a:xfrm>
        </p:grpSpPr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42EA6A98-6276-E73E-5BE6-1FC2286FA3DF}"/>
                </a:ext>
              </a:extLst>
            </p:cNvPr>
            <p:cNvSpPr/>
            <p:nvPr/>
          </p:nvSpPr>
          <p:spPr>
            <a:xfrm>
              <a:off x="7595582" y="4425846"/>
              <a:ext cx="630200" cy="630200"/>
            </a:xfrm>
            <a:prstGeom prst="ellipse">
              <a:avLst/>
            </a:prstGeom>
            <a:gradFill>
              <a:gsLst>
                <a:gs pos="0">
                  <a:srgbClr val="2BA89C"/>
                </a:gs>
                <a:gs pos="83000">
                  <a:srgbClr val="0E4B7A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</a:endParaRPr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3842DF13-DFEF-F0AA-4DFD-F32291B90990}"/>
                </a:ext>
              </a:extLst>
            </p:cNvPr>
            <p:cNvSpPr txBox="1"/>
            <p:nvPr/>
          </p:nvSpPr>
          <p:spPr>
            <a:xfrm>
              <a:off x="7700351" y="4479336"/>
              <a:ext cx="2776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3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摄图网_400789432"/>
          <p:cNvPicPr>
            <a:picLocks noChangeAspect="1"/>
          </p:cNvPicPr>
          <p:nvPr/>
        </p:nvPicPr>
        <p:blipFill>
          <a:blip r:embed="rId3" cstate="email">
            <a:lum bright="-6000"/>
          </a:blip>
          <a:srcRect/>
          <a:stretch>
            <a:fillRect/>
          </a:stretch>
        </p:blipFill>
        <p:spPr>
          <a:xfrm>
            <a:off x="10191115" y="-1214755"/>
            <a:ext cx="3005455" cy="2978150"/>
          </a:xfrm>
          <a:prstGeom prst="ellipse">
            <a:avLst/>
          </a:prstGeom>
        </p:spPr>
      </p:pic>
      <p:pic>
        <p:nvPicPr>
          <p:cNvPr id="3" name="图片 2" descr="摄图网_400789432"/>
          <p:cNvPicPr>
            <a:picLocks noChangeAspect="1"/>
          </p:cNvPicPr>
          <p:nvPr/>
        </p:nvPicPr>
        <p:blipFill>
          <a:blip r:embed="rId4" cstate="email">
            <a:lum bright="-6000"/>
          </a:blip>
          <a:srcRect/>
          <a:stretch>
            <a:fillRect/>
          </a:stretch>
        </p:blipFill>
        <p:spPr>
          <a:xfrm>
            <a:off x="749935" y="4787900"/>
            <a:ext cx="1100455" cy="1106170"/>
          </a:xfrm>
          <a:prstGeom prst="ellipse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9406863" y="5173238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435668" y="883416"/>
            <a:ext cx="119509" cy="11950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9478936" y="5249438"/>
            <a:ext cx="170330" cy="170330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11511394" y="5173238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1511394" y="5533693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11511394" y="5898687"/>
            <a:ext cx="103404" cy="10340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684569" y="940850"/>
            <a:ext cx="4822861" cy="4822861"/>
          </a:xfrm>
          <a:prstGeom prst="ellipse">
            <a:avLst/>
          </a:prstGeom>
          <a:solidFill>
            <a:srgbClr val="0E4B7A">
              <a:alpha val="40000"/>
            </a:srgb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327844" y="556455"/>
            <a:ext cx="5536310" cy="5536310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3358878" y="4192050"/>
            <a:ext cx="322730" cy="32273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430951" y="4268250"/>
            <a:ext cx="170330" cy="170330"/>
          </a:xfrm>
          <a:prstGeom prst="ellipse">
            <a:avLst/>
          </a:prstGeom>
          <a:solidFill>
            <a:srgbClr val="0E4B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3909" y="691184"/>
            <a:ext cx="217150" cy="21715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7194145" y="746046"/>
            <a:ext cx="114607" cy="114607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644229" y="832648"/>
            <a:ext cx="80680" cy="8068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6" name="椭圆 35"/>
          <p:cNvSpPr/>
          <p:nvPr/>
        </p:nvSpPr>
        <p:spPr>
          <a:xfrm>
            <a:off x="9624692" y="1843779"/>
            <a:ext cx="104181" cy="104181"/>
          </a:xfrm>
          <a:prstGeom prst="ellipse">
            <a:avLst/>
          </a:prstGeom>
          <a:solidFill>
            <a:srgbClr val="48C5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9174285" y="5109010"/>
            <a:ext cx="140428" cy="140428"/>
            <a:chOff x="9572355" y="5049973"/>
            <a:chExt cx="322730" cy="322730"/>
          </a:xfrm>
        </p:grpSpPr>
        <p:sp>
          <p:nvSpPr>
            <p:cNvPr id="37" name="椭圆 36"/>
            <p:cNvSpPr/>
            <p:nvPr/>
          </p:nvSpPr>
          <p:spPr>
            <a:xfrm>
              <a:off x="9572355" y="5049973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9644428" y="5126173"/>
              <a:ext cx="170330" cy="170330"/>
            </a:xfrm>
            <a:prstGeom prst="ellipse">
              <a:avLst/>
            </a:prstGeom>
            <a:solidFill>
              <a:srgbClr val="48C5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2945731" y="5276642"/>
            <a:ext cx="157238" cy="157238"/>
            <a:chOff x="2579606" y="4476642"/>
            <a:chExt cx="322730" cy="322730"/>
          </a:xfrm>
        </p:grpSpPr>
        <p:sp>
          <p:nvSpPr>
            <p:cNvPr id="40" name="椭圆 39"/>
            <p:cNvSpPr/>
            <p:nvPr/>
          </p:nvSpPr>
          <p:spPr>
            <a:xfrm>
              <a:off x="2579606" y="4476642"/>
              <a:ext cx="322730" cy="3227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2651679" y="4552842"/>
              <a:ext cx="170330" cy="170330"/>
            </a:xfrm>
            <a:prstGeom prst="ellipse">
              <a:avLst/>
            </a:prstGeom>
            <a:solidFill>
              <a:srgbClr val="0E4B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endParaRPr>
            </a:p>
          </p:txBody>
        </p:sp>
      </p:grpSp>
      <p:sp>
        <p:nvSpPr>
          <p:cNvPr id="46" name="椭圆 45"/>
          <p:cNvSpPr/>
          <p:nvPr/>
        </p:nvSpPr>
        <p:spPr>
          <a:xfrm>
            <a:off x="2146231" y="-561629"/>
            <a:ext cx="7827818" cy="7827818"/>
          </a:xfrm>
          <a:prstGeom prst="ellipse">
            <a:avLst/>
          </a:prstGeom>
          <a:noFill/>
          <a:ln w="3175">
            <a:solidFill>
              <a:srgbClr val="0E4B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pic>
        <p:nvPicPr>
          <p:cNvPr id="48" name="图片 47" descr="图片包含 就坐&#10;&#10;描述已自动生成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3570247" y="730353"/>
            <a:ext cx="5010676" cy="501067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342320" y="1978737"/>
            <a:ext cx="5676900" cy="2047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600" b="1" i="0" u="none" strike="noStrike" kern="1200" cap="none" spc="-1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THANKS</a:t>
            </a:r>
            <a:endParaRPr kumimoji="0" lang="zh-CN" altLang="en-US" sz="9600" b="1" i="0" u="none" strike="noStrike" kern="1200" cap="none" spc="-1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021356-7238-4589-364E-9CD8083B16C7}"/>
              </a:ext>
            </a:extLst>
          </p:cNvPr>
          <p:cNvSpPr txBox="1"/>
          <p:nvPr/>
        </p:nvSpPr>
        <p:spPr>
          <a:xfrm>
            <a:off x="3871723" y="5249438"/>
            <a:ext cx="4707780" cy="700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团队成员：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 B C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时间：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2026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27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日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943AD0-79DA-C3A1-70D4-EF1B38B7FA4D}"/>
              </a:ext>
            </a:extLst>
          </p:cNvPr>
          <p:cNvSpPr txBox="1"/>
          <p:nvPr/>
        </p:nvSpPr>
        <p:spPr>
          <a:xfrm>
            <a:off x="2625887" y="3848556"/>
            <a:ext cx="74566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面向智能客服的</a:t>
            </a:r>
            <a:r>
              <a:rPr kumimoji="0" lang="en-US" altLang="zh-CN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AI Agent </a:t>
            </a:r>
            <a:r>
              <a:rPr kumimoji="0" lang="zh-CN" altLang="en-US" sz="2000" b="0" i="0" u="none" strike="noStrike" kern="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血糖管理自进化系统</a:t>
            </a:r>
            <a:endParaRPr kumimoji="0" lang="zh-CN" altLang="en-US" sz="600" b="0" i="0" u="none" strike="noStrike" kern="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第一PPT，www.1ppt.com">
  <a:themeElements>
    <a:clrScheme name="自定义 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E3E3E"/>
      </a:accent1>
      <a:accent2>
        <a:srgbClr val="4D4D4D"/>
      </a:accent2>
      <a:accent3>
        <a:srgbClr val="717171"/>
      </a:accent3>
      <a:accent4>
        <a:srgbClr val="919191"/>
      </a:accent4>
      <a:accent5>
        <a:srgbClr val="A5A5A5"/>
      </a:accent5>
      <a:accent6>
        <a:srgbClr val="D7D7D7"/>
      </a:accent6>
      <a:hlink>
        <a:srgbClr val="3E3E3E"/>
      </a:hlink>
      <a:folHlink>
        <a:srgbClr val="BFBFB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主题5">
  <a:themeElements>
    <a:clrScheme name="自定义 3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1B64D"/>
      </a:accent1>
      <a:accent2>
        <a:srgbClr val="AAA38E"/>
      </a:accent2>
      <a:accent3>
        <a:srgbClr val="857D64"/>
      </a:accent3>
      <a:accent4>
        <a:srgbClr val="5E759C"/>
      </a:accent4>
      <a:accent5>
        <a:srgbClr val="8496B0"/>
      </a:accent5>
      <a:accent6>
        <a:srgbClr val="44546A"/>
      </a:accent6>
      <a:hlink>
        <a:srgbClr val="0563C1"/>
      </a:hlink>
      <a:folHlink>
        <a:srgbClr val="954F72"/>
      </a:folHlink>
    </a:clrScheme>
    <a:fontScheme name="em0canir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">
    <a:dk1>
      <a:srgbClr val="000000"/>
    </a:dk1>
    <a:lt1>
      <a:srgbClr val="FFFFFF"/>
    </a:lt1>
    <a:dk2>
      <a:srgbClr val="768395"/>
    </a:dk2>
    <a:lt2>
      <a:srgbClr val="F0F0F0"/>
    </a:lt2>
    <a:accent1>
      <a:srgbClr val="3E3E3E"/>
    </a:accent1>
    <a:accent2>
      <a:srgbClr val="4D4D4D"/>
    </a:accent2>
    <a:accent3>
      <a:srgbClr val="717171"/>
    </a:accent3>
    <a:accent4>
      <a:srgbClr val="919191"/>
    </a:accent4>
    <a:accent5>
      <a:srgbClr val="A5A5A5"/>
    </a:accent5>
    <a:accent6>
      <a:srgbClr val="D7D7D7"/>
    </a:accent6>
    <a:hlink>
      <a:srgbClr val="3E3E3E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815</Words>
  <Application>Microsoft Office PowerPoint</Application>
  <PresentationFormat>宽屏</PresentationFormat>
  <Paragraphs>184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.PingFangUITextSC-Regular</vt:lpstr>
      <vt:lpstr>Lato Hairline</vt:lpstr>
      <vt:lpstr>Lato Regular</vt:lpstr>
      <vt:lpstr>var(--ds-font-family-code)</vt:lpstr>
      <vt:lpstr>等线</vt:lpstr>
      <vt:lpstr>等线 Light</vt:lpstr>
      <vt:lpstr>宋体</vt:lpstr>
      <vt:lpstr>微软雅黑</vt:lpstr>
      <vt:lpstr>印品粗朗体</vt:lpstr>
      <vt:lpstr>Arial</vt:lpstr>
      <vt:lpstr>Calibri</vt:lpstr>
      <vt:lpstr>Lato Light</vt:lpstr>
      <vt:lpstr>OCR A Extended</vt:lpstr>
      <vt:lpstr>Wingdings</vt:lpstr>
      <vt:lpstr>Office 主题​​</vt:lpstr>
      <vt:lpstr>第一PPT，www.1ppt.com</vt:lpstr>
      <vt:lpstr>1_第一PPT，www.1ppt.com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孺 舒</dc:creator>
  <cp:lastModifiedBy>孺 舒</cp:lastModifiedBy>
  <cp:revision>1</cp:revision>
  <dcterms:created xsi:type="dcterms:W3CDTF">2026-03-26T06:08:38Z</dcterms:created>
  <dcterms:modified xsi:type="dcterms:W3CDTF">2026-03-26T06:11:42Z</dcterms:modified>
</cp:coreProperties>
</file>