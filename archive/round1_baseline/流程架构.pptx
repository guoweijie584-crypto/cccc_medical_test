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1696" r:id="rId4"/>
    <p:sldId id="1697" r:id="rId6"/>
    <p:sldId id="169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4B7A"/>
    <a:srgbClr val="37516D"/>
    <a:srgbClr val="186A85"/>
    <a:srgbClr val="238A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1" d="100"/>
          <a:sy n="91" d="100"/>
        </p:scale>
        <p:origin x="2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57757-769C-4720-8CE4-AED602158A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24C45-0456-460D-AB25-35EB8E70D33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dt="0"/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5" Type="http://schemas.openxmlformats.org/officeDocument/2006/relationships/notesSlide" Target="../notesSlides/notesSlide1.xml"/><Relationship Id="rId44" Type="http://schemas.openxmlformats.org/officeDocument/2006/relationships/slideLayout" Target="../slideLayouts/slideLayout13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9" Type="http://schemas.openxmlformats.org/officeDocument/2006/relationships/notesSlide" Target="../notesSlides/notesSlide2.xml"/><Relationship Id="rId28" Type="http://schemas.openxmlformats.org/officeDocument/2006/relationships/slideLayout" Target="../slideLayouts/slideLayout13.xml"/><Relationship Id="rId27" Type="http://schemas.openxmlformats.org/officeDocument/2006/relationships/tags" Target="../tags/tag70.xml"/><Relationship Id="rId26" Type="http://schemas.openxmlformats.org/officeDocument/2006/relationships/tags" Target="../tags/tag69.xml"/><Relationship Id="rId25" Type="http://schemas.openxmlformats.org/officeDocument/2006/relationships/tags" Target="../tags/tag68.xml"/><Relationship Id="rId24" Type="http://schemas.openxmlformats.org/officeDocument/2006/relationships/tags" Target="../tags/tag67.xml"/><Relationship Id="rId23" Type="http://schemas.openxmlformats.org/officeDocument/2006/relationships/tags" Target="../tags/tag66.xml"/><Relationship Id="rId22" Type="http://schemas.openxmlformats.org/officeDocument/2006/relationships/tags" Target="../tags/tag65.xml"/><Relationship Id="rId21" Type="http://schemas.openxmlformats.org/officeDocument/2006/relationships/tags" Target="../tags/tag64.xml"/><Relationship Id="rId20" Type="http://schemas.openxmlformats.org/officeDocument/2006/relationships/tags" Target="../tags/tag63.xml"/><Relationship Id="rId2" Type="http://schemas.openxmlformats.org/officeDocument/2006/relationships/tags" Target="../tags/tag45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8" Type="http://schemas.openxmlformats.org/officeDocument/2006/relationships/notesSlide" Target="../notesSlides/notesSlide3.xml"/><Relationship Id="rId37" Type="http://schemas.openxmlformats.org/officeDocument/2006/relationships/slideLayout" Target="../slideLayouts/slideLayout13.xml"/><Relationship Id="rId36" Type="http://schemas.openxmlformats.org/officeDocument/2006/relationships/tags" Target="../tags/tag106.xml"/><Relationship Id="rId35" Type="http://schemas.openxmlformats.org/officeDocument/2006/relationships/tags" Target="../tags/tag105.xml"/><Relationship Id="rId34" Type="http://schemas.openxmlformats.org/officeDocument/2006/relationships/tags" Target="../tags/tag104.xml"/><Relationship Id="rId33" Type="http://schemas.openxmlformats.org/officeDocument/2006/relationships/tags" Target="../tags/tag103.xml"/><Relationship Id="rId32" Type="http://schemas.openxmlformats.org/officeDocument/2006/relationships/tags" Target="../tags/tag102.xml"/><Relationship Id="rId31" Type="http://schemas.openxmlformats.org/officeDocument/2006/relationships/tags" Target="../tags/tag101.xml"/><Relationship Id="rId30" Type="http://schemas.openxmlformats.org/officeDocument/2006/relationships/tags" Target="../tags/tag100.xml"/><Relationship Id="rId3" Type="http://schemas.openxmlformats.org/officeDocument/2006/relationships/tags" Target="../tags/tag73.xml"/><Relationship Id="rId29" Type="http://schemas.openxmlformats.org/officeDocument/2006/relationships/tags" Target="../tags/tag99.xml"/><Relationship Id="rId28" Type="http://schemas.openxmlformats.org/officeDocument/2006/relationships/tags" Target="../tags/tag98.xml"/><Relationship Id="rId27" Type="http://schemas.openxmlformats.org/officeDocument/2006/relationships/tags" Target="../tags/tag97.xml"/><Relationship Id="rId26" Type="http://schemas.openxmlformats.org/officeDocument/2006/relationships/tags" Target="../tags/tag96.xml"/><Relationship Id="rId25" Type="http://schemas.openxmlformats.org/officeDocument/2006/relationships/tags" Target="../tags/tag95.xml"/><Relationship Id="rId24" Type="http://schemas.openxmlformats.org/officeDocument/2006/relationships/tags" Target="../tags/tag94.xml"/><Relationship Id="rId23" Type="http://schemas.openxmlformats.org/officeDocument/2006/relationships/tags" Target="../tags/tag93.xml"/><Relationship Id="rId22" Type="http://schemas.openxmlformats.org/officeDocument/2006/relationships/tags" Target="../tags/tag92.xml"/><Relationship Id="rId21" Type="http://schemas.openxmlformats.org/officeDocument/2006/relationships/tags" Target="../tags/tag91.xml"/><Relationship Id="rId20" Type="http://schemas.openxmlformats.org/officeDocument/2006/relationships/tags" Target="../tags/tag90.xml"/><Relationship Id="rId2" Type="http://schemas.openxmlformats.org/officeDocument/2006/relationships/tags" Target="../tags/tag72.xml"/><Relationship Id="rId19" Type="http://schemas.openxmlformats.org/officeDocument/2006/relationships/tags" Target="../tags/tag89.xml"/><Relationship Id="rId18" Type="http://schemas.openxmlformats.org/officeDocument/2006/relationships/tags" Target="../tags/tag88.xml"/><Relationship Id="rId17" Type="http://schemas.openxmlformats.org/officeDocument/2006/relationships/tags" Target="../tags/tag87.xml"/><Relationship Id="rId16" Type="http://schemas.openxmlformats.org/officeDocument/2006/relationships/tags" Target="../tags/tag86.xml"/><Relationship Id="rId15" Type="http://schemas.openxmlformats.org/officeDocument/2006/relationships/tags" Target="../tags/tag85.xml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485775" y="374650"/>
            <a:ext cx="2886075" cy="551815"/>
            <a:chOff x="449" y="450"/>
            <a:chExt cx="4545" cy="869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77" y="576"/>
              <a:ext cx="35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业务流程图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BA8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82" name="文本框 81"/>
          <p:cNvSpPr txBox="1"/>
          <p:nvPr/>
        </p:nvSpPr>
        <p:spPr>
          <a:xfrm>
            <a:off x="9757147" y="6001443"/>
            <a:ext cx="2426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项目整体框架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59" name="组合 58"/>
          <p:cNvGrpSpPr/>
          <p:nvPr>
            <p:custDataLst>
              <p:tags r:id="rId1"/>
            </p:custDataLst>
          </p:nvPr>
        </p:nvGrpSpPr>
        <p:grpSpPr>
          <a:xfrm>
            <a:off x="258445" y="1466215"/>
            <a:ext cx="2703830" cy="2191385"/>
            <a:chOff x="6832" y="590"/>
            <a:chExt cx="4258" cy="3451"/>
          </a:xfrm>
        </p:grpSpPr>
        <p:cxnSp>
          <p:nvCxnSpPr>
            <p:cNvPr id="33" name="直接箭头连接符 32"/>
            <p:cNvCxnSpPr/>
            <p:nvPr/>
          </p:nvCxnSpPr>
          <p:spPr>
            <a:xfrm>
              <a:off x="8751" y="1041"/>
              <a:ext cx="0" cy="611"/>
            </a:xfrm>
            <a:prstGeom prst="straightConnector1">
              <a:avLst/>
            </a:prstGeom>
            <a:noFill/>
            <a:ln w="22225" cap="flat" cmpd="sng" algn="ctr">
              <a:solidFill>
                <a:srgbClr val="AFABAB"/>
              </a:solidFill>
              <a:prstDash val="solid"/>
              <a:miter lim="800000"/>
              <a:headEnd type="none"/>
              <a:tailEnd type="triangle"/>
            </a:ln>
            <a:effectLst/>
          </p:spPr>
        </p:cxnSp>
        <p:sp>
          <p:nvSpPr>
            <p:cNvPr id="44" name="矩形 43"/>
            <p:cNvSpPr/>
            <p:nvPr/>
          </p:nvSpPr>
          <p:spPr>
            <a:xfrm>
              <a:off x="7447" y="590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用户发起咨询</a:t>
              </a:r>
              <a:endParaRPr kumimoji="0" lang="zh-CN" altLang="en-US" sz="1200" b="0" i="0" u="none" strike="noStrike" kern="0" cap="none" spc="0" normalizeH="0" baseline="0" noProof="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2"/>
              </p:custDataLst>
            </p:nvPr>
          </p:nvSpPr>
          <p:spPr>
            <a:xfrm>
              <a:off x="7034" y="2207"/>
              <a:ext cx="3837" cy="1662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3"/>
              </p:custDataLst>
            </p:nvPr>
          </p:nvSpPr>
          <p:spPr>
            <a:xfrm>
              <a:off x="6832" y="2037"/>
              <a:ext cx="4259" cy="2005"/>
            </a:xfrm>
            <a:prstGeom prst="rect">
              <a:avLst/>
            </a:prstGeom>
            <a:noFill/>
            <a:ln w="28575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4"/>
              </p:custDataLst>
            </p:nvPr>
          </p:nvSpPr>
          <p:spPr>
            <a:xfrm>
              <a:off x="7447" y="1694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step 1</a:t>
              </a:r>
              <a:endParaRPr kumimoji="0" lang="en-US" altLang="zh-CN" sz="1200" b="0" i="0" u="none" strike="noStrike" kern="0" cap="none" spc="0" normalizeH="0" baseline="0" noProof="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3" name="文本框 42"/>
            <p:cNvSpPr txBox="1"/>
            <p:nvPr>
              <p:custDataLst>
                <p:tags r:id="rId5"/>
              </p:custDataLst>
            </p:nvPr>
          </p:nvSpPr>
          <p:spPr>
            <a:xfrm>
              <a:off x="7447" y="2345"/>
              <a:ext cx="2883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primary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接收用户消息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6"/>
              </p:custDataLst>
            </p:nvPr>
          </p:nvSpPr>
          <p:spPr>
            <a:xfrm>
              <a:off x="7187" y="2988"/>
              <a:ext cx="3550" cy="630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判断需要咨询哪些专家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识别紧急信号（需立即就医）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7" name="组合 46"/>
          <p:cNvGrpSpPr/>
          <p:nvPr>
            <p:custDataLst>
              <p:tags r:id="rId7"/>
            </p:custDataLst>
          </p:nvPr>
        </p:nvGrpSpPr>
        <p:grpSpPr>
          <a:xfrm>
            <a:off x="258445" y="4167505"/>
            <a:ext cx="2703830" cy="1490345"/>
            <a:chOff x="6832" y="2455"/>
            <a:chExt cx="4258" cy="2347"/>
          </a:xfrm>
        </p:grpSpPr>
        <p:sp>
          <p:nvSpPr>
            <p:cNvPr id="48" name="矩形 47"/>
            <p:cNvSpPr/>
            <p:nvPr>
              <p:custDataLst>
                <p:tags r:id="rId8"/>
              </p:custDataLst>
            </p:nvPr>
          </p:nvSpPr>
          <p:spPr>
            <a:xfrm>
              <a:off x="7034" y="2968"/>
              <a:ext cx="3837" cy="1662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9" name="矩形 48"/>
            <p:cNvSpPr/>
            <p:nvPr>
              <p:custDataLst>
                <p:tags r:id="rId9"/>
              </p:custDataLst>
            </p:nvPr>
          </p:nvSpPr>
          <p:spPr>
            <a:xfrm>
              <a:off x="6832" y="2798"/>
              <a:ext cx="4259" cy="2005"/>
            </a:xfrm>
            <a:prstGeom prst="rect">
              <a:avLst/>
            </a:prstGeom>
            <a:noFill/>
            <a:ln w="28575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0" name="矩形 49"/>
            <p:cNvSpPr/>
            <p:nvPr>
              <p:custDataLst>
                <p:tags r:id="rId10"/>
              </p:custDataLst>
            </p:nvPr>
          </p:nvSpPr>
          <p:spPr>
            <a:xfrm>
              <a:off x="7447" y="2455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step 2</a:t>
              </a:r>
              <a:endParaRPr kumimoji="0" lang="en-US" altLang="zh-CN" sz="1200" b="0" i="0" u="none" strike="noStrike" kern="0" cap="none" spc="0" normalizeH="0" baseline="0" noProof="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11"/>
              </p:custDataLst>
            </p:nvPr>
          </p:nvSpPr>
          <p:spPr>
            <a:xfrm>
              <a:off x="7447" y="3106"/>
              <a:ext cx="2883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primary </a:t>
              </a:r>
              <a:r>
                <a:rPr lang="en-US" altLang="en-US" noProof="0" dirty="0">
                  <a:solidFill>
                    <a:srgbClr val="FFFFFF"/>
                  </a:solidFill>
                  <a:sym typeface="+mn-ea"/>
                </a:rPr>
                <a:t>→</a:t>
              </a:r>
              <a:r>
                <a:rPr lang="en-US" altLang="zh-CN" noProof="0" dirty="0">
                  <a:solidFill>
                    <a:srgbClr val="FFFFFF"/>
                  </a:solidFill>
                  <a:sym typeface="+mn-ea"/>
                </a:rPr>
                <a:t> 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memory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2" name="文本框 51"/>
            <p:cNvSpPr txBox="1"/>
            <p:nvPr>
              <p:custDataLst>
                <p:tags r:id="rId12"/>
              </p:custDataLst>
            </p:nvPr>
          </p:nvSpPr>
          <p:spPr>
            <a:xfrm>
              <a:off x="7187" y="3749"/>
              <a:ext cx="3550" cy="630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请求：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patient_id + query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返回：三层记忆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658235" y="3997960"/>
            <a:ext cx="4851400" cy="2094865"/>
            <a:chOff x="8008" y="5640"/>
            <a:chExt cx="7640" cy="3299"/>
          </a:xfrm>
        </p:grpSpPr>
        <p:sp>
          <p:nvSpPr>
            <p:cNvPr id="54" name="矩形 53"/>
            <p:cNvSpPr/>
            <p:nvPr>
              <p:custDataLst>
                <p:tags r:id="rId13"/>
              </p:custDataLst>
            </p:nvPr>
          </p:nvSpPr>
          <p:spPr>
            <a:xfrm>
              <a:off x="8209" y="6153"/>
              <a:ext cx="7202" cy="2671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5" name="矩形 54"/>
            <p:cNvSpPr/>
            <p:nvPr>
              <p:custDataLst>
                <p:tags r:id="rId14"/>
              </p:custDataLst>
            </p:nvPr>
          </p:nvSpPr>
          <p:spPr>
            <a:xfrm>
              <a:off x="8008" y="5983"/>
              <a:ext cx="7640" cy="2956"/>
            </a:xfrm>
            <a:prstGeom prst="rect">
              <a:avLst/>
            </a:prstGeom>
            <a:noFill/>
            <a:ln w="28575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6" name="矩形 55"/>
            <p:cNvSpPr/>
            <p:nvPr>
              <p:custDataLst>
                <p:tags r:id="rId15"/>
              </p:custDataLst>
            </p:nvPr>
          </p:nvSpPr>
          <p:spPr>
            <a:xfrm>
              <a:off x="10296" y="5640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step 3</a:t>
              </a:r>
              <a:endParaRPr kumimoji="0" lang="en-US" altLang="zh-CN" sz="1200" b="0" i="0" u="none" strike="noStrike" kern="0" cap="none" spc="0" normalizeH="0" baseline="0" noProof="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6"/>
              </p:custDataLst>
            </p:nvPr>
          </p:nvSpPr>
          <p:spPr>
            <a:xfrm>
              <a:off x="10296" y="6291"/>
              <a:ext cx="3082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primary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并行咨询三位专家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17"/>
              </p:custDataLst>
            </p:nvPr>
          </p:nvSpPr>
          <p:spPr>
            <a:xfrm>
              <a:off x="10766" y="7674"/>
              <a:ext cx="2143" cy="962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分析血糖数据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提供餐食搭配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预估血糖影响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8622" y="6996"/>
              <a:ext cx="1553" cy="441"/>
            </a:xfrm>
            <a:prstGeom prst="rect">
              <a:avLst/>
            </a:prstGeom>
            <a:solidFill>
              <a:srgbClr val="0E4B7A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noProof="0" dirty="0">
                  <a:solidFill>
                    <a:srgbClr val="FFFFFF"/>
                  </a:solidFill>
                  <a:sym typeface="+mn-ea"/>
                </a:rPr>
                <a:t>pharmacist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0995" y="6996"/>
              <a:ext cx="1553" cy="441"/>
            </a:xfrm>
            <a:prstGeom prst="rect">
              <a:avLst/>
            </a:prstGeom>
            <a:solidFill>
              <a:srgbClr val="0E4B7A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nutritionist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3368" y="6996"/>
              <a:ext cx="1553" cy="441"/>
            </a:xfrm>
            <a:prstGeom prst="rect">
              <a:avLst/>
            </a:prstGeom>
            <a:solidFill>
              <a:srgbClr val="0E4B7A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doctor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6" name="文本框 65"/>
            <p:cNvSpPr txBox="1"/>
            <p:nvPr>
              <p:custDataLst>
                <p:tags r:id="rId18"/>
              </p:custDataLst>
            </p:nvPr>
          </p:nvSpPr>
          <p:spPr>
            <a:xfrm>
              <a:off x="8362" y="7667"/>
              <a:ext cx="2143" cy="962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分析当前用药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评估药物风险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给出调整建议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7" name="文本框 66"/>
            <p:cNvSpPr txBox="1"/>
            <p:nvPr>
              <p:custDataLst>
                <p:tags r:id="rId19"/>
              </p:custDataLst>
            </p:nvPr>
          </p:nvSpPr>
          <p:spPr>
            <a:xfrm>
              <a:off x="13170" y="7669"/>
              <a:ext cx="2143" cy="962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评估控制状况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识别并发症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给出诊疗建议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83" name="组合 82"/>
          <p:cNvGrpSpPr/>
          <p:nvPr>
            <p:custDataLst>
              <p:tags r:id="rId20"/>
            </p:custDataLst>
          </p:nvPr>
        </p:nvGrpSpPr>
        <p:grpSpPr>
          <a:xfrm>
            <a:off x="4720590" y="1339215"/>
            <a:ext cx="2704465" cy="1605280"/>
            <a:chOff x="6832" y="2455"/>
            <a:chExt cx="4259" cy="2528"/>
          </a:xfrm>
        </p:grpSpPr>
        <p:sp>
          <p:nvSpPr>
            <p:cNvPr id="115" name="矩形 114"/>
            <p:cNvSpPr/>
            <p:nvPr>
              <p:custDataLst>
                <p:tags r:id="rId21"/>
              </p:custDataLst>
            </p:nvPr>
          </p:nvSpPr>
          <p:spPr>
            <a:xfrm>
              <a:off x="7034" y="2968"/>
              <a:ext cx="3837" cy="1876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3" name="矩形 122"/>
            <p:cNvSpPr/>
            <p:nvPr>
              <p:custDataLst>
                <p:tags r:id="rId22"/>
              </p:custDataLst>
            </p:nvPr>
          </p:nvSpPr>
          <p:spPr>
            <a:xfrm>
              <a:off x="6832" y="2798"/>
              <a:ext cx="4259" cy="2185"/>
            </a:xfrm>
            <a:prstGeom prst="rect">
              <a:avLst/>
            </a:prstGeom>
            <a:noFill/>
            <a:ln w="28575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4" name="矩形 123"/>
            <p:cNvSpPr/>
            <p:nvPr>
              <p:custDataLst>
                <p:tags r:id="rId23"/>
              </p:custDataLst>
            </p:nvPr>
          </p:nvSpPr>
          <p:spPr>
            <a:xfrm>
              <a:off x="7447" y="2455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step 4</a:t>
              </a:r>
              <a:endParaRPr kumimoji="0" lang="en-US" altLang="zh-CN" sz="1200" b="0" i="0" u="none" strike="noStrike" kern="0" cap="none" spc="0" normalizeH="0" baseline="0" noProof="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5" name="文本框 124"/>
            <p:cNvSpPr txBox="1"/>
            <p:nvPr>
              <p:custDataLst>
                <p:tags r:id="rId24"/>
              </p:custDataLst>
            </p:nvPr>
          </p:nvSpPr>
          <p:spPr>
            <a:xfrm>
              <a:off x="7447" y="3106"/>
              <a:ext cx="2883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primary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综合三方意见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6" name="文本框 125"/>
            <p:cNvSpPr txBox="1"/>
            <p:nvPr>
              <p:custDataLst>
                <p:tags r:id="rId25"/>
              </p:custDataLst>
            </p:nvPr>
          </p:nvSpPr>
          <p:spPr>
            <a:xfrm>
              <a:off x="7187" y="3749"/>
              <a:ext cx="3550" cy="1026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整合专家建议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用患者可理解的语言表达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不暴露内部分工细节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127" name="组合 126"/>
          <p:cNvGrpSpPr/>
          <p:nvPr>
            <p:custDataLst>
              <p:tags r:id="rId26"/>
            </p:custDataLst>
          </p:nvPr>
        </p:nvGrpSpPr>
        <p:grpSpPr>
          <a:xfrm>
            <a:off x="9132570" y="911860"/>
            <a:ext cx="2703830" cy="1490345"/>
            <a:chOff x="6832" y="2455"/>
            <a:chExt cx="4258" cy="2347"/>
          </a:xfrm>
        </p:grpSpPr>
        <p:sp>
          <p:nvSpPr>
            <p:cNvPr id="128" name="矩形 127"/>
            <p:cNvSpPr/>
            <p:nvPr>
              <p:custDataLst>
                <p:tags r:id="rId27"/>
              </p:custDataLst>
            </p:nvPr>
          </p:nvSpPr>
          <p:spPr>
            <a:xfrm>
              <a:off x="7034" y="2968"/>
              <a:ext cx="3837" cy="1662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9" name="矩形 138"/>
            <p:cNvSpPr/>
            <p:nvPr>
              <p:custDataLst>
                <p:tags r:id="rId28"/>
              </p:custDataLst>
            </p:nvPr>
          </p:nvSpPr>
          <p:spPr>
            <a:xfrm>
              <a:off x="6832" y="2798"/>
              <a:ext cx="4259" cy="2005"/>
            </a:xfrm>
            <a:prstGeom prst="rect">
              <a:avLst/>
            </a:prstGeom>
            <a:noFill/>
            <a:ln w="28575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1" name="矩形 140"/>
            <p:cNvSpPr/>
            <p:nvPr>
              <p:custDataLst>
                <p:tags r:id="rId29"/>
              </p:custDataLst>
            </p:nvPr>
          </p:nvSpPr>
          <p:spPr>
            <a:xfrm>
              <a:off x="7447" y="2455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step 5</a:t>
              </a:r>
              <a:endParaRPr kumimoji="0" lang="en-US" altLang="zh-CN" sz="1200" b="0" i="0" u="none" strike="noStrike" kern="0" cap="none" spc="0" normalizeH="0" baseline="0" noProof="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2" name="文本框 141"/>
            <p:cNvSpPr txBox="1"/>
            <p:nvPr>
              <p:custDataLst>
                <p:tags r:id="rId30"/>
              </p:custDataLst>
            </p:nvPr>
          </p:nvSpPr>
          <p:spPr>
            <a:xfrm>
              <a:off x="7447" y="3106"/>
              <a:ext cx="2883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primary </a:t>
              </a: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→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用户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3" name="文本框 142"/>
            <p:cNvSpPr txBox="1"/>
            <p:nvPr>
              <p:custDataLst>
                <p:tags r:id="rId31"/>
              </p:custDataLst>
            </p:nvPr>
          </p:nvSpPr>
          <p:spPr>
            <a:xfrm>
              <a:off x="7187" y="3749"/>
              <a:ext cx="3550" cy="630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【综合建议】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【特别提醒】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145" name="组合 144"/>
          <p:cNvGrpSpPr/>
          <p:nvPr>
            <p:custDataLst>
              <p:tags r:id="rId32"/>
            </p:custDataLst>
          </p:nvPr>
        </p:nvGrpSpPr>
        <p:grpSpPr>
          <a:xfrm>
            <a:off x="9131935" y="5019675"/>
            <a:ext cx="2703830" cy="1490345"/>
            <a:chOff x="6832" y="2455"/>
            <a:chExt cx="4258" cy="2347"/>
          </a:xfrm>
        </p:grpSpPr>
        <p:sp>
          <p:nvSpPr>
            <p:cNvPr id="146" name="矩形 145"/>
            <p:cNvSpPr/>
            <p:nvPr>
              <p:custDataLst>
                <p:tags r:id="rId33"/>
              </p:custDataLst>
            </p:nvPr>
          </p:nvSpPr>
          <p:spPr>
            <a:xfrm>
              <a:off x="7034" y="2968"/>
              <a:ext cx="3837" cy="1662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7" name="矩形 146"/>
            <p:cNvSpPr/>
            <p:nvPr>
              <p:custDataLst>
                <p:tags r:id="rId34"/>
              </p:custDataLst>
            </p:nvPr>
          </p:nvSpPr>
          <p:spPr>
            <a:xfrm>
              <a:off x="6832" y="2798"/>
              <a:ext cx="4259" cy="2005"/>
            </a:xfrm>
            <a:prstGeom prst="rect">
              <a:avLst/>
            </a:prstGeom>
            <a:noFill/>
            <a:ln w="28575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9" name="矩形 148"/>
            <p:cNvSpPr/>
            <p:nvPr>
              <p:custDataLst>
                <p:tags r:id="rId35"/>
              </p:custDataLst>
            </p:nvPr>
          </p:nvSpPr>
          <p:spPr>
            <a:xfrm>
              <a:off x="7447" y="2455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step 7</a:t>
              </a:r>
              <a:endParaRPr kumimoji="0" lang="en-US" altLang="zh-CN" sz="1200" b="0" i="0" u="none" strike="noStrike" kern="0" cap="none" spc="0" normalizeH="0" baseline="0" noProof="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51" name="文本框 150"/>
            <p:cNvSpPr txBox="1"/>
            <p:nvPr>
              <p:custDataLst>
                <p:tags r:id="rId36"/>
              </p:custDataLst>
            </p:nvPr>
          </p:nvSpPr>
          <p:spPr>
            <a:xfrm>
              <a:off x="7447" y="3106"/>
              <a:ext cx="2883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触发评测（满足条件时）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52" name="文本框 151"/>
            <p:cNvSpPr txBox="1"/>
            <p:nvPr>
              <p:custDataLst>
                <p:tags r:id="rId37"/>
              </p:custDataLst>
            </p:nvPr>
          </p:nvSpPr>
          <p:spPr>
            <a:xfrm>
              <a:off x="7187" y="3749"/>
              <a:ext cx="3550" cy="630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  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每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5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轮对话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  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或评分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&lt; 35 / 50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153" name="组合 152"/>
          <p:cNvGrpSpPr/>
          <p:nvPr>
            <p:custDataLst>
              <p:tags r:id="rId38"/>
            </p:custDataLst>
          </p:nvPr>
        </p:nvGrpSpPr>
        <p:grpSpPr>
          <a:xfrm>
            <a:off x="9132570" y="2982595"/>
            <a:ext cx="2703830" cy="1490345"/>
            <a:chOff x="6832" y="2455"/>
            <a:chExt cx="4258" cy="2347"/>
          </a:xfrm>
        </p:grpSpPr>
        <p:sp>
          <p:nvSpPr>
            <p:cNvPr id="157" name="矩形 156"/>
            <p:cNvSpPr/>
            <p:nvPr>
              <p:custDataLst>
                <p:tags r:id="rId39"/>
              </p:custDataLst>
            </p:nvPr>
          </p:nvSpPr>
          <p:spPr>
            <a:xfrm>
              <a:off x="7034" y="2968"/>
              <a:ext cx="3837" cy="1662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59" name="矩形 158"/>
            <p:cNvSpPr/>
            <p:nvPr>
              <p:custDataLst>
                <p:tags r:id="rId40"/>
              </p:custDataLst>
            </p:nvPr>
          </p:nvSpPr>
          <p:spPr>
            <a:xfrm>
              <a:off x="6832" y="2798"/>
              <a:ext cx="4259" cy="2005"/>
            </a:xfrm>
            <a:prstGeom prst="rect">
              <a:avLst/>
            </a:prstGeom>
            <a:noFill/>
            <a:ln w="28575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2" name="矩形 161"/>
            <p:cNvSpPr/>
            <p:nvPr>
              <p:custDataLst>
                <p:tags r:id="rId41"/>
              </p:custDataLst>
            </p:nvPr>
          </p:nvSpPr>
          <p:spPr>
            <a:xfrm>
              <a:off x="7447" y="2455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step 6</a:t>
              </a:r>
              <a:endParaRPr kumimoji="0" lang="en-US" altLang="zh-CN" sz="1200" b="0" i="0" u="none" strike="noStrike" kern="0" cap="none" spc="0" normalizeH="0" baseline="0" noProof="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3" name="文本框 162"/>
            <p:cNvSpPr txBox="1"/>
            <p:nvPr>
              <p:custDataLst>
                <p:tags r:id="rId42"/>
              </p:custDataLst>
            </p:nvPr>
          </p:nvSpPr>
          <p:spPr>
            <a:xfrm>
              <a:off x="7447" y="3106"/>
              <a:ext cx="2883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memory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写回关键事实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4" name="文本框 163"/>
            <p:cNvSpPr txBox="1"/>
            <p:nvPr>
              <p:custDataLst>
                <p:tags r:id="rId43"/>
              </p:custDataLst>
            </p:nvPr>
          </p:nvSpPr>
          <p:spPr>
            <a:xfrm>
              <a:off x="7187" y="3749"/>
              <a:ext cx="3550" cy="630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提取本轮对话关键信息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写入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Memory Palace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cxnSp>
        <p:nvCxnSpPr>
          <p:cNvPr id="165" name="直接箭头连接符 164"/>
          <p:cNvCxnSpPr/>
          <p:nvPr/>
        </p:nvCxnSpPr>
        <p:spPr>
          <a:xfrm>
            <a:off x="1476700" y="3759217"/>
            <a:ext cx="0" cy="387790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66" name="直接箭头连接符 165"/>
          <p:cNvCxnSpPr/>
          <p:nvPr/>
        </p:nvCxnSpPr>
        <p:spPr>
          <a:xfrm flipV="1">
            <a:off x="3017845" y="5012707"/>
            <a:ext cx="563245" cy="5715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67" name="直接箭头连接符 166"/>
          <p:cNvCxnSpPr/>
          <p:nvPr/>
        </p:nvCxnSpPr>
        <p:spPr>
          <a:xfrm>
            <a:off x="10484810" y="2556527"/>
            <a:ext cx="0" cy="387790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70" name="直接箭头连接符 169"/>
          <p:cNvCxnSpPr/>
          <p:nvPr/>
        </p:nvCxnSpPr>
        <p:spPr>
          <a:xfrm flipH="1" flipV="1">
            <a:off x="6042350" y="3065162"/>
            <a:ext cx="20955" cy="821055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71" name="肘形连接符 170"/>
          <p:cNvCxnSpPr/>
          <p:nvPr/>
        </p:nvCxnSpPr>
        <p:spPr>
          <a:xfrm flipV="1">
            <a:off x="7510145" y="1776095"/>
            <a:ext cx="1531620" cy="474980"/>
          </a:xfrm>
          <a:prstGeom prst="bentConnector3">
            <a:avLst>
              <a:gd name="adj1" fmla="val 50041"/>
            </a:avLst>
          </a:prstGeom>
          <a:ln w="22225">
            <a:solidFill>
              <a:schemeClr val="bg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2" name="直接箭头连接符 171"/>
          <p:cNvCxnSpPr/>
          <p:nvPr/>
        </p:nvCxnSpPr>
        <p:spPr>
          <a:xfrm>
            <a:off x="10484810" y="4580907"/>
            <a:ext cx="0" cy="387790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none"/>
            <a:tailEnd type="triangle"/>
          </a:ln>
          <a:effectLst/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485775" y="374650"/>
            <a:ext cx="2886075" cy="551815"/>
            <a:chOff x="449" y="450"/>
            <a:chExt cx="4545" cy="869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77" y="576"/>
              <a:ext cx="35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Memory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架构图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BA8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82" name="文本框 81"/>
          <p:cNvSpPr txBox="1"/>
          <p:nvPr/>
        </p:nvSpPr>
        <p:spPr>
          <a:xfrm>
            <a:off x="9757147" y="6001443"/>
            <a:ext cx="2426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项目整体框架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83" name="组合 82"/>
          <p:cNvGrpSpPr/>
          <p:nvPr>
            <p:custDataLst>
              <p:tags r:id="rId1"/>
            </p:custDataLst>
          </p:nvPr>
        </p:nvGrpSpPr>
        <p:grpSpPr>
          <a:xfrm>
            <a:off x="554355" y="1994535"/>
            <a:ext cx="3072765" cy="2509205"/>
            <a:chOff x="6832" y="2455"/>
            <a:chExt cx="4259" cy="2642"/>
          </a:xfrm>
        </p:grpSpPr>
        <p:sp>
          <p:nvSpPr>
            <p:cNvPr id="115" name="矩形 114"/>
            <p:cNvSpPr/>
            <p:nvPr>
              <p:custDataLst>
                <p:tags r:id="rId2"/>
              </p:custDataLst>
            </p:nvPr>
          </p:nvSpPr>
          <p:spPr>
            <a:xfrm>
              <a:off x="7034" y="2968"/>
              <a:ext cx="3837" cy="2043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3" name="矩形 122"/>
            <p:cNvSpPr/>
            <p:nvPr>
              <p:custDataLst>
                <p:tags r:id="rId3"/>
              </p:custDataLst>
            </p:nvPr>
          </p:nvSpPr>
          <p:spPr>
            <a:xfrm>
              <a:off x="6832" y="2798"/>
              <a:ext cx="4259" cy="2299"/>
            </a:xfrm>
            <a:prstGeom prst="rect">
              <a:avLst/>
            </a:prstGeom>
            <a:noFill/>
            <a:ln w="28575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4" name="矩形 123"/>
            <p:cNvSpPr/>
            <p:nvPr>
              <p:custDataLst>
                <p:tags r:id="rId4"/>
              </p:custDataLst>
            </p:nvPr>
          </p:nvSpPr>
          <p:spPr>
            <a:xfrm>
              <a:off x="7447" y="2455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Memory Palace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5" name="文本框 124"/>
            <p:cNvSpPr txBox="1"/>
            <p:nvPr>
              <p:custDataLst>
                <p:tags r:id="rId5"/>
              </p:custDataLst>
            </p:nvPr>
          </p:nvSpPr>
          <p:spPr>
            <a:xfrm>
              <a:off x="7447" y="3161"/>
              <a:ext cx="2883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后端记忆存储引擎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6" name="文本框 125"/>
            <p:cNvSpPr txBox="1"/>
            <p:nvPr>
              <p:custDataLst>
                <p:tags r:id="rId6"/>
              </p:custDataLst>
            </p:nvPr>
          </p:nvSpPr>
          <p:spPr>
            <a:xfrm>
              <a:off x="7187" y="4002"/>
              <a:ext cx="3550" cy="773"/>
            </a:xfrm>
            <a:prstGeom prst="rect">
              <a:avLst/>
            </a:prstGeom>
            <a:solidFill>
              <a:srgbClr val="0E4B7A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结构化数据：患者画像、血糖记录、用药方案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向量数据：对话嵌入、语义检索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930275" y="3097530"/>
            <a:ext cx="2265680" cy="280035"/>
          </a:xfrm>
          <a:prstGeom prst="rect">
            <a:avLst/>
          </a:prstGeom>
          <a:solidFill>
            <a:srgbClr val="186A8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SQLite +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向量索引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(sqlite-vec)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4" name="组合 3"/>
          <p:cNvGrpSpPr/>
          <p:nvPr>
            <p:custDataLst>
              <p:tags r:id="rId7"/>
            </p:custDataLst>
          </p:nvPr>
        </p:nvGrpSpPr>
        <p:grpSpPr>
          <a:xfrm>
            <a:off x="4839595" y="2031365"/>
            <a:ext cx="3401036" cy="2509205"/>
            <a:chOff x="6578" y="2455"/>
            <a:chExt cx="4714" cy="2642"/>
          </a:xfrm>
        </p:grpSpPr>
        <p:sp>
          <p:nvSpPr>
            <p:cNvPr id="5" name="矩形 4"/>
            <p:cNvSpPr/>
            <p:nvPr>
              <p:custDataLst>
                <p:tags r:id="rId8"/>
              </p:custDataLst>
            </p:nvPr>
          </p:nvSpPr>
          <p:spPr>
            <a:xfrm>
              <a:off x="6779" y="2968"/>
              <a:ext cx="4387" cy="2043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9"/>
              </p:custDataLst>
            </p:nvPr>
          </p:nvSpPr>
          <p:spPr>
            <a:xfrm>
              <a:off x="6578" y="2798"/>
              <a:ext cx="4714" cy="2299"/>
            </a:xfrm>
            <a:prstGeom prst="rect">
              <a:avLst/>
            </a:prstGeom>
            <a:noFill/>
            <a:ln w="28575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10"/>
              </p:custDataLst>
            </p:nvPr>
          </p:nvSpPr>
          <p:spPr>
            <a:xfrm>
              <a:off x="7447" y="2455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memory actor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11"/>
              </p:custDataLst>
            </p:nvPr>
          </p:nvSpPr>
          <p:spPr>
            <a:xfrm>
              <a:off x="7447" y="3161"/>
              <a:ext cx="2883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桥接层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2"/>
              </p:custDataLst>
            </p:nvPr>
          </p:nvSpPr>
          <p:spPr>
            <a:xfrm>
              <a:off x="6999" y="3993"/>
              <a:ext cx="3939" cy="773"/>
            </a:xfrm>
            <a:prstGeom prst="rect">
              <a:avLst/>
            </a:prstGeom>
            <a:solidFill>
              <a:srgbClr val="0E4B7A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结构化数据：患者画像、血糖记录、用药方案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向量数据：对话嵌入、语义检索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215890" y="3134360"/>
            <a:ext cx="2657475" cy="280035"/>
          </a:xfrm>
          <a:prstGeom prst="rect">
            <a:avLst/>
          </a:prstGeom>
          <a:solidFill>
            <a:srgbClr val="186A8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唯一与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Memory Palace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交互的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actor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9452610" y="1322070"/>
            <a:ext cx="2593340" cy="4198620"/>
            <a:chOff x="14673" y="2082"/>
            <a:chExt cx="4084" cy="6612"/>
          </a:xfrm>
        </p:grpSpPr>
        <p:grpSp>
          <p:nvGrpSpPr>
            <p:cNvPr id="18" name="组合 17"/>
            <p:cNvGrpSpPr/>
            <p:nvPr>
              <p:custDataLst>
                <p:tags r:id="rId13"/>
              </p:custDataLst>
            </p:nvPr>
          </p:nvGrpSpPr>
          <p:grpSpPr>
            <a:xfrm>
              <a:off x="14888" y="2253"/>
              <a:ext cx="3680" cy="1481"/>
              <a:chOff x="6832" y="2455"/>
              <a:chExt cx="4259" cy="1440"/>
            </a:xfrm>
          </p:grpSpPr>
          <p:sp>
            <p:nvSpPr>
              <p:cNvPr id="19" name="矩形 18"/>
              <p:cNvSpPr/>
              <p:nvPr>
                <p:custDataLst>
                  <p:tags r:id="rId14"/>
                </p:custDataLst>
              </p:nvPr>
            </p:nvSpPr>
            <p:spPr>
              <a:xfrm>
                <a:off x="7035" y="2968"/>
                <a:ext cx="3837" cy="766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0" name="矩形 19"/>
              <p:cNvSpPr/>
              <p:nvPr>
                <p:custDataLst>
                  <p:tags r:id="rId15"/>
                </p:custDataLst>
              </p:nvPr>
            </p:nvSpPr>
            <p:spPr>
              <a:xfrm>
                <a:off x="6832" y="2798"/>
                <a:ext cx="4259" cy="1097"/>
              </a:xfrm>
              <a:prstGeom prst="rect">
                <a:avLst/>
              </a:prstGeom>
              <a:noFill/>
              <a:ln w="28575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1" name="矩形 20"/>
              <p:cNvSpPr/>
              <p:nvPr>
                <p:custDataLst>
                  <p:tags r:id="rId16"/>
                </p:custDataLst>
              </p:nvPr>
            </p:nvSpPr>
            <p:spPr>
              <a:xfrm>
                <a:off x="7447" y="2455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短期记忆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7447" y="3161"/>
                <a:ext cx="2883" cy="374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TTL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：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1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小时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grpSp>
          <p:nvGrpSpPr>
            <p:cNvPr id="36" name="组合 35"/>
            <p:cNvGrpSpPr/>
            <p:nvPr>
              <p:custDataLst>
                <p:tags r:id="rId18"/>
              </p:custDataLst>
            </p:nvPr>
          </p:nvGrpSpPr>
          <p:grpSpPr>
            <a:xfrm>
              <a:off x="14888" y="4613"/>
              <a:ext cx="3680" cy="1481"/>
              <a:chOff x="6832" y="2455"/>
              <a:chExt cx="4259" cy="1440"/>
            </a:xfrm>
          </p:grpSpPr>
          <p:sp>
            <p:nvSpPr>
              <p:cNvPr id="37" name="矩形 36"/>
              <p:cNvSpPr/>
              <p:nvPr>
                <p:custDataLst>
                  <p:tags r:id="rId19"/>
                </p:custDataLst>
              </p:nvPr>
            </p:nvSpPr>
            <p:spPr>
              <a:xfrm>
                <a:off x="7035" y="2968"/>
                <a:ext cx="3837" cy="766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38" name="矩形 37"/>
              <p:cNvSpPr/>
              <p:nvPr>
                <p:custDataLst>
                  <p:tags r:id="rId20"/>
                </p:custDataLst>
              </p:nvPr>
            </p:nvSpPr>
            <p:spPr>
              <a:xfrm>
                <a:off x="6832" y="2798"/>
                <a:ext cx="4259" cy="1097"/>
              </a:xfrm>
              <a:prstGeom prst="rect">
                <a:avLst/>
              </a:prstGeom>
              <a:noFill/>
              <a:ln w="28575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39" name="矩形 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7447" y="2455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中期记忆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40" name="文本框 39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7447" y="3161"/>
                <a:ext cx="2883" cy="374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TTL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：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30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小时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grpSp>
          <p:nvGrpSpPr>
            <p:cNvPr id="41" name="组合 40"/>
            <p:cNvGrpSpPr/>
            <p:nvPr>
              <p:custDataLst>
                <p:tags r:id="rId23"/>
              </p:custDataLst>
            </p:nvPr>
          </p:nvGrpSpPr>
          <p:grpSpPr>
            <a:xfrm>
              <a:off x="14888" y="6926"/>
              <a:ext cx="3680" cy="1481"/>
              <a:chOff x="6832" y="2455"/>
              <a:chExt cx="4259" cy="1440"/>
            </a:xfrm>
          </p:grpSpPr>
          <p:sp>
            <p:nvSpPr>
              <p:cNvPr id="42" name="矩形 41"/>
              <p:cNvSpPr/>
              <p:nvPr>
                <p:custDataLst>
                  <p:tags r:id="rId24"/>
                </p:custDataLst>
              </p:nvPr>
            </p:nvSpPr>
            <p:spPr>
              <a:xfrm>
                <a:off x="7035" y="2968"/>
                <a:ext cx="3837" cy="766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46" name="矩形 45"/>
              <p:cNvSpPr/>
              <p:nvPr>
                <p:custDataLst>
                  <p:tags r:id="rId25"/>
                </p:custDataLst>
              </p:nvPr>
            </p:nvSpPr>
            <p:spPr>
              <a:xfrm>
                <a:off x="6832" y="2798"/>
                <a:ext cx="4259" cy="1097"/>
              </a:xfrm>
              <a:prstGeom prst="rect">
                <a:avLst/>
              </a:prstGeom>
              <a:noFill/>
              <a:ln w="28575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53" name="矩形 52"/>
              <p:cNvSpPr/>
              <p:nvPr>
                <p:custDataLst>
                  <p:tags r:id="rId26"/>
                </p:custDataLst>
              </p:nvPr>
            </p:nvSpPr>
            <p:spPr>
              <a:xfrm>
                <a:off x="7447" y="2455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长期记忆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61" name="文本框 60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7447" y="3161"/>
                <a:ext cx="2883" cy="374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永久存储</a:t>
                </a:r>
                <a:endParaRPr kumimoji="0" 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sp>
          <p:nvSpPr>
            <p:cNvPr id="101" name="矩形 100"/>
            <p:cNvSpPr/>
            <p:nvPr/>
          </p:nvSpPr>
          <p:spPr>
            <a:xfrm>
              <a:off x="14673" y="2082"/>
              <a:ext cx="4085" cy="6612"/>
            </a:xfrm>
            <a:prstGeom prst="rect">
              <a:avLst/>
            </a:prstGeom>
            <a:noFill/>
            <a:ln w="28575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65" name="右箭头 64"/>
          <p:cNvSpPr/>
          <p:nvPr/>
        </p:nvSpPr>
        <p:spPr>
          <a:xfrm>
            <a:off x="3753485" y="3150235"/>
            <a:ext cx="1008380" cy="484505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右箭头 68"/>
          <p:cNvSpPr/>
          <p:nvPr/>
        </p:nvSpPr>
        <p:spPr>
          <a:xfrm>
            <a:off x="8366760" y="3241675"/>
            <a:ext cx="1008380" cy="484505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右箭头 69"/>
          <p:cNvSpPr/>
          <p:nvPr/>
        </p:nvSpPr>
        <p:spPr>
          <a:xfrm>
            <a:off x="8366760" y="4647565"/>
            <a:ext cx="1008380" cy="484505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右箭头 70"/>
          <p:cNvSpPr/>
          <p:nvPr/>
        </p:nvSpPr>
        <p:spPr>
          <a:xfrm>
            <a:off x="8366760" y="1835785"/>
            <a:ext cx="1008380" cy="484505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485775" y="374650"/>
            <a:ext cx="3923030" cy="551815"/>
            <a:chOff x="449" y="450"/>
            <a:chExt cx="6178" cy="869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77" y="576"/>
              <a:ext cx="515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评测驱动的自进化闭环流程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BA8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82" name="文本框 81"/>
          <p:cNvSpPr txBox="1"/>
          <p:nvPr/>
        </p:nvSpPr>
        <p:spPr>
          <a:xfrm>
            <a:off x="9757147" y="6001443"/>
            <a:ext cx="2426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项目整体框架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108575" y="297815"/>
            <a:ext cx="1951355" cy="579120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触发优化</a:t>
            </a:r>
            <a:endParaRPr kumimoji="0" lang="zh-CN" altLang="en-US" sz="1200" b="0" i="0" u="none" strike="noStrike" kern="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（周期触发</a:t>
            </a:r>
            <a:r>
              <a:rPr kumimoji="0" lang="en-US" altLang="zh-CN" sz="1200" b="0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/</a:t>
            </a:r>
            <a:r>
              <a:rPr kumimoji="0" lang="zh-CN" altLang="en-US" sz="1200" b="0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低分即时触发）</a:t>
            </a:r>
            <a:endParaRPr kumimoji="0" lang="zh-CN" altLang="en-US" sz="1200" b="0" i="0" u="none" strike="noStrike" kern="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1087120" y="1246505"/>
            <a:ext cx="10037445" cy="2343785"/>
            <a:chOff x="1372" y="2800"/>
            <a:chExt cx="15807" cy="3961"/>
          </a:xfrm>
        </p:grpSpPr>
        <p:grpSp>
          <p:nvGrpSpPr>
            <p:cNvPr id="7" name="组合 6"/>
            <p:cNvGrpSpPr/>
            <p:nvPr>
              <p:custDataLst>
                <p:tags r:id="rId1"/>
              </p:custDataLst>
            </p:nvPr>
          </p:nvGrpSpPr>
          <p:grpSpPr>
            <a:xfrm>
              <a:off x="1372" y="2815"/>
              <a:ext cx="4259" cy="3946"/>
              <a:chOff x="7164" y="2523"/>
              <a:chExt cx="4259" cy="3946"/>
            </a:xfrm>
          </p:grpSpPr>
          <p:sp>
            <p:nvSpPr>
              <p:cNvPr id="32" name="矩形 31"/>
              <p:cNvSpPr/>
              <p:nvPr>
                <p:custDataLst>
                  <p:tags r:id="rId2"/>
                </p:custDataLst>
              </p:nvPr>
            </p:nvSpPr>
            <p:spPr>
              <a:xfrm>
                <a:off x="7366" y="3036"/>
                <a:ext cx="3837" cy="3248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34" name="矩形 33"/>
              <p:cNvSpPr/>
              <p:nvPr>
                <p:custDataLst>
                  <p:tags r:id="rId3"/>
                </p:custDataLst>
              </p:nvPr>
            </p:nvSpPr>
            <p:spPr>
              <a:xfrm>
                <a:off x="7164" y="2866"/>
                <a:ext cx="4259" cy="3603"/>
              </a:xfrm>
              <a:prstGeom prst="rect">
                <a:avLst/>
              </a:prstGeom>
              <a:noFill/>
              <a:ln w="28575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35" name="矩形 34"/>
              <p:cNvSpPr/>
              <p:nvPr>
                <p:custDataLst>
                  <p:tags r:id="rId4"/>
                </p:custDataLst>
              </p:nvPr>
            </p:nvSpPr>
            <p:spPr>
              <a:xfrm>
                <a:off x="7779" y="2523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step 1</a:t>
                </a:r>
                <a:endParaRPr kumimoji="0" lang="en-US" altLang="zh-CN" sz="1200" b="0" i="0" u="none" strike="noStrike" kern="0" cap="none" spc="0" normalizeH="0" baseline="0" noProof="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779" y="3174"/>
                <a:ext cx="2883" cy="374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evaluator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评分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45" name="文本框 44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779" y="3710"/>
                <a:ext cx="2883" cy="462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ctr">
                  <a:defRPr sz="1400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5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维度质量评估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" name="文本框 1"/>
              <p:cNvSpPr txBox="1"/>
              <p:nvPr/>
            </p:nvSpPr>
            <p:spPr>
              <a:xfrm>
                <a:off x="7501" y="4402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医学准确性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9395" y="4402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安全性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7530" y="5552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个性化程度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9395" y="5552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表达清晰度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8539" y="4977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完整性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grpSp>
          <p:nvGrpSpPr>
            <p:cNvPr id="8" name="组合 7"/>
            <p:cNvGrpSpPr/>
            <p:nvPr>
              <p:custDataLst>
                <p:tags r:id="rId7"/>
              </p:custDataLst>
            </p:nvPr>
          </p:nvGrpSpPr>
          <p:grpSpPr>
            <a:xfrm>
              <a:off x="7210" y="2815"/>
              <a:ext cx="4259" cy="3946"/>
              <a:chOff x="7164" y="2523"/>
              <a:chExt cx="4259" cy="3946"/>
            </a:xfrm>
          </p:grpSpPr>
          <p:sp>
            <p:nvSpPr>
              <p:cNvPr id="15" name="矩形 14"/>
              <p:cNvSpPr/>
              <p:nvPr>
                <p:custDataLst>
                  <p:tags r:id="rId8"/>
                </p:custDataLst>
              </p:nvPr>
            </p:nvSpPr>
            <p:spPr>
              <a:xfrm>
                <a:off x="7366" y="3036"/>
                <a:ext cx="3837" cy="3248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16" name="矩形 15"/>
              <p:cNvSpPr/>
              <p:nvPr>
                <p:custDataLst>
                  <p:tags r:id="rId9"/>
                </p:custDataLst>
              </p:nvPr>
            </p:nvSpPr>
            <p:spPr>
              <a:xfrm>
                <a:off x="7164" y="2866"/>
                <a:ext cx="4259" cy="3603"/>
              </a:xfrm>
              <a:prstGeom prst="rect">
                <a:avLst/>
              </a:prstGeom>
              <a:noFill/>
              <a:ln w="28575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18" name="矩形 17"/>
              <p:cNvSpPr/>
              <p:nvPr>
                <p:custDataLst>
                  <p:tags r:id="rId10"/>
                </p:custDataLst>
              </p:nvPr>
            </p:nvSpPr>
            <p:spPr>
              <a:xfrm>
                <a:off x="7779" y="2523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step 2</a:t>
                </a:r>
                <a:endParaRPr kumimoji="0" lang="en-US" altLang="zh-CN" sz="1200" b="0" i="0" u="none" strike="noStrike" kern="0" cap="none" spc="0" normalizeH="0" baseline="0" noProof="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19" name="文本框 18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7848" y="3189"/>
                <a:ext cx="2883" cy="374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analyzer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根因分析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7779" y="3710"/>
                <a:ext cx="2952" cy="462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ctr">
                  <a:defRPr sz="1400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根因分类逻辑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8449" y="4977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prompt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类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8449" y="4354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memory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类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8080" y="5586"/>
                <a:ext cx="2300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coordination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类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grpSp>
          <p:nvGrpSpPr>
            <p:cNvPr id="26" name="组合 25"/>
            <p:cNvGrpSpPr/>
            <p:nvPr>
              <p:custDataLst>
                <p:tags r:id="rId13"/>
              </p:custDataLst>
            </p:nvPr>
          </p:nvGrpSpPr>
          <p:grpSpPr>
            <a:xfrm>
              <a:off x="12921" y="2800"/>
              <a:ext cx="4259" cy="3946"/>
              <a:chOff x="7164" y="2523"/>
              <a:chExt cx="4259" cy="3946"/>
            </a:xfrm>
          </p:grpSpPr>
          <p:sp>
            <p:nvSpPr>
              <p:cNvPr id="27" name="矩形 26"/>
              <p:cNvSpPr/>
              <p:nvPr>
                <p:custDataLst>
                  <p:tags r:id="rId14"/>
                </p:custDataLst>
              </p:nvPr>
            </p:nvSpPr>
            <p:spPr>
              <a:xfrm>
                <a:off x="7366" y="3036"/>
                <a:ext cx="3837" cy="3248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8" name="矩形 27"/>
              <p:cNvSpPr/>
              <p:nvPr>
                <p:custDataLst>
                  <p:tags r:id="rId15"/>
                </p:custDataLst>
              </p:nvPr>
            </p:nvSpPr>
            <p:spPr>
              <a:xfrm>
                <a:off x="7164" y="2866"/>
                <a:ext cx="4259" cy="3603"/>
              </a:xfrm>
              <a:prstGeom prst="rect">
                <a:avLst/>
              </a:prstGeom>
              <a:noFill/>
              <a:ln w="28575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9" name="矩形 28"/>
              <p:cNvSpPr/>
              <p:nvPr>
                <p:custDataLst>
                  <p:tags r:id="rId16"/>
                </p:custDataLst>
              </p:nvPr>
            </p:nvSpPr>
            <p:spPr>
              <a:xfrm>
                <a:off x="7779" y="2523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step 3</a:t>
                </a:r>
                <a:endParaRPr kumimoji="0" lang="en-US" altLang="zh-CN" sz="1200" b="0" i="0" u="none" strike="noStrike" kern="0" cap="none" spc="0" normalizeH="0" baseline="0" noProof="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30" name="文本框 29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7779" y="3174"/>
                <a:ext cx="2883" cy="374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路由到对应优化器</a:t>
                </a:r>
                <a:endParaRPr kumimoji="0" 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31" name="文本框 30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7779" y="3710"/>
                <a:ext cx="3060" cy="462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ctr">
                  <a:defRPr sz="1400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路由规则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7501" y="4417"/>
                <a:ext cx="3481" cy="729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prompt / coordination </a:t>
                </a: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→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prompt_optimizer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</p:grpSp>
      <p:sp>
        <p:nvSpPr>
          <p:cNvPr id="41" name="文本框 40"/>
          <p:cNvSpPr txBox="1"/>
          <p:nvPr/>
        </p:nvSpPr>
        <p:spPr>
          <a:xfrm>
            <a:off x="8634730" y="2875280"/>
            <a:ext cx="2210435" cy="462915"/>
          </a:xfrm>
          <a:prstGeom prst="rect">
            <a:avLst/>
          </a:prstGeom>
          <a:solidFill>
            <a:srgbClr val="0E4B7A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memory </a:t>
            </a: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→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memory_optimizer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3025140" y="4135755"/>
            <a:ext cx="6262370" cy="866775"/>
            <a:chOff x="6304" y="7662"/>
            <a:chExt cx="9862" cy="1531"/>
          </a:xfrm>
        </p:grpSpPr>
        <p:grpSp>
          <p:nvGrpSpPr>
            <p:cNvPr id="42" name="组合 41"/>
            <p:cNvGrpSpPr/>
            <p:nvPr>
              <p:custDataLst>
                <p:tags r:id="rId19"/>
              </p:custDataLst>
            </p:nvPr>
          </p:nvGrpSpPr>
          <p:grpSpPr>
            <a:xfrm>
              <a:off x="6304" y="7662"/>
              <a:ext cx="9862" cy="1531"/>
              <a:chOff x="7514" y="4480"/>
              <a:chExt cx="10213" cy="1531"/>
            </a:xfrm>
          </p:grpSpPr>
          <p:sp>
            <p:nvSpPr>
              <p:cNvPr id="46" name="矩形 4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4" y="4600"/>
                <a:ext cx="3319" cy="1302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53" name="矩形 52"/>
              <p:cNvSpPr/>
              <p:nvPr>
                <p:custDataLst>
                  <p:tags r:id="rId21"/>
                </p:custDataLst>
              </p:nvPr>
            </p:nvSpPr>
            <p:spPr>
              <a:xfrm>
                <a:off x="7514" y="4480"/>
                <a:ext cx="10213" cy="1531"/>
              </a:xfrm>
              <a:prstGeom prst="rect">
                <a:avLst/>
              </a:prstGeom>
              <a:noFill/>
              <a:ln w="28575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7844" y="5316"/>
                <a:ext cx="2881" cy="455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补充约束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 /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格式规范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sp>
          <p:nvSpPr>
            <p:cNvPr id="71" name="文本框 70"/>
            <p:cNvSpPr txBox="1"/>
            <p:nvPr>
              <p:custDataLst>
                <p:tags r:id="rId22"/>
              </p:custDataLst>
            </p:nvPr>
          </p:nvSpPr>
          <p:spPr>
            <a:xfrm>
              <a:off x="6633" y="7932"/>
              <a:ext cx="2771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Prompt Optimizer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2" name="矩形 71"/>
            <p:cNvSpPr/>
            <p:nvPr>
              <p:custDataLst>
                <p:tags r:id="rId23"/>
              </p:custDataLst>
            </p:nvPr>
          </p:nvSpPr>
          <p:spPr>
            <a:xfrm>
              <a:off x="12839" y="7782"/>
              <a:ext cx="3167" cy="1302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3" name="文本框 72"/>
            <p:cNvSpPr txBox="1"/>
            <p:nvPr>
              <p:custDataLst>
                <p:tags r:id="rId24"/>
              </p:custDataLst>
            </p:nvPr>
          </p:nvSpPr>
          <p:spPr>
            <a:xfrm>
              <a:off x="13016" y="7932"/>
              <a:ext cx="2883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Memory Optimizer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3018" y="8498"/>
              <a:ext cx="2881" cy="455"/>
            </a:xfrm>
            <a:prstGeom prst="rect">
              <a:avLst/>
            </a:prstGeom>
            <a:solidFill>
              <a:srgbClr val="0E4B7A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补充更新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/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合并删除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85" name="组合 84"/>
          <p:cNvGrpSpPr/>
          <p:nvPr>
            <p:custDataLst>
              <p:tags r:id="rId25"/>
            </p:custDataLst>
          </p:nvPr>
        </p:nvGrpSpPr>
        <p:grpSpPr>
          <a:xfrm>
            <a:off x="1908175" y="5352415"/>
            <a:ext cx="2704465" cy="1394460"/>
            <a:chOff x="6832" y="2455"/>
            <a:chExt cx="4259" cy="2196"/>
          </a:xfrm>
        </p:grpSpPr>
        <p:sp>
          <p:nvSpPr>
            <p:cNvPr id="86" name="矩形 85"/>
            <p:cNvSpPr/>
            <p:nvPr>
              <p:custDataLst>
                <p:tags r:id="rId26"/>
              </p:custDataLst>
            </p:nvPr>
          </p:nvSpPr>
          <p:spPr>
            <a:xfrm>
              <a:off x="7034" y="2968"/>
              <a:ext cx="3837" cy="1510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7" name="矩形 86"/>
            <p:cNvSpPr/>
            <p:nvPr>
              <p:custDataLst>
                <p:tags r:id="rId27"/>
              </p:custDataLst>
            </p:nvPr>
          </p:nvSpPr>
          <p:spPr>
            <a:xfrm>
              <a:off x="6832" y="2798"/>
              <a:ext cx="4259" cy="1853"/>
            </a:xfrm>
            <a:prstGeom prst="rect">
              <a:avLst/>
            </a:prstGeom>
            <a:noFill/>
            <a:ln w="28575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8" name="矩形 87"/>
            <p:cNvSpPr/>
            <p:nvPr>
              <p:custDataLst>
                <p:tags r:id="rId28"/>
              </p:custDataLst>
            </p:nvPr>
          </p:nvSpPr>
          <p:spPr>
            <a:xfrm>
              <a:off x="7447" y="2455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step 4</a:t>
              </a:r>
              <a:endParaRPr kumimoji="0" lang="en-US" altLang="zh-CN" sz="1200" b="0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9" name="文本框 88"/>
            <p:cNvSpPr txBox="1"/>
            <p:nvPr>
              <p:custDataLst>
                <p:tags r:id="rId29"/>
              </p:custDataLst>
            </p:nvPr>
          </p:nvSpPr>
          <p:spPr>
            <a:xfrm>
              <a:off x="7447" y="3106"/>
              <a:ext cx="2883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Re-evaluation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再评测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0" name="文本框 89"/>
            <p:cNvSpPr txBox="1"/>
            <p:nvPr>
              <p:custDataLst>
                <p:tags r:id="rId30"/>
              </p:custDataLst>
            </p:nvPr>
          </p:nvSpPr>
          <p:spPr>
            <a:xfrm>
              <a:off x="7339" y="3749"/>
              <a:ext cx="3061" cy="539"/>
            </a:xfrm>
            <a:prstGeom prst="rect">
              <a:avLst/>
            </a:prstGeom>
            <a:solidFill>
              <a:srgbClr val="0E4B7A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重新打分，验证效果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91" name="组合 90"/>
          <p:cNvGrpSpPr/>
          <p:nvPr>
            <p:custDataLst>
              <p:tags r:id="rId31"/>
            </p:custDataLst>
          </p:nvPr>
        </p:nvGrpSpPr>
        <p:grpSpPr>
          <a:xfrm>
            <a:off x="7310120" y="5401945"/>
            <a:ext cx="2704465" cy="1394460"/>
            <a:chOff x="6832" y="2455"/>
            <a:chExt cx="4259" cy="2196"/>
          </a:xfrm>
        </p:grpSpPr>
        <p:sp>
          <p:nvSpPr>
            <p:cNvPr id="92" name="矩形 91"/>
            <p:cNvSpPr/>
            <p:nvPr>
              <p:custDataLst>
                <p:tags r:id="rId32"/>
              </p:custDataLst>
            </p:nvPr>
          </p:nvSpPr>
          <p:spPr>
            <a:xfrm>
              <a:off x="7034" y="2968"/>
              <a:ext cx="3837" cy="1510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3" name="矩形 92"/>
            <p:cNvSpPr/>
            <p:nvPr>
              <p:custDataLst>
                <p:tags r:id="rId33"/>
              </p:custDataLst>
            </p:nvPr>
          </p:nvSpPr>
          <p:spPr>
            <a:xfrm>
              <a:off x="6832" y="2798"/>
              <a:ext cx="4259" cy="1853"/>
            </a:xfrm>
            <a:prstGeom prst="rect">
              <a:avLst/>
            </a:prstGeom>
            <a:noFill/>
            <a:ln w="28575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4" name="矩形 93"/>
            <p:cNvSpPr/>
            <p:nvPr>
              <p:custDataLst>
                <p:tags r:id="rId34"/>
              </p:custDataLst>
            </p:nvPr>
          </p:nvSpPr>
          <p:spPr>
            <a:xfrm>
              <a:off x="7447" y="2455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step 5</a:t>
              </a:r>
              <a:endParaRPr kumimoji="0" lang="en-US" altLang="zh-CN" sz="1200" b="0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5" name="文本框 94"/>
            <p:cNvSpPr txBox="1"/>
            <p:nvPr>
              <p:custDataLst>
                <p:tags r:id="rId35"/>
              </p:custDataLst>
            </p:nvPr>
          </p:nvSpPr>
          <p:spPr>
            <a:xfrm>
              <a:off x="7447" y="3106"/>
              <a:ext cx="2883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闭环结束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6" name="文本框 95"/>
            <p:cNvSpPr txBox="1"/>
            <p:nvPr>
              <p:custDataLst>
                <p:tags r:id="rId36"/>
              </p:custDataLst>
            </p:nvPr>
          </p:nvSpPr>
          <p:spPr>
            <a:xfrm>
              <a:off x="7339" y="3749"/>
              <a:ext cx="3061" cy="539"/>
            </a:xfrm>
            <a:prstGeom prst="rect">
              <a:avLst/>
            </a:prstGeom>
            <a:solidFill>
              <a:srgbClr val="0E4B7A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达标停止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/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否则继续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97" name="下箭头 96"/>
          <p:cNvSpPr/>
          <p:nvPr/>
        </p:nvSpPr>
        <p:spPr>
          <a:xfrm>
            <a:off x="5958840" y="885825"/>
            <a:ext cx="306070" cy="305435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右箭头 97"/>
          <p:cNvSpPr/>
          <p:nvPr/>
        </p:nvSpPr>
        <p:spPr>
          <a:xfrm>
            <a:off x="3977005" y="2486660"/>
            <a:ext cx="620395" cy="387985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右箭头 98"/>
          <p:cNvSpPr/>
          <p:nvPr/>
        </p:nvSpPr>
        <p:spPr>
          <a:xfrm>
            <a:off x="7632065" y="2487295"/>
            <a:ext cx="620395" cy="387985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下箭头 99"/>
          <p:cNvSpPr/>
          <p:nvPr/>
        </p:nvSpPr>
        <p:spPr>
          <a:xfrm>
            <a:off x="4306570" y="3762375"/>
            <a:ext cx="306070" cy="305435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下箭头 100"/>
          <p:cNvSpPr/>
          <p:nvPr/>
        </p:nvSpPr>
        <p:spPr>
          <a:xfrm>
            <a:off x="5790565" y="3762375"/>
            <a:ext cx="306070" cy="305435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下箭头 101"/>
          <p:cNvSpPr/>
          <p:nvPr/>
        </p:nvSpPr>
        <p:spPr>
          <a:xfrm>
            <a:off x="7700645" y="3762375"/>
            <a:ext cx="306070" cy="305435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下箭头 102"/>
          <p:cNvSpPr/>
          <p:nvPr/>
        </p:nvSpPr>
        <p:spPr>
          <a:xfrm>
            <a:off x="5790565" y="5096510"/>
            <a:ext cx="306070" cy="305435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右箭头 103"/>
          <p:cNvSpPr/>
          <p:nvPr/>
        </p:nvSpPr>
        <p:spPr>
          <a:xfrm>
            <a:off x="5353050" y="5941695"/>
            <a:ext cx="1243965" cy="431165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5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6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7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8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9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0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1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2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3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4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5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6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7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8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9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0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1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2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3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4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5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6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7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8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9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0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1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2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3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4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5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6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7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8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9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0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1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2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3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4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5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6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7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8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9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50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51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52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53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54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55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56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57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58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59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60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61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62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63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64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65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66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67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68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69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70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71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72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73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74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75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76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77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78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79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80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81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82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83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84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85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86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87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88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89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90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91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92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93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94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95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96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97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98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99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00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01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02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03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04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05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06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题5">
  <a:themeElements>
    <a:clrScheme name="自定义 3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1B64D"/>
      </a:accent1>
      <a:accent2>
        <a:srgbClr val="AAA38E"/>
      </a:accent2>
      <a:accent3>
        <a:srgbClr val="857D64"/>
      </a:accent3>
      <a:accent4>
        <a:srgbClr val="5E759C"/>
      </a:accent4>
      <a:accent5>
        <a:srgbClr val="8496B0"/>
      </a:accent5>
      <a:accent6>
        <a:srgbClr val="44546A"/>
      </a:accent6>
      <a:hlink>
        <a:srgbClr val="0563C1"/>
      </a:hlink>
      <a:folHlink>
        <a:srgbClr val="954F72"/>
      </a:folHlink>
    </a:clrScheme>
    <a:fontScheme name="em0canir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915</Words>
  <Application>WPS 演示</Application>
  <PresentationFormat>宽屏</PresentationFormat>
  <Paragraphs>171</Paragraphs>
  <Slides>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Calibri</vt:lpstr>
      <vt:lpstr>Arial</vt:lpstr>
      <vt:lpstr>Lato Regular</vt:lpstr>
      <vt:lpstr>Segoe Print</vt:lpstr>
      <vt:lpstr>Lato Hairline</vt:lpstr>
      <vt:lpstr>Calibri</vt:lpstr>
      <vt:lpstr>Lato Light</vt:lpstr>
      <vt:lpstr>OCR A Extended</vt:lpstr>
      <vt:lpstr>Yu Gothic UI</vt:lpstr>
      <vt:lpstr>IrisUPC</vt:lpstr>
      <vt:lpstr>等线</vt:lpstr>
      <vt:lpstr>Helvetica Neue</vt:lpstr>
      <vt:lpstr>Helvetica Neue</vt:lpstr>
      <vt:lpstr>.PingFangUITextSC-Regular</vt:lpstr>
      <vt:lpstr>var(--ds-font-family-code)</vt:lpstr>
      <vt:lpstr>Segoe UI Light</vt:lpstr>
      <vt:lpstr>印品粗朗体</vt:lpstr>
      <vt:lpstr>Arial Unicode MS</vt:lpstr>
      <vt:lpstr>Microsoft Sans Serif</vt:lpstr>
      <vt:lpstr>Office 主题​​</vt:lpstr>
      <vt:lpstr>主题5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孺 舒</dc:creator>
  <cp:lastModifiedBy>郭伟杰</cp:lastModifiedBy>
  <cp:revision>2</cp:revision>
  <dcterms:created xsi:type="dcterms:W3CDTF">2026-03-26T06:08:00Z</dcterms:created>
  <dcterms:modified xsi:type="dcterms:W3CDTF">2026-03-26T10:30:08Z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2339AE40DF2E435F80D67595B084DD45_13</vt:lpwstr>
  </property>
</Properties>
</file>